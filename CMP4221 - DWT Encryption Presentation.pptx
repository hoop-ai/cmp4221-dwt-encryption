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Hi everyone, I'm Abdul Rahman, and this is Maria. For our final project we picked a 2026 paper from ACM Transactions on Multimedia — published in Volume 22, Issue 3, this March — by Xu, Gao, Cao and Mou. The title is Multi-Image Encryption Scheme Based on Chaotic Pseudo-Random Signal Generator and DWT Compression. The idea is simple to state in one breath: take several color images, shrink each one using the wavelet transform we covered in class, stack them into a single 3D block, and then scramble that block using a chaotic system. I'll cover the first five slides — motivation, background, novelty and the pipeline — and Maria will take the algorithm details, the results, and the security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Think about what actually happens when you send photos over a network. A single 512-by-512 color image already has about 786 thousand pixel values across the R, G and B channels. Now imagine sending ten of those images, or fifty for a medical scan batch — you're moving a lot of data, and anything in transit can be intercepted by an attacker. So the paper points out there are really two problems happening at the same time. First, transmission is heavy, which costs you bandwidth and time. Second, transmission is unsafe, which means the visible image content has to be destroyed before it leaves your device. Most existing schemes treat these as separate problems — encrypt one image, compress one image, then move on to the next. That works for a single selfie. It breaks down for batches like medical scans across hospitals, or surveillance frames between sites. The authors argue you need compression and encryption working together in one pipeline; otherwise you're paying the cost twice. Their stated goal: do both in one shot, on multiple images, and even on images of different sizes.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Okay so the paper combines two tools we've already seen in this course. The first one is the Discrete Wavelet Transform, the DWT. We saw this in lecture: instead of using sines and cosines like the Fourier transform does, the DWT uses little localized waves called wavelets, and it splits an image into four sub-bands. There's LL, the low-frequency approximation — basically a smaller, blurry version of the image at half the height and half the width. Then LH, HL, and HH capture the horizontal, vertical, and diagonal edges respectively. The trick this paper uses is to keep only the LL sub-band and throw the other three away. That immediately compresses the image to one quarter of its original size, and because most of what your eye perceives lives in the low frequencies, the result is still visually recognizable. Now the second ingredient is a three-dimensional discrete chaotic map. A chaotic map is just a function you keep iterating: you plug in x, y, z, you get new x, y, z out, and you keep going. The output looks completely random, but it's fully deterministic — same starting numbers, same sequence every time. The authors fix the parameters at 0.3, 0.94, 0.9, 1.6, minus 1.8, minus 1.8, with initial state 0.1, 0.1, 0.1. Change any of those by ten to the minus fifteen, and the sequence is completely different. That extreme sensitivity is exactly what makes those numbers usable as a secret encryption key.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Here's the core trick of the paper, and it's worth saying clearly. Instead of encrypting each image one by one, the authors DWT-compress every image down to its LL sub-band, and then they stack all those LL sub-bands on top of each other into a single three-dimensional cube. Then they encrypt that whole cube as one single object. That's the novelty: one encryption pass, multiple images at once, even when those images have different sizes. They handle the size mismatch by padding the smaller images with zeros, so they all fit in the same cube shape — and they openly flag that padding as the main limitation.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Let me walk you through the full pipeline end to end. Stage one — you take each color image, split it into R, G, and B channels, and run the DWT on each channel separately. You keep only the LL sub-band, which is where the compression actually happens; you're now at one quarter the size of the original. Stage two — you take all those LL sub-bands from all your images, and you stack them into a single three-dimensional cube the paper calls C. The width and height of the cube come from the biggest image in the batch divided by two, and the depth comes from how many images you have. Stage three is what the paper calls confusion. The chaotic map gets iterated to produce three sequences, S1, T1 and U1, and these tell the algorithm how to swap pixel positions inside the cube. So a pixel that started at position (i, j, k) ends up somewhere completely different. Stage four is diffusion. Here you don't just move pixels around, you change their values too, by XOR-ing each pixel with another chaotic sequence. After both stages you have the cipher cube D, and that's what gets transmitted across the network. The receiver, who shares the same key, runs the whole pipeline in reverse: inverse diffusion, inverse confusion, inverse DWT — and recovers the original images. That's the methodology in one breath. Maria's going to take the confusion and diffusion stages in detail next. Maria, over to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Thanks Abdul. So I'll start with confusion. The cryptographic definition of confusion is just: change where information is, without changing what it is. Pixel values stay the same; only their spatial positions move. The way the paper does this is — they iterate the chaotic map M_h times M_w times z times, which is exactly once for every pixel in the cube. From those iterations they get three real-valued sequences, X, Y, and Z, and they post-process them using floor and mod operations to land on integer offsets in the right range. Those become S1, T1, and U1 — one offset for each axis. Then, for every single pixel at position (i, j, k), the algorithm compares each coordinate against its corresponding offset. There are nine possible cases — three coordinates, each can be bigger, smaller, or equal to its offset — and each case dictates a specific swap. If i is bigger than S1, the pixel swaps with the pixel at position i plus S1. If i is smaller, it swaps with the absolute value of i minus S1. If they're equal, the pixel doesn't move on that axis. The same logic runs for j against T1 and k against U1. After running this for every pixel, you get the confusion cube C-prime. Pixel values are unchanged, but the spatial arrangement is now driven by chaos, so visually the cube already looks like noise. The really nice property is that those offsets actually depend on the plaintext itself, which makes the scheme plaintext-aware — encrypting two different images gives you two completely different cipher cubes, even with the same key.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Now diffusion. Where confusion changed positions, diffusion changes pixel values directly. The first step is to flatten the confusion cube C-prime into a one-dimensional vector, V. Then the chaotic map gets iterated again to produce three new sequences — X2, Y2, and Z2. For the very first pixel of V, the algorithm XORs it with a seed value derived from the chaotic state, so that first pixel is hidden right away. Then for every pixel after the first, the algorithm takes the index k, computes k mod 3, and uses the result — zero, one, or two — to pick which of X2, Y2, or Z2 to XOR against. So you're not just using one chaotic stream, you're cycling through three independent streams, which makes the attacker's job significantly harder. And critically, the diffusion also uses the previous output pixel as part of the XOR. That means a single bit change at the very start of the image cascades all the way through the rest, because every later output pixel depends on the one before it. After looping through the whole vector, they reshape it back into a cube — that's the cipher cube D, and that's what gets transmitted. So at this point what an attacker sees is a noise-like 3D block — uniform histogram, near-zero correlation between neighbouring pixels, no visible structure left at all. That's the whole encryption procedure: confuse the positions, diffuse the values.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Right — so does it actually work? Reconstruction quality is measured with PSNR, peak signal-to-noise ratio, in decibels. Anything around 30 dB is considered visually good — most viewers can't tell the difference from the original. The paper reports 32.06 dB on average, and that's after lossy DWT compression plus a full encrypt-decrypt round trip. Compare that to four prior schemes the authors benchmark against — those land between 26.3 and 27.7 dB. So this paper is roughly 4 to 6 dB better, which on the PSNR scale is a meaningful jump because PSNR is logarithmic, not linear. Visually, in Figure 7 of the paper, you literally cannot tell the decrypted image apart from the original by eye. On the speed side, total encryption runs at about 6.15 megabytes per second on their MATLAB-on-CPU setup, which is fast enough for batch transmission scenarios. So the scheme is not just secure on paper — the recovered image is actually clean, and the encryption is fast enough to be practical.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Now the security analysis — four checks, all passed. First, the chaotic sequence itself goes through the NIST randomness suite, which is the standard 15-test battery used to validate any pseudo-random generator. Every single one of the fifteen tests passes with comfortable margins. Second, differential attack analysis. They flip one single pixel of the input image and re-encrypt, then measure NPCR and UACI between the two cipher images. The ideal targets are 99.6094 percent and 33.4635 percent. The paper hits 99.65 and 33.49 percent on average across twelve test images, so right on the ideal numbers. Third, information entropy of the cipher image is 7.9994, where the theoretical maximum is exactly 8.0 — so the cipher image is statistically indistinguishable from uniform noise. And fourth, the key space is huge — well beyond what any brute-force attack can cover, even with massive computing resources. So statistical attacks, differential attacks, and brute force are all blocked by the design.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i="0">
                <a:solidFill>
                  <a:srgbClr val="243342"/>
                </a:solidFill>
                <a:latin typeface="Aptos"/>
              </a:rPr>
              <a:t>One honest limitation, which the authors flag themselves: when the images in a batch have different sizes, the cube has to be padded with zeros, and that wastes space. They mark that as future work. The take-home for us is this: by combining DWT compression with a 3D chaotic map, you get encryption and compression in a single pipeline, with reconstruction quality of 32 dB and entropy basically equal to perfect noise. One pipeline, multiple images, strong security. Thanks for listening —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86200"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4343400"/>
            <a:ext cx="1554480" cy="960120"/>
          </a:xfrm>
          <a:prstGeom prst="rect">
            <a:avLst/>
          </a:prstGeom>
          <a:solidFill>
            <a:srgbClr val="214467"/>
          </a:solidFill>
          <a:ln w="12700">
            <a:solidFill>
              <a:srgbClr val="456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4233672"/>
            <a:ext cx="1554480" cy="960120"/>
          </a:xfrm>
          <a:prstGeom prst="rect">
            <a:avLst/>
          </a:prstGeom>
          <a:solidFill>
            <a:srgbClr val="214467"/>
          </a:solidFill>
          <a:ln w="12700">
            <a:solidFill>
              <a:srgbClr val="456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4984" y="4123944"/>
            <a:ext cx="1554480" cy="960120"/>
          </a:xfrm>
          <a:prstGeom prst="rect">
            <a:avLst/>
          </a:prstGeom>
          <a:solidFill>
            <a:srgbClr val="214467"/>
          </a:solidFill>
          <a:ln w="12700">
            <a:solidFill>
              <a:srgbClr val="456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25296" y="4014215"/>
            <a:ext cx="1554480" cy="960120"/>
          </a:xfrm>
          <a:prstGeom prst="rect">
            <a:avLst/>
          </a:prstGeom>
          <a:solidFill>
            <a:srgbClr val="214467"/>
          </a:solidFill>
          <a:ln w="12700">
            <a:solidFill>
              <a:srgbClr val="456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35608" y="3904487"/>
            <a:ext cx="1554480" cy="960120"/>
          </a:xfrm>
          <a:prstGeom prst="rect">
            <a:avLst/>
          </a:prstGeom>
          <a:solidFill>
            <a:srgbClr val="214467"/>
          </a:solidFill>
          <a:ln w="12700">
            <a:solidFill>
              <a:srgbClr val="456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45920" y="3794760"/>
            <a:ext cx="1554480" cy="960120"/>
          </a:xfrm>
          <a:prstGeom prst="rect">
            <a:avLst/>
          </a:prstGeom>
          <a:solidFill>
            <a:srgbClr val="214467"/>
          </a:solidFill>
          <a:ln w="12700">
            <a:solidFill>
              <a:srgbClr val="456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56232" y="3685032"/>
            <a:ext cx="1554480" cy="960120"/>
          </a:xfrm>
          <a:prstGeom prst="rect">
            <a:avLst/>
          </a:prstGeom>
          <a:solidFill>
            <a:srgbClr val="214467"/>
          </a:solidFill>
          <a:ln w="12700">
            <a:solidFill>
              <a:srgbClr val="456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66544" y="3575304"/>
            <a:ext cx="1554480" cy="960120"/>
          </a:xfrm>
          <a:prstGeom prst="rect">
            <a:avLst/>
          </a:prstGeom>
          <a:solidFill>
            <a:srgbClr val="214467"/>
          </a:solidFill>
          <a:ln w="12700">
            <a:solidFill>
              <a:srgbClr val="456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09344" y="1892807"/>
            <a:ext cx="1325880" cy="960120"/>
          </a:xfrm>
          <a:prstGeom prst="rect">
            <a:avLst/>
          </a:prstGeom>
          <a:solidFill>
            <a:srgbClr val="D9EEEE"/>
          </a:solidFill>
          <a:ln w="12700">
            <a:solidFill>
              <a:srgbClr val="7BBF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81328" y="1975104"/>
            <a:ext cx="1325880" cy="960120"/>
          </a:xfrm>
          <a:prstGeom prst="rect">
            <a:avLst/>
          </a:prstGeom>
          <a:solidFill>
            <a:srgbClr val="E2F3F2"/>
          </a:solidFill>
          <a:ln w="12700">
            <a:solidFill>
              <a:srgbClr val="7BBF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53312" y="2057400"/>
            <a:ext cx="1325880" cy="960120"/>
          </a:xfrm>
          <a:prstGeom prst="rect">
            <a:avLst/>
          </a:prstGeom>
          <a:solidFill>
            <a:srgbClr val="2C6F83"/>
          </a:solidFill>
          <a:ln w="12700">
            <a:solidFill>
              <a:srgbClr val="7BBF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4" y="2372868"/>
            <a:ext cx="1179576" cy="292608"/>
          </a:xfrm>
          <a:prstGeom prst="rect">
            <a:avLst/>
          </a:prstGeom>
          <a:noFill/>
        </p:spPr>
        <p:txBody>
          <a:bodyPr wrap="square" lIns="54864" rIns="54864" tIns="54864" bIns="54864" anchor="t">
            <a:spAutoFit/>
          </a:bodyPr>
          <a:lstStyle/>
          <a:p>
            <a:pPr algn="ctr">
              <a:lnSpc>
                <a:spcPct val="100000"/>
              </a:lnSpc>
            </a:pPr>
            <a:r>
              <a:rPr sz="1400" b="1" i="0">
                <a:solidFill>
                  <a:srgbClr val="17324D"/>
                </a:solidFill>
                <a:latin typeface="Aptos"/>
              </a:rPr>
              <a:t>D</a:t>
            </a:r>
          </a:p>
        </p:txBody>
      </p:sp>
      <p:sp>
        <p:nvSpPr>
          <p:cNvPr id="16" name="TextBox 15"/>
          <p:cNvSpPr txBox="1"/>
          <p:nvPr/>
        </p:nvSpPr>
        <p:spPr>
          <a:xfrm>
            <a:off x="502920" y="384048"/>
            <a:ext cx="2834640" cy="365760"/>
          </a:xfrm>
          <a:prstGeom prst="rect">
            <a:avLst/>
          </a:prstGeom>
          <a:noFill/>
        </p:spPr>
        <p:txBody>
          <a:bodyPr wrap="square" lIns="54864" rIns="54864" tIns="54864" bIns="54864" anchor="t">
            <a:spAutoFit/>
          </a:bodyPr>
          <a:lstStyle/>
          <a:p>
            <a:pPr algn="l">
              <a:lnSpc>
                <a:spcPct val="100000"/>
              </a:lnSpc>
            </a:pPr>
            <a:r>
              <a:rPr sz="1300" b="1" i="0">
                <a:solidFill>
                  <a:srgbClr val="CFE2F3"/>
                </a:solidFill>
                <a:latin typeface="Aptos"/>
              </a:rPr>
              <a:t>CMP4221 · Multimedia Systems</a:t>
            </a:r>
          </a:p>
        </p:txBody>
      </p:sp>
      <p:sp>
        <p:nvSpPr>
          <p:cNvPr id="17" name="TextBox 16"/>
          <p:cNvSpPr txBox="1"/>
          <p:nvPr/>
        </p:nvSpPr>
        <p:spPr>
          <a:xfrm>
            <a:off x="502920" y="6053328"/>
            <a:ext cx="2834640" cy="384048"/>
          </a:xfrm>
          <a:prstGeom prst="rect">
            <a:avLst/>
          </a:prstGeom>
          <a:noFill/>
        </p:spPr>
        <p:txBody>
          <a:bodyPr wrap="square" lIns="54864" rIns="54864" tIns="54864" bIns="54864" anchor="t">
            <a:spAutoFit/>
          </a:bodyPr>
          <a:lstStyle/>
          <a:p>
            <a:pPr algn="l">
              <a:lnSpc>
                <a:spcPct val="100000"/>
              </a:lnSpc>
            </a:pPr>
            <a:r>
              <a:rPr sz="1300" b="1" i="0">
                <a:solidFill>
                  <a:srgbClr val="FFFFFF"/>
                </a:solidFill>
                <a:latin typeface="Aptos"/>
              </a:rPr>
              <a:t>Abdul Rahman Malak</a:t>
            </a:r>
          </a:p>
          <a:p>
            <a:pPr algn="l">
              <a:lnSpc>
                <a:spcPct val="100000"/>
              </a:lnSpc>
            </a:pPr>
            <a:r>
              <a:rPr sz="1300" b="1" i="0">
                <a:solidFill>
                  <a:srgbClr val="FFFFFF"/>
                </a:solidFill>
                <a:latin typeface="Aptos"/>
              </a:rPr>
              <a:t>Maria Alftaih</a:t>
            </a:r>
          </a:p>
        </p:txBody>
      </p:sp>
      <p:sp>
        <p:nvSpPr>
          <p:cNvPr id="18" name="TextBox 17"/>
          <p:cNvSpPr txBox="1"/>
          <p:nvPr/>
        </p:nvSpPr>
        <p:spPr>
          <a:xfrm>
            <a:off x="4343400" y="658368"/>
            <a:ext cx="7132320" cy="457200"/>
          </a:xfrm>
          <a:prstGeom prst="rect">
            <a:avLst/>
          </a:prstGeom>
          <a:noFill/>
        </p:spPr>
        <p:txBody>
          <a:bodyPr wrap="square" lIns="54864" rIns="54864" tIns="54864" bIns="54864" anchor="t">
            <a:spAutoFit/>
          </a:bodyPr>
          <a:lstStyle/>
          <a:p>
            <a:pPr algn="l">
              <a:lnSpc>
                <a:spcPct val="100000"/>
              </a:lnSpc>
            </a:pPr>
            <a:r>
              <a:rPr sz="2200" b="1" i="0">
                <a:solidFill>
                  <a:srgbClr val="0C7C7B"/>
                </a:solidFill>
                <a:latin typeface="Aptos"/>
              </a:rPr>
              <a:t>Multi-Image Encryption with DWT + Chaotic Map</a:t>
            </a:r>
          </a:p>
        </p:txBody>
      </p:sp>
      <p:sp>
        <p:nvSpPr>
          <p:cNvPr id="19" name="TextBox 18"/>
          <p:cNvSpPr txBox="1"/>
          <p:nvPr/>
        </p:nvSpPr>
        <p:spPr>
          <a:xfrm>
            <a:off x="4315968" y="1234440"/>
            <a:ext cx="7223760" cy="1691640"/>
          </a:xfrm>
          <a:prstGeom prst="rect">
            <a:avLst/>
          </a:prstGeom>
          <a:noFill/>
        </p:spPr>
        <p:txBody>
          <a:bodyPr wrap="square" lIns="54864" rIns="54864" tIns="54864" bIns="54864" anchor="t">
            <a:spAutoFit/>
          </a:bodyPr>
          <a:lstStyle/>
          <a:p>
            <a:pPr algn="l">
              <a:lnSpc>
                <a:spcPct val="90000"/>
              </a:lnSpc>
            </a:pPr>
            <a:r>
              <a:rPr sz="4000" b="1" i="0">
                <a:solidFill>
                  <a:srgbClr val="17324D"/>
                </a:solidFill>
                <a:latin typeface="Aptos Display"/>
              </a:rPr>
              <a:t>Compression + encryption</a:t>
            </a:r>
          </a:p>
          <a:p>
            <a:pPr algn="l">
              <a:lnSpc>
                <a:spcPct val="90000"/>
              </a:lnSpc>
            </a:pPr>
            <a:r>
              <a:rPr sz="4000" b="1" i="0">
                <a:solidFill>
                  <a:srgbClr val="17324D"/>
                </a:solidFill>
                <a:latin typeface="Aptos Display"/>
              </a:rPr>
              <a:t>in one pipeline</a:t>
            </a:r>
          </a:p>
        </p:txBody>
      </p:sp>
      <p:sp>
        <p:nvSpPr>
          <p:cNvPr id="20" name="TextBox 19"/>
          <p:cNvSpPr txBox="1"/>
          <p:nvPr/>
        </p:nvSpPr>
        <p:spPr>
          <a:xfrm>
            <a:off x="4370832" y="3246120"/>
            <a:ext cx="6858000" cy="841248"/>
          </a:xfrm>
          <a:prstGeom prst="rect">
            <a:avLst/>
          </a:prstGeom>
          <a:noFill/>
        </p:spPr>
        <p:txBody>
          <a:bodyPr wrap="square" lIns="54864" rIns="54864" tIns="54864" bIns="54864" anchor="t">
            <a:spAutoFit/>
          </a:bodyPr>
          <a:lstStyle/>
          <a:p>
            <a:pPr algn="l">
              <a:lnSpc>
                <a:spcPct val="100000"/>
              </a:lnSpc>
            </a:pPr>
            <a:r>
              <a:rPr sz="1600" b="0" i="0">
                <a:solidFill>
                  <a:srgbClr val="243342"/>
                </a:solidFill>
                <a:latin typeface="Aptos"/>
              </a:rPr>
              <a:t>Xu, Gao, Cao, Mou · ACM TOMM Vol. 22 Issue 3 · March 2026</a:t>
            </a:r>
          </a:p>
          <a:p>
            <a:pPr algn="l">
              <a:lnSpc>
                <a:spcPct val="100000"/>
              </a:lnSpc>
            </a:pPr>
            <a:r>
              <a:rPr sz="1600" b="0" i="0">
                <a:solidFill>
                  <a:srgbClr val="243342"/>
                </a:solidFill>
                <a:latin typeface="Aptos"/>
              </a:rPr>
              <a:t>DOI 10.1145/3769123</a:t>
            </a:r>
          </a:p>
        </p:txBody>
      </p:sp>
      <p:sp>
        <p:nvSpPr>
          <p:cNvPr id="21" name="Rounded Rectangle 20"/>
          <p:cNvSpPr/>
          <p:nvPr/>
        </p:nvSpPr>
        <p:spPr>
          <a:xfrm>
            <a:off x="4370832" y="4535424"/>
            <a:ext cx="6839712" cy="1042415"/>
          </a:xfrm>
          <a:prstGeom prst="roundRect">
            <a:avLst/>
          </a:prstGeom>
          <a:solidFill>
            <a:srgbClr val="E8F6F5"/>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70832" y="4535424"/>
            <a:ext cx="73152" cy="1042415"/>
          </a:xfrm>
          <a:prstGeom prst="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35424" y="4645152"/>
            <a:ext cx="6547104" cy="320040"/>
          </a:xfrm>
          <a:prstGeom prst="rect">
            <a:avLst/>
          </a:prstGeom>
          <a:noFill/>
        </p:spPr>
        <p:txBody>
          <a:bodyPr wrap="square" lIns="54864" rIns="54864" tIns="54864" bIns="54864" anchor="t">
            <a:spAutoFit/>
          </a:bodyPr>
          <a:lstStyle/>
          <a:p>
            <a:pPr algn="l">
              <a:lnSpc>
                <a:spcPct val="100000"/>
              </a:lnSpc>
            </a:pPr>
            <a:r>
              <a:rPr sz="1500" b="1" i="0">
                <a:solidFill>
                  <a:srgbClr val="17324D"/>
                </a:solidFill>
                <a:latin typeface="Aptos"/>
              </a:rPr>
              <a:t>Thesis</a:t>
            </a:r>
          </a:p>
        </p:txBody>
      </p:sp>
      <p:sp>
        <p:nvSpPr>
          <p:cNvPr id="24" name="TextBox 23"/>
          <p:cNvSpPr txBox="1"/>
          <p:nvPr/>
        </p:nvSpPr>
        <p:spPr>
          <a:xfrm>
            <a:off x="4535424" y="5010912"/>
            <a:ext cx="6547104" cy="475487"/>
          </a:xfrm>
          <a:prstGeom prst="rect">
            <a:avLst/>
          </a:prstGeom>
          <a:noFill/>
        </p:spPr>
        <p:txBody>
          <a:bodyPr wrap="square" lIns="54864" rIns="54864" tIns="54864" bIns="54864" anchor="t">
            <a:spAutoFit/>
          </a:bodyPr>
          <a:lstStyle/>
          <a:p>
            <a:pPr algn="l">
              <a:lnSpc>
                <a:spcPct val="100000"/>
              </a:lnSpc>
            </a:pPr>
            <a:r>
              <a:rPr sz="1250" b="0" i="0">
                <a:solidFill>
                  <a:srgbClr val="243342"/>
                </a:solidFill>
                <a:latin typeface="Aptos"/>
              </a:rPr>
              <a:t>DWT shrinks each color image, the LL sub-bands are stacked into a cube, and chaos scrambles the cube into a secure cipher object.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Sending color images is slow AND unsafe</a:t>
            </a:r>
          </a:p>
        </p:txBody>
      </p:sp>
      <p:sp>
        <p:nvSpPr>
          <p:cNvPr id="3" name="Rounded Rectangle 2"/>
          <p:cNvSpPr/>
          <p:nvPr/>
        </p:nvSpPr>
        <p:spPr>
          <a:xfrm>
            <a:off x="8778240" y="283464"/>
            <a:ext cx="2880360" cy="347472"/>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Abdul · 1:00 · Problem</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2/10</a:t>
            </a:r>
          </a:p>
        </p:txBody>
      </p:sp>
      <p:sp>
        <p:nvSpPr>
          <p:cNvPr id="18" name="TextBox 17"/>
          <p:cNvSpPr txBox="1"/>
          <p:nvPr/>
        </p:nvSpPr>
        <p:spPr>
          <a:xfrm>
            <a:off x="658368" y="1143000"/>
            <a:ext cx="10607040" cy="329184"/>
          </a:xfrm>
          <a:prstGeom prst="rect">
            <a:avLst/>
          </a:prstGeom>
          <a:noFill/>
        </p:spPr>
        <p:txBody>
          <a:bodyPr wrap="square" lIns="54864" rIns="54864" tIns="54864" bIns="54864" anchor="t">
            <a:spAutoFit/>
          </a:bodyPr>
          <a:lstStyle/>
          <a:p>
            <a:pPr algn="l">
              <a:lnSpc>
                <a:spcPct val="100000"/>
              </a:lnSpc>
            </a:pPr>
            <a:r>
              <a:rPr sz="1800" b="0" i="0">
                <a:solidFill>
                  <a:srgbClr val="243342"/>
                </a:solidFill>
                <a:latin typeface="Aptos"/>
              </a:rPr>
              <a:t>The paper is solving two costs at once: transmission size and confidentiality.</a:t>
            </a:r>
          </a:p>
        </p:txBody>
      </p:sp>
      <p:sp>
        <p:nvSpPr>
          <p:cNvPr id="19" name="Rounded Rectangle 18"/>
          <p:cNvSpPr/>
          <p:nvPr/>
        </p:nvSpPr>
        <p:spPr>
          <a:xfrm>
            <a:off x="658368" y="1828800"/>
            <a:ext cx="3246120" cy="196596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1828800"/>
            <a:ext cx="73152" cy="196596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1938528"/>
            <a:ext cx="2953512" cy="320040"/>
          </a:xfrm>
          <a:prstGeom prst="rect">
            <a:avLst/>
          </a:prstGeom>
          <a:noFill/>
        </p:spPr>
        <p:txBody>
          <a:bodyPr wrap="square" lIns="54864" rIns="54864" tIns="54864" bIns="54864" anchor="t">
            <a:spAutoFit/>
          </a:bodyPr>
          <a:lstStyle/>
          <a:p>
            <a:pPr algn="l">
              <a:lnSpc>
                <a:spcPct val="100000"/>
              </a:lnSpc>
            </a:pPr>
            <a:r>
              <a:rPr sz="1800" b="1" i="0">
                <a:solidFill>
                  <a:srgbClr val="17324D"/>
                </a:solidFill>
                <a:latin typeface="Aptos"/>
              </a:rPr>
              <a:t>Bandwidth</a:t>
            </a:r>
          </a:p>
        </p:txBody>
      </p:sp>
      <p:sp>
        <p:nvSpPr>
          <p:cNvPr id="22" name="TextBox 21"/>
          <p:cNvSpPr txBox="1"/>
          <p:nvPr/>
        </p:nvSpPr>
        <p:spPr>
          <a:xfrm>
            <a:off x="822959" y="2304288"/>
            <a:ext cx="2953512" cy="1399031"/>
          </a:xfrm>
          <a:prstGeom prst="rect">
            <a:avLst/>
          </a:prstGeom>
          <a:noFill/>
        </p:spPr>
        <p:txBody>
          <a:bodyPr wrap="square" lIns="54864" rIns="54864" tIns="54864" bIns="54864" anchor="t">
            <a:spAutoFit/>
          </a:bodyPr>
          <a:lstStyle/>
          <a:p>
            <a:pPr algn="l">
              <a:lnSpc>
                <a:spcPct val="100000"/>
              </a:lnSpc>
            </a:pPr>
            <a:r>
              <a:rPr sz="1500" b="0" i="0">
                <a:solidFill>
                  <a:srgbClr val="243342"/>
                </a:solidFill>
                <a:latin typeface="Aptos"/>
              </a:rPr>
              <a:t>A 512×512 RGB image has 786,432 channel values. A batch of images gets heavy fast.</a:t>
            </a:r>
          </a:p>
        </p:txBody>
      </p:sp>
      <p:sp>
        <p:nvSpPr>
          <p:cNvPr id="23" name="Rounded Rectangle 22"/>
          <p:cNvSpPr/>
          <p:nvPr/>
        </p:nvSpPr>
        <p:spPr>
          <a:xfrm>
            <a:off x="4361688" y="1828800"/>
            <a:ext cx="3246120" cy="196596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61688" y="1828800"/>
            <a:ext cx="73152" cy="1965960"/>
          </a:xfrm>
          <a:prstGeom prst="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79" y="1938528"/>
            <a:ext cx="2953512" cy="320040"/>
          </a:xfrm>
          <a:prstGeom prst="rect">
            <a:avLst/>
          </a:prstGeom>
          <a:noFill/>
        </p:spPr>
        <p:txBody>
          <a:bodyPr wrap="square" lIns="54864" rIns="54864" tIns="54864" bIns="54864" anchor="t">
            <a:spAutoFit/>
          </a:bodyPr>
          <a:lstStyle/>
          <a:p>
            <a:pPr algn="l">
              <a:lnSpc>
                <a:spcPct val="100000"/>
              </a:lnSpc>
            </a:pPr>
            <a:r>
              <a:rPr sz="1800" b="1" i="0">
                <a:solidFill>
                  <a:srgbClr val="17324D"/>
                </a:solidFill>
                <a:latin typeface="Aptos"/>
              </a:rPr>
              <a:t>Confidentiality</a:t>
            </a:r>
          </a:p>
        </p:txBody>
      </p:sp>
      <p:sp>
        <p:nvSpPr>
          <p:cNvPr id="26" name="TextBox 25"/>
          <p:cNvSpPr txBox="1"/>
          <p:nvPr/>
        </p:nvSpPr>
        <p:spPr>
          <a:xfrm>
            <a:off x="4526279" y="2304288"/>
            <a:ext cx="2953512" cy="1399031"/>
          </a:xfrm>
          <a:prstGeom prst="rect">
            <a:avLst/>
          </a:prstGeom>
          <a:noFill/>
        </p:spPr>
        <p:txBody>
          <a:bodyPr wrap="square" lIns="54864" rIns="54864" tIns="54864" bIns="54864" anchor="t">
            <a:spAutoFit/>
          </a:bodyPr>
          <a:lstStyle/>
          <a:p>
            <a:pPr algn="l">
              <a:lnSpc>
                <a:spcPct val="100000"/>
              </a:lnSpc>
            </a:pPr>
            <a:r>
              <a:rPr sz="1500" b="0" i="0">
                <a:solidFill>
                  <a:srgbClr val="243342"/>
                </a:solidFill>
                <a:latin typeface="Aptos"/>
              </a:rPr>
              <a:t>If images are intercepted, the visible content must be destroyed before transmission.</a:t>
            </a:r>
          </a:p>
        </p:txBody>
      </p:sp>
      <p:sp>
        <p:nvSpPr>
          <p:cNvPr id="27" name="Rounded Rectangle 26"/>
          <p:cNvSpPr/>
          <p:nvPr/>
        </p:nvSpPr>
        <p:spPr>
          <a:xfrm>
            <a:off x="8065008" y="1828800"/>
            <a:ext cx="3246120" cy="196596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65008" y="1828800"/>
            <a:ext cx="73152" cy="1965960"/>
          </a:xfrm>
          <a:prstGeom prst="rect">
            <a:avLst/>
          </a:prstGeom>
          <a:solidFill>
            <a:srgbClr val="D69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0" y="1938528"/>
            <a:ext cx="2953512" cy="320040"/>
          </a:xfrm>
          <a:prstGeom prst="rect">
            <a:avLst/>
          </a:prstGeom>
          <a:noFill/>
        </p:spPr>
        <p:txBody>
          <a:bodyPr wrap="square" lIns="54864" rIns="54864" tIns="54864" bIns="54864" anchor="t">
            <a:spAutoFit/>
          </a:bodyPr>
          <a:lstStyle/>
          <a:p>
            <a:pPr algn="l">
              <a:lnSpc>
                <a:spcPct val="100000"/>
              </a:lnSpc>
            </a:pPr>
            <a:r>
              <a:rPr sz="1800" b="1" i="0">
                <a:solidFill>
                  <a:srgbClr val="17324D"/>
                </a:solidFill>
                <a:latin typeface="Aptos"/>
              </a:rPr>
              <a:t>Multi-image scale</a:t>
            </a:r>
          </a:p>
        </p:txBody>
      </p:sp>
      <p:sp>
        <p:nvSpPr>
          <p:cNvPr id="30" name="TextBox 29"/>
          <p:cNvSpPr txBox="1"/>
          <p:nvPr/>
        </p:nvSpPr>
        <p:spPr>
          <a:xfrm>
            <a:off x="8229600" y="2304288"/>
            <a:ext cx="2953512" cy="1399031"/>
          </a:xfrm>
          <a:prstGeom prst="rect">
            <a:avLst/>
          </a:prstGeom>
          <a:noFill/>
        </p:spPr>
        <p:txBody>
          <a:bodyPr wrap="square" lIns="54864" rIns="54864" tIns="54864" bIns="54864" anchor="t">
            <a:spAutoFit/>
          </a:bodyPr>
          <a:lstStyle/>
          <a:p>
            <a:pPr algn="l">
              <a:lnSpc>
                <a:spcPct val="100000"/>
              </a:lnSpc>
            </a:pPr>
            <a:r>
              <a:rPr sz="1500" b="0" i="0">
                <a:solidFill>
                  <a:srgbClr val="243342"/>
                </a:solidFill>
                <a:latin typeface="Aptos"/>
              </a:rPr>
              <a:t>One-image-at-a-time encryption is awkward for batches like medical scans or surveillance frames.</a:t>
            </a:r>
          </a:p>
        </p:txBody>
      </p:sp>
      <p:sp>
        <p:nvSpPr>
          <p:cNvPr id="31" name="Rounded Rectangle 30"/>
          <p:cNvSpPr/>
          <p:nvPr/>
        </p:nvSpPr>
        <p:spPr>
          <a:xfrm>
            <a:off x="1005840" y="4343400"/>
            <a:ext cx="10195560" cy="822960"/>
          </a:xfrm>
          <a:prstGeom prst="roundRect">
            <a:avLst/>
          </a:prstGeom>
          <a:solidFill>
            <a:srgbClr val="FFF4DA"/>
          </a:solidFill>
          <a:ln w="12700">
            <a:solidFill>
              <a:srgbClr val="E8D4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4440" y="4526280"/>
            <a:ext cx="9738360" cy="384048"/>
          </a:xfrm>
          <a:prstGeom prst="rect">
            <a:avLst/>
          </a:prstGeom>
          <a:noFill/>
        </p:spPr>
        <p:txBody>
          <a:bodyPr wrap="square" lIns="54864" rIns="54864" tIns="54864" bIns="54864" anchor="t">
            <a:spAutoFit/>
          </a:bodyPr>
          <a:lstStyle/>
          <a:p>
            <a:pPr algn="ctr">
              <a:lnSpc>
                <a:spcPct val="100000"/>
              </a:lnSpc>
            </a:pPr>
            <a:r>
              <a:rPr sz="2400" b="1" i="0">
                <a:solidFill>
                  <a:srgbClr val="17324D"/>
                </a:solidFill>
                <a:latin typeface="Aptos"/>
              </a:rPr>
              <a:t>Goal: compress AND encrypt multiple images in one pass.</a:t>
            </a:r>
          </a:p>
        </p:txBody>
      </p:sp>
      <p:sp>
        <p:nvSpPr>
          <p:cNvPr id="33" name="TextBox 32"/>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Section 1,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Two ingredients: DWT and chaos</a:t>
            </a:r>
          </a:p>
        </p:txBody>
      </p:sp>
      <p:sp>
        <p:nvSpPr>
          <p:cNvPr id="3" name="Rounded Rectangle 2"/>
          <p:cNvSpPr/>
          <p:nvPr/>
        </p:nvSpPr>
        <p:spPr>
          <a:xfrm>
            <a:off x="8778240" y="283464"/>
            <a:ext cx="2880360" cy="347472"/>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Abdul · 1:30 · Background</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3/10</a:t>
            </a:r>
          </a:p>
        </p:txBody>
      </p:sp>
      <p:sp>
        <p:nvSpPr>
          <p:cNvPr id="18" name="TextBox 17"/>
          <p:cNvSpPr txBox="1"/>
          <p:nvPr/>
        </p:nvSpPr>
        <p:spPr>
          <a:xfrm>
            <a:off x="685800" y="1078992"/>
            <a:ext cx="4663440" cy="320040"/>
          </a:xfrm>
          <a:prstGeom prst="rect">
            <a:avLst/>
          </a:prstGeom>
          <a:noFill/>
        </p:spPr>
        <p:txBody>
          <a:bodyPr wrap="square" lIns="54864" rIns="54864" tIns="54864" bIns="54864" anchor="t">
            <a:spAutoFit/>
          </a:bodyPr>
          <a:lstStyle/>
          <a:p>
            <a:pPr algn="l">
              <a:lnSpc>
                <a:spcPct val="100000"/>
              </a:lnSpc>
            </a:pPr>
            <a:r>
              <a:rPr sz="2000" b="1" i="0">
                <a:solidFill>
                  <a:srgbClr val="17324D"/>
                </a:solidFill>
                <a:latin typeface="Aptos"/>
              </a:rPr>
              <a:t>DWT compression</a:t>
            </a:r>
          </a:p>
        </p:txBody>
      </p:sp>
      <p:sp>
        <p:nvSpPr>
          <p:cNvPr id="19" name="Rectangle 18"/>
          <p:cNvSpPr/>
          <p:nvPr/>
        </p:nvSpPr>
        <p:spPr>
          <a:xfrm>
            <a:off x="868680" y="1600200"/>
            <a:ext cx="1325880" cy="1325880"/>
          </a:xfrm>
          <a:prstGeom prst="rect">
            <a:avLst/>
          </a:prstGeom>
          <a:solidFill>
            <a:srgbClr val="E8F6F5"/>
          </a:solidFill>
          <a:ln w="254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1801368"/>
            <a:ext cx="1179576" cy="320040"/>
          </a:xfrm>
          <a:prstGeom prst="rect">
            <a:avLst/>
          </a:prstGeom>
          <a:noFill/>
        </p:spPr>
        <p:txBody>
          <a:bodyPr wrap="square" lIns="54864" rIns="54864" tIns="54864" bIns="54864" anchor="t">
            <a:spAutoFit/>
          </a:bodyPr>
          <a:lstStyle/>
          <a:p>
            <a:pPr algn="ctr">
              <a:lnSpc>
                <a:spcPct val="100000"/>
              </a:lnSpc>
            </a:pPr>
            <a:r>
              <a:rPr sz="2600" b="1" i="0">
                <a:solidFill>
                  <a:srgbClr val="17324D"/>
                </a:solidFill>
                <a:latin typeface="Aptos"/>
              </a:rPr>
              <a:t>LL</a:t>
            </a:r>
          </a:p>
        </p:txBody>
      </p:sp>
      <p:sp>
        <p:nvSpPr>
          <p:cNvPr id="21" name="TextBox 20"/>
          <p:cNvSpPr txBox="1"/>
          <p:nvPr/>
        </p:nvSpPr>
        <p:spPr>
          <a:xfrm>
            <a:off x="960120" y="2313432"/>
            <a:ext cx="1143000" cy="420624"/>
          </a:xfrm>
          <a:prstGeom prst="rect">
            <a:avLst/>
          </a:prstGeom>
          <a:noFill/>
        </p:spPr>
        <p:txBody>
          <a:bodyPr wrap="square" lIns="54864" rIns="54864" tIns="54864" bIns="54864" anchor="t">
            <a:spAutoFit/>
          </a:bodyPr>
          <a:lstStyle/>
          <a:p>
            <a:pPr algn="ctr">
              <a:lnSpc>
                <a:spcPct val="100000"/>
              </a:lnSpc>
            </a:pPr>
            <a:r>
              <a:rPr sz="1100" b="0" i="0">
                <a:solidFill>
                  <a:srgbClr val="243342"/>
                </a:solidFill>
                <a:latin typeface="Aptos"/>
              </a:rPr>
              <a:t>approximation</a:t>
            </a:r>
          </a:p>
          <a:p>
            <a:pPr algn="ctr">
              <a:lnSpc>
                <a:spcPct val="100000"/>
              </a:lnSpc>
            </a:pPr>
            <a:r>
              <a:rPr sz="1100" b="0" i="0">
                <a:solidFill>
                  <a:srgbClr val="243342"/>
                </a:solidFill>
                <a:latin typeface="Aptos"/>
              </a:rPr>
              <a:t>keep this</a:t>
            </a:r>
          </a:p>
        </p:txBody>
      </p:sp>
      <p:sp>
        <p:nvSpPr>
          <p:cNvPr id="22" name="Rectangle 21"/>
          <p:cNvSpPr/>
          <p:nvPr/>
        </p:nvSpPr>
        <p:spPr>
          <a:xfrm>
            <a:off x="2267712" y="1600200"/>
            <a:ext cx="1325880" cy="1325880"/>
          </a:xfrm>
          <a:prstGeom prst="rect">
            <a:avLst/>
          </a:prstGeom>
          <a:solidFill>
            <a:srgbClr val="EAF0F6"/>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40864" y="1801368"/>
            <a:ext cx="1179576" cy="320040"/>
          </a:xfrm>
          <a:prstGeom prst="rect">
            <a:avLst/>
          </a:prstGeom>
          <a:noFill/>
        </p:spPr>
        <p:txBody>
          <a:bodyPr wrap="square" lIns="54864" rIns="54864" tIns="54864" bIns="54864" anchor="t">
            <a:spAutoFit/>
          </a:bodyPr>
          <a:lstStyle/>
          <a:p>
            <a:pPr algn="ctr">
              <a:lnSpc>
                <a:spcPct val="100000"/>
              </a:lnSpc>
            </a:pPr>
            <a:r>
              <a:rPr sz="2600" b="1" i="0">
                <a:solidFill>
                  <a:srgbClr val="17324D"/>
                </a:solidFill>
                <a:latin typeface="Aptos"/>
              </a:rPr>
              <a:t>LH</a:t>
            </a:r>
          </a:p>
        </p:txBody>
      </p:sp>
      <p:sp>
        <p:nvSpPr>
          <p:cNvPr id="24" name="TextBox 23"/>
          <p:cNvSpPr txBox="1"/>
          <p:nvPr/>
        </p:nvSpPr>
        <p:spPr>
          <a:xfrm>
            <a:off x="2359152" y="2313432"/>
            <a:ext cx="1143000" cy="420624"/>
          </a:xfrm>
          <a:prstGeom prst="rect">
            <a:avLst/>
          </a:prstGeom>
          <a:noFill/>
        </p:spPr>
        <p:txBody>
          <a:bodyPr wrap="square" lIns="54864" rIns="54864" tIns="54864" bIns="54864" anchor="t">
            <a:spAutoFit/>
          </a:bodyPr>
          <a:lstStyle/>
          <a:p>
            <a:pPr algn="ctr">
              <a:lnSpc>
                <a:spcPct val="100000"/>
              </a:lnSpc>
            </a:pPr>
            <a:r>
              <a:rPr sz="1100" b="0" i="0">
                <a:solidFill>
                  <a:srgbClr val="243342"/>
                </a:solidFill>
                <a:latin typeface="Aptos"/>
              </a:rPr>
              <a:t>horizontal</a:t>
            </a:r>
          </a:p>
          <a:p>
            <a:pPr algn="ctr">
              <a:lnSpc>
                <a:spcPct val="100000"/>
              </a:lnSpc>
            </a:pPr>
            <a:r>
              <a:rPr sz="1100" b="0" i="0">
                <a:solidFill>
                  <a:srgbClr val="243342"/>
                </a:solidFill>
                <a:latin typeface="Aptos"/>
              </a:rPr>
              <a:t>edges</a:t>
            </a:r>
          </a:p>
        </p:txBody>
      </p:sp>
      <p:sp>
        <p:nvSpPr>
          <p:cNvPr id="25" name="Rectangle 24"/>
          <p:cNvSpPr/>
          <p:nvPr/>
        </p:nvSpPr>
        <p:spPr>
          <a:xfrm>
            <a:off x="868680" y="2999232"/>
            <a:ext cx="1325880" cy="1325880"/>
          </a:xfrm>
          <a:prstGeom prst="rect">
            <a:avLst/>
          </a:prstGeom>
          <a:solidFill>
            <a:srgbClr val="EAF0F6"/>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3200400"/>
            <a:ext cx="1179576" cy="320040"/>
          </a:xfrm>
          <a:prstGeom prst="rect">
            <a:avLst/>
          </a:prstGeom>
          <a:noFill/>
        </p:spPr>
        <p:txBody>
          <a:bodyPr wrap="square" lIns="54864" rIns="54864" tIns="54864" bIns="54864" anchor="t">
            <a:spAutoFit/>
          </a:bodyPr>
          <a:lstStyle/>
          <a:p>
            <a:pPr algn="ctr">
              <a:lnSpc>
                <a:spcPct val="100000"/>
              </a:lnSpc>
            </a:pPr>
            <a:r>
              <a:rPr sz="2600" b="1" i="0">
                <a:solidFill>
                  <a:srgbClr val="17324D"/>
                </a:solidFill>
                <a:latin typeface="Aptos"/>
              </a:rPr>
              <a:t>HL</a:t>
            </a:r>
          </a:p>
        </p:txBody>
      </p:sp>
      <p:sp>
        <p:nvSpPr>
          <p:cNvPr id="27" name="TextBox 26"/>
          <p:cNvSpPr txBox="1"/>
          <p:nvPr/>
        </p:nvSpPr>
        <p:spPr>
          <a:xfrm>
            <a:off x="960120" y="3712464"/>
            <a:ext cx="1143000" cy="420624"/>
          </a:xfrm>
          <a:prstGeom prst="rect">
            <a:avLst/>
          </a:prstGeom>
          <a:noFill/>
        </p:spPr>
        <p:txBody>
          <a:bodyPr wrap="square" lIns="54864" rIns="54864" tIns="54864" bIns="54864" anchor="t">
            <a:spAutoFit/>
          </a:bodyPr>
          <a:lstStyle/>
          <a:p>
            <a:pPr algn="ctr">
              <a:lnSpc>
                <a:spcPct val="100000"/>
              </a:lnSpc>
            </a:pPr>
            <a:r>
              <a:rPr sz="1100" b="0" i="0">
                <a:solidFill>
                  <a:srgbClr val="243342"/>
                </a:solidFill>
                <a:latin typeface="Aptos"/>
              </a:rPr>
              <a:t>vertical</a:t>
            </a:r>
          </a:p>
          <a:p>
            <a:pPr algn="ctr">
              <a:lnSpc>
                <a:spcPct val="100000"/>
              </a:lnSpc>
            </a:pPr>
            <a:r>
              <a:rPr sz="1100" b="0" i="0">
                <a:solidFill>
                  <a:srgbClr val="243342"/>
                </a:solidFill>
                <a:latin typeface="Aptos"/>
              </a:rPr>
              <a:t>edges</a:t>
            </a:r>
          </a:p>
        </p:txBody>
      </p:sp>
      <p:sp>
        <p:nvSpPr>
          <p:cNvPr id="28" name="Rectangle 27"/>
          <p:cNvSpPr/>
          <p:nvPr/>
        </p:nvSpPr>
        <p:spPr>
          <a:xfrm>
            <a:off x="2267712" y="2999232"/>
            <a:ext cx="1325880" cy="1325880"/>
          </a:xfrm>
          <a:prstGeom prst="rect">
            <a:avLst/>
          </a:prstGeom>
          <a:solidFill>
            <a:srgbClr val="FFF4D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40864" y="3200400"/>
            <a:ext cx="1179576" cy="320040"/>
          </a:xfrm>
          <a:prstGeom prst="rect">
            <a:avLst/>
          </a:prstGeom>
          <a:noFill/>
        </p:spPr>
        <p:txBody>
          <a:bodyPr wrap="square" lIns="54864" rIns="54864" tIns="54864" bIns="54864" anchor="t">
            <a:spAutoFit/>
          </a:bodyPr>
          <a:lstStyle/>
          <a:p>
            <a:pPr algn="ctr">
              <a:lnSpc>
                <a:spcPct val="100000"/>
              </a:lnSpc>
            </a:pPr>
            <a:r>
              <a:rPr sz="2600" b="1" i="0">
                <a:solidFill>
                  <a:srgbClr val="17324D"/>
                </a:solidFill>
                <a:latin typeface="Aptos"/>
              </a:rPr>
              <a:t>HH</a:t>
            </a:r>
          </a:p>
        </p:txBody>
      </p:sp>
      <p:sp>
        <p:nvSpPr>
          <p:cNvPr id="30" name="TextBox 29"/>
          <p:cNvSpPr txBox="1"/>
          <p:nvPr/>
        </p:nvSpPr>
        <p:spPr>
          <a:xfrm>
            <a:off x="2359152" y="3712464"/>
            <a:ext cx="1143000" cy="420624"/>
          </a:xfrm>
          <a:prstGeom prst="rect">
            <a:avLst/>
          </a:prstGeom>
          <a:noFill/>
        </p:spPr>
        <p:txBody>
          <a:bodyPr wrap="square" lIns="54864" rIns="54864" tIns="54864" bIns="54864" anchor="t">
            <a:spAutoFit/>
          </a:bodyPr>
          <a:lstStyle/>
          <a:p>
            <a:pPr algn="ctr">
              <a:lnSpc>
                <a:spcPct val="100000"/>
              </a:lnSpc>
            </a:pPr>
            <a:r>
              <a:rPr sz="1100" b="0" i="0">
                <a:solidFill>
                  <a:srgbClr val="243342"/>
                </a:solidFill>
                <a:latin typeface="Aptos"/>
              </a:rPr>
              <a:t>diagonal</a:t>
            </a:r>
          </a:p>
          <a:p>
            <a:pPr algn="ctr">
              <a:lnSpc>
                <a:spcPct val="100000"/>
              </a:lnSpc>
            </a:pPr>
            <a:r>
              <a:rPr sz="1100" b="0" i="0">
                <a:solidFill>
                  <a:srgbClr val="243342"/>
                </a:solidFill>
                <a:latin typeface="Aptos"/>
              </a:rPr>
              <a:t>edges</a:t>
            </a:r>
          </a:p>
        </p:txBody>
      </p:sp>
      <p:sp>
        <p:nvSpPr>
          <p:cNvPr id="31" name="TextBox 30"/>
          <p:cNvSpPr txBox="1"/>
          <p:nvPr/>
        </p:nvSpPr>
        <p:spPr>
          <a:xfrm>
            <a:off x="749808" y="4754880"/>
            <a:ext cx="3977639" cy="502920"/>
          </a:xfrm>
          <a:prstGeom prst="rect">
            <a:avLst/>
          </a:prstGeom>
          <a:noFill/>
        </p:spPr>
        <p:txBody>
          <a:bodyPr wrap="square" lIns="54864" rIns="54864" tIns="54864" bIns="54864" anchor="t">
            <a:spAutoFit/>
          </a:bodyPr>
          <a:lstStyle/>
          <a:p>
            <a:pPr algn="l">
              <a:lnSpc>
                <a:spcPct val="100000"/>
              </a:lnSpc>
            </a:pPr>
            <a:r>
              <a:rPr sz="1700" b="1" i="0">
                <a:solidFill>
                  <a:srgbClr val="243342"/>
                </a:solidFill>
                <a:latin typeface="Aptos"/>
              </a:rPr>
              <a:t>Keep LL only → half width × half height = 1/4 size</a:t>
            </a:r>
          </a:p>
        </p:txBody>
      </p:sp>
      <p:sp>
        <p:nvSpPr>
          <p:cNvPr id="32" name="TextBox 31"/>
          <p:cNvSpPr txBox="1"/>
          <p:nvPr/>
        </p:nvSpPr>
        <p:spPr>
          <a:xfrm>
            <a:off x="5989320" y="1078992"/>
            <a:ext cx="4754880" cy="320040"/>
          </a:xfrm>
          <a:prstGeom prst="rect">
            <a:avLst/>
          </a:prstGeom>
          <a:noFill/>
        </p:spPr>
        <p:txBody>
          <a:bodyPr wrap="square" lIns="54864" rIns="54864" tIns="54864" bIns="54864" anchor="t">
            <a:spAutoFit/>
          </a:bodyPr>
          <a:lstStyle/>
          <a:p>
            <a:pPr algn="l">
              <a:lnSpc>
                <a:spcPct val="100000"/>
              </a:lnSpc>
            </a:pPr>
            <a:r>
              <a:rPr sz="2000" b="1" i="0">
                <a:solidFill>
                  <a:srgbClr val="17324D"/>
                </a:solidFill>
                <a:latin typeface="Aptos"/>
              </a:rPr>
              <a:t>3D chaotic pseudo-random signal</a:t>
            </a:r>
          </a:p>
        </p:txBody>
      </p:sp>
      <p:sp>
        <p:nvSpPr>
          <p:cNvPr id="33" name="Rounded Rectangle 32"/>
          <p:cNvSpPr/>
          <p:nvPr/>
        </p:nvSpPr>
        <p:spPr>
          <a:xfrm>
            <a:off x="6016752" y="1572768"/>
            <a:ext cx="5166360" cy="210312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6629400" y="2542032"/>
            <a:ext cx="457200" cy="640080"/>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086600" y="2542032"/>
            <a:ext cx="320040" cy="914400"/>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406640" y="2313432"/>
            <a:ext cx="457200" cy="1143000"/>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863840" y="2313432"/>
            <a:ext cx="457200" cy="594359"/>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321040" y="2496312"/>
            <a:ext cx="365760" cy="411479"/>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686800" y="2496312"/>
            <a:ext cx="411480" cy="822960"/>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098280" y="2679191"/>
            <a:ext cx="411479" cy="640081"/>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59" y="2679191"/>
            <a:ext cx="411481" cy="365761"/>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921240" y="2286000"/>
            <a:ext cx="457200" cy="758952"/>
          </a:xfrm>
          <a:prstGeom prst="line">
            <a:avLst/>
          </a:prstGeom>
          <a:ln w="20320">
            <a:solidFill>
              <a:srgbClr val="28A3A1"/>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592824" y="3145536"/>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050024" y="2505456"/>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370063" y="3419856"/>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827263" y="2276856"/>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84463" y="2871215"/>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650224" y="2459736"/>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061704" y="3282696"/>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473184" y="2642615"/>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884663" y="3008376"/>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341863" y="2249424"/>
            <a:ext cx="82296" cy="82296"/>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016752" y="4005072"/>
            <a:ext cx="5166360" cy="1170432"/>
          </a:xfrm>
          <a:prstGeom prst="roundRect">
            <a:avLst/>
          </a:prstGeom>
          <a:solidFill>
            <a:srgbClr val="E8F6F5"/>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016752" y="4005072"/>
            <a:ext cx="73152" cy="1170432"/>
          </a:xfrm>
          <a:prstGeom prst="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4114800"/>
            <a:ext cx="4873752" cy="320040"/>
          </a:xfrm>
          <a:prstGeom prst="rect">
            <a:avLst/>
          </a:prstGeom>
          <a:noFill/>
        </p:spPr>
        <p:txBody>
          <a:bodyPr wrap="square" lIns="54864" rIns="54864" tIns="54864" bIns="54864" anchor="t">
            <a:spAutoFit/>
          </a:bodyPr>
          <a:lstStyle/>
          <a:p>
            <a:pPr algn="l">
              <a:lnSpc>
                <a:spcPct val="100000"/>
              </a:lnSpc>
            </a:pPr>
            <a:r>
              <a:rPr sz="1600" b="1" i="0">
                <a:solidFill>
                  <a:srgbClr val="17324D"/>
                </a:solidFill>
                <a:latin typeface="Aptos"/>
              </a:rPr>
              <a:t>Key idea</a:t>
            </a:r>
          </a:p>
        </p:txBody>
      </p:sp>
      <p:sp>
        <p:nvSpPr>
          <p:cNvPr id="56" name="TextBox 55"/>
          <p:cNvSpPr txBox="1"/>
          <p:nvPr/>
        </p:nvSpPr>
        <p:spPr>
          <a:xfrm>
            <a:off x="6181344" y="4480560"/>
            <a:ext cx="4873752" cy="603504"/>
          </a:xfrm>
          <a:prstGeom prst="rect">
            <a:avLst/>
          </a:prstGeom>
          <a:noFill/>
        </p:spPr>
        <p:txBody>
          <a:bodyPr wrap="square" lIns="54864" rIns="54864" tIns="54864" bIns="54864" anchor="t">
            <a:spAutoFit/>
          </a:bodyPr>
          <a:lstStyle/>
          <a:p>
            <a:pPr algn="l">
              <a:lnSpc>
                <a:spcPct val="100000"/>
              </a:lnSpc>
            </a:pPr>
            <a:r>
              <a:rPr sz="1400" b="0" i="0">
                <a:solidFill>
                  <a:srgbClr val="243342"/>
                </a:solidFill>
                <a:latin typeface="Aptos"/>
              </a:rPr>
              <a:t>Looks random to an attacker, but repeats exactly for the receiver who knows the initial values and parameters.</a:t>
            </a:r>
          </a:p>
        </p:txBody>
      </p:sp>
      <p:sp>
        <p:nvSpPr>
          <p:cNvPr id="57" name="TextBox 56"/>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Fig. 5 (DWT decomposition) · Fig. 1 (chaotic phase diagram)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Novelty: encrypt the cube, not the images</a:t>
            </a:r>
          </a:p>
        </p:txBody>
      </p:sp>
      <p:sp>
        <p:nvSpPr>
          <p:cNvPr id="3" name="Rounded Rectangle 2"/>
          <p:cNvSpPr/>
          <p:nvPr/>
        </p:nvSpPr>
        <p:spPr>
          <a:xfrm>
            <a:off x="8778240" y="283464"/>
            <a:ext cx="2880360" cy="347472"/>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Abdul · 0:30 · Novelty</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4/10</a:t>
            </a:r>
          </a:p>
        </p:txBody>
      </p:sp>
      <p:sp>
        <p:nvSpPr>
          <p:cNvPr id="18" name="TextBox 17"/>
          <p:cNvSpPr txBox="1"/>
          <p:nvPr/>
        </p:nvSpPr>
        <p:spPr>
          <a:xfrm>
            <a:off x="713232" y="1097280"/>
            <a:ext cx="10789920" cy="438912"/>
          </a:xfrm>
          <a:prstGeom prst="rect">
            <a:avLst/>
          </a:prstGeom>
          <a:noFill/>
        </p:spPr>
        <p:txBody>
          <a:bodyPr wrap="square" lIns="54864" rIns="54864" tIns="54864" bIns="54864" anchor="t">
            <a:spAutoFit/>
          </a:bodyPr>
          <a:lstStyle/>
          <a:p>
            <a:pPr algn="l">
              <a:lnSpc>
                <a:spcPct val="100000"/>
              </a:lnSpc>
            </a:pPr>
            <a:r>
              <a:rPr sz="1900" b="0" i="0">
                <a:solidFill>
                  <a:srgbClr val="243342"/>
                </a:solidFill>
                <a:latin typeface="Aptos"/>
              </a:rPr>
              <a:t>The novelty is not DWT alone or chaos alone. It is the multi-image cube strategy.</a:t>
            </a:r>
          </a:p>
        </p:txBody>
      </p:sp>
      <p:sp>
        <p:nvSpPr>
          <p:cNvPr id="19" name="Rounded Rectangle 18"/>
          <p:cNvSpPr/>
          <p:nvPr/>
        </p:nvSpPr>
        <p:spPr>
          <a:xfrm>
            <a:off x="914400" y="1874519"/>
            <a:ext cx="1234440" cy="457200"/>
          </a:xfrm>
          <a:prstGeom prst="roundRect">
            <a:avLst/>
          </a:prstGeom>
          <a:solidFill>
            <a:srgbClr val="EAF0F6"/>
          </a:solidFill>
          <a:ln w="12700">
            <a:solidFill>
              <a:srgbClr val="254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1975104"/>
            <a:ext cx="1005840" cy="182880"/>
          </a:xfrm>
          <a:prstGeom prst="rect">
            <a:avLst/>
          </a:prstGeom>
          <a:noFill/>
        </p:spPr>
        <p:txBody>
          <a:bodyPr wrap="square" lIns="0" rIns="0" tIns="0" bIns="0" anchor="t">
            <a:spAutoFit/>
          </a:bodyPr>
          <a:lstStyle/>
          <a:p>
            <a:pPr algn="ctr">
              <a:lnSpc>
                <a:spcPct val="100000"/>
              </a:lnSpc>
            </a:pPr>
            <a:r>
              <a:rPr sz="1200" b="1" i="0">
                <a:solidFill>
                  <a:srgbClr val="17324D"/>
                </a:solidFill>
                <a:latin typeface="Aptos"/>
              </a:rPr>
              <a:t>Image 1</a:t>
            </a:r>
          </a:p>
        </p:txBody>
      </p:sp>
      <p:sp>
        <p:nvSpPr>
          <p:cNvPr id="21" name="Rounded Rectangle 20"/>
          <p:cNvSpPr/>
          <p:nvPr/>
        </p:nvSpPr>
        <p:spPr>
          <a:xfrm>
            <a:off x="914400" y="2560320"/>
            <a:ext cx="1234440" cy="457200"/>
          </a:xfrm>
          <a:prstGeom prst="roundRect">
            <a:avLst/>
          </a:prstGeom>
          <a:solidFill>
            <a:srgbClr val="EAF0F6"/>
          </a:solidFill>
          <a:ln w="12700">
            <a:solidFill>
              <a:srgbClr val="254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2660904"/>
            <a:ext cx="1005840" cy="182880"/>
          </a:xfrm>
          <a:prstGeom prst="rect">
            <a:avLst/>
          </a:prstGeom>
          <a:noFill/>
        </p:spPr>
        <p:txBody>
          <a:bodyPr wrap="square" lIns="0" rIns="0" tIns="0" bIns="0" anchor="t">
            <a:spAutoFit/>
          </a:bodyPr>
          <a:lstStyle/>
          <a:p>
            <a:pPr algn="ctr">
              <a:lnSpc>
                <a:spcPct val="100000"/>
              </a:lnSpc>
            </a:pPr>
            <a:r>
              <a:rPr sz="1200" b="1" i="0">
                <a:solidFill>
                  <a:srgbClr val="17324D"/>
                </a:solidFill>
                <a:latin typeface="Aptos"/>
              </a:rPr>
              <a:t>Image 2</a:t>
            </a:r>
          </a:p>
        </p:txBody>
      </p:sp>
      <p:sp>
        <p:nvSpPr>
          <p:cNvPr id="23" name="Rounded Rectangle 22"/>
          <p:cNvSpPr/>
          <p:nvPr/>
        </p:nvSpPr>
        <p:spPr>
          <a:xfrm>
            <a:off x="914400" y="3246120"/>
            <a:ext cx="1234440" cy="457200"/>
          </a:xfrm>
          <a:prstGeom prst="roundRect">
            <a:avLst/>
          </a:prstGeom>
          <a:solidFill>
            <a:srgbClr val="EAF0F6"/>
          </a:solidFill>
          <a:ln w="12700">
            <a:solidFill>
              <a:srgbClr val="254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3346704"/>
            <a:ext cx="1005840" cy="182880"/>
          </a:xfrm>
          <a:prstGeom prst="rect">
            <a:avLst/>
          </a:prstGeom>
          <a:noFill/>
        </p:spPr>
        <p:txBody>
          <a:bodyPr wrap="square" lIns="0" rIns="0" tIns="0" bIns="0" anchor="t">
            <a:spAutoFit/>
          </a:bodyPr>
          <a:lstStyle/>
          <a:p>
            <a:pPr algn="ctr">
              <a:lnSpc>
                <a:spcPct val="100000"/>
              </a:lnSpc>
            </a:pPr>
            <a:r>
              <a:rPr sz="1200" b="1" i="0">
                <a:solidFill>
                  <a:srgbClr val="17324D"/>
                </a:solidFill>
                <a:latin typeface="Aptos"/>
              </a:rPr>
              <a:t>Image 3</a:t>
            </a:r>
          </a:p>
        </p:txBody>
      </p:sp>
      <p:cxnSp>
        <p:nvCxnSpPr>
          <p:cNvPr id="25" name="Connector 24"/>
          <p:cNvCxnSpPr/>
          <p:nvPr/>
        </p:nvCxnSpPr>
        <p:spPr>
          <a:xfrm>
            <a:off x="2331720" y="2606040"/>
            <a:ext cx="1371600" cy="0"/>
          </a:xfrm>
          <a:prstGeom prst="line">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42032" y="2240280"/>
            <a:ext cx="1005840" cy="320040"/>
          </a:xfrm>
          <a:prstGeom prst="rect">
            <a:avLst/>
          </a:prstGeom>
          <a:noFill/>
        </p:spPr>
        <p:txBody>
          <a:bodyPr wrap="square" lIns="54864" rIns="54864" tIns="54864" bIns="54864" anchor="t">
            <a:spAutoFit/>
          </a:bodyPr>
          <a:lstStyle/>
          <a:p>
            <a:pPr algn="ctr">
              <a:lnSpc>
                <a:spcPct val="100000"/>
              </a:lnSpc>
            </a:pPr>
            <a:r>
              <a:rPr sz="1200" b="0" i="0">
                <a:solidFill>
                  <a:srgbClr val="6B7785"/>
                </a:solidFill>
                <a:latin typeface="Aptos"/>
              </a:rPr>
              <a:t>DWT</a:t>
            </a:r>
          </a:p>
          <a:p>
            <a:pPr algn="ctr">
              <a:lnSpc>
                <a:spcPct val="100000"/>
              </a:lnSpc>
            </a:pPr>
            <a:r>
              <a:rPr sz="1200" b="0" i="0">
                <a:solidFill>
                  <a:srgbClr val="6B7785"/>
                </a:solidFill>
                <a:latin typeface="Aptos"/>
              </a:rPr>
              <a:t>LL only</a:t>
            </a:r>
          </a:p>
        </p:txBody>
      </p:sp>
      <p:sp>
        <p:nvSpPr>
          <p:cNvPr id="27" name="Rectangle 26"/>
          <p:cNvSpPr/>
          <p:nvPr/>
        </p:nvSpPr>
        <p:spPr>
          <a:xfrm>
            <a:off x="4187952" y="1801368"/>
            <a:ext cx="1600200" cy="1143000"/>
          </a:xfrm>
          <a:prstGeom prst="rect">
            <a:avLst/>
          </a:prstGeom>
          <a:solidFill>
            <a:srgbClr val="D9EEEE"/>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59935" y="1883664"/>
            <a:ext cx="1600200" cy="1143000"/>
          </a:xfrm>
          <a:prstGeom prst="rect">
            <a:avLst/>
          </a:prstGeom>
          <a:solidFill>
            <a:srgbClr val="E2F3F2"/>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31920" y="1965960"/>
            <a:ext cx="1600200" cy="1143000"/>
          </a:xfrm>
          <a:prstGeom prst="rect">
            <a:avLst/>
          </a:prstGeom>
          <a:solidFill>
            <a:srgbClr val="E8F6F5"/>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05072" y="2372868"/>
            <a:ext cx="1453896" cy="292608"/>
          </a:xfrm>
          <a:prstGeom prst="rect">
            <a:avLst/>
          </a:prstGeom>
          <a:noFill/>
        </p:spPr>
        <p:txBody>
          <a:bodyPr wrap="square" lIns="54864" rIns="54864" tIns="54864" bIns="54864" anchor="t">
            <a:spAutoFit/>
          </a:bodyPr>
          <a:lstStyle/>
          <a:p>
            <a:pPr algn="ctr">
              <a:lnSpc>
                <a:spcPct val="100000"/>
              </a:lnSpc>
            </a:pPr>
            <a:r>
              <a:rPr sz="1400" b="1" i="0">
                <a:solidFill>
                  <a:srgbClr val="17324D"/>
                </a:solidFill>
                <a:latin typeface="Aptos"/>
              </a:rPr>
              <a:t>cube C</a:t>
            </a:r>
          </a:p>
        </p:txBody>
      </p:sp>
      <p:cxnSp>
        <p:nvCxnSpPr>
          <p:cNvPr id="31" name="Connector 30"/>
          <p:cNvCxnSpPr/>
          <p:nvPr/>
        </p:nvCxnSpPr>
        <p:spPr>
          <a:xfrm>
            <a:off x="5806440" y="2606040"/>
            <a:ext cx="1371600" cy="0"/>
          </a:xfrm>
          <a:prstGeom prst="line">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016752" y="2240280"/>
            <a:ext cx="914400" cy="320040"/>
          </a:xfrm>
          <a:prstGeom prst="rect">
            <a:avLst/>
          </a:prstGeom>
          <a:noFill/>
        </p:spPr>
        <p:txBody>
          <a:bodyPr wrap="square" lIns="54864" rIns="54864" tIns="54864" bIns="54864" anchor="t">
            <a:spAutoFit/>
          </a:bodyPr>
          <a:lstStyle/>
          <a:p>
            <a:pPr algn="ctr">
              <a:lnSpc>
                <a:spcPct val="100000"/>
              </a:lnSpc>
            </a:pPr>
            <a:r>
              <a:rPr sz="1200" b="0" i="0">
                <a:solidFill>
                  <a:srgbClr val="6B7785"/>
                </a:solidFill>
                <a:latin typeface="Aptos"/>
              </a:rPr>
              <a:t>one</a:t>
            </a:r>
          </a:p>
          <a:p>
            <a:pPr algn="ctr">
              <a:lnSpc>
                <a:spcPct val="100000"/>
              </a:lnSpc>
            </a:pPr>
            <a:r>
              <a:rPr sz="1200" b="0" i="0">
                <a:solidFill>
                  <a:srgbClr val="6B7785"/>
                </a:solidFill>
                <a:latin typeface="Aptos"/>
              </a:rPr>
              <a:t>pass</a:t>
            </a:r>
          </a:p>
        </p:txBody>
      </p:sp>
      <p:sp>
        <p:nvSpPr>
          <p:cNvPr id="33" name="Rectangle 32"/>
          <p:cNvSpPr/>
          <p:nvPr/>
        </p:nvSpPr>
        <p:spPr>
          <a:xfrm>
            <a:off x="7662671" y="1801368"/>
            <a:ext cx="1600200" cy="1143000"/>
          </a:xfrm>
          <a:prstGeom prst="rect">
            <a:avLst/>
          </a:prstGeom>
          <a:solidFill>
            <a:srgbClr val="D9EEEE"/>
          </a:solidFill>
          <a:ln w="12700">
            <a:solidFill>
              <a:srgbClr val="D69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534656" y="1883664"/>
            <a:ext cx="1600200" cy="1143000"/>
          </a:xfrm>
          <a:prstGeom prst="rect">
            <a:avLst/>
          </a:prstGeom>
          <a:solidFill>
            <a:srgbClr val="E2F3F2"/>
          </a:solidFill>
          <a:ln w="12700">
            <a:solidFill>
              <a:srgbClr val="D69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06640" y="1965960"/>
            <a:ext cx="1600200" cy="1143000"/>
          </a:xfrm>
          <a:prstGeom prst="rect">
            <a:avLst/>
          </a:prstGeom>
          <a:solidFill>
            <a:srgbClr val="FFF4DA"/>
          </a:solidFill>
          <a:ln w="12700">
            <a:solidFill>
              <a:srgbClr val="D69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79792" y="2372868"/>
            <a:ext cx="1453896" cy="292608"/>
          </a:xfrm>
          <a:prstGeom prst="rect">
            <a:avLst/>
          </a:prstGeom>
          <a:noFill/>
        </p:spPr>
        <p:txBody>
          <a:bodyPr wrap="square" lIns="54864" rIns="54864" tIns="54864" bIns="54864" anchor="t">
            <a:spAutoFit/>
          </a:bodyPr>
          <a:lstStyle/>
          <a:p>
            <a:pPr algn="ctr">
              <a:lnSpc>
                <a:spcPct val="100000"/>
              </a:lnSpc>
            </a:pPr>
            <a:r>
              <a:rPr sz="1400" b="1" i="0">
                <a:solidFill>
                  <a:srgbClr val="17324D"/>
                </a:solidFill>
                <a:latin typeface="Aptos"/>
              </a:rPr>
              <a:t>cipher D</a:t>
            </a:r>
          </a:p>
        </p:txBody>
      </p:sp>
      <p:sp>
        <p:nvSpPr>
          <p:cNvPr id="37" name="Rounded Rectangle 36"/>
          <p:cNvSpPr/>
          <p:nvPr/>
        </p:nvSpPr>
        <p:spPr>
          <a:xfrm>
            <a:off x="914400" y="4114800"/>
            <a:ext cx="3246120" cy="960120"/>
          </a:xfrm>
          <a:prstGeom prst="roundRect">
            <a:avLst/>
          </a:prstGeom>
          <a:solidFill>
            <a:srgbClr val="E8F6F5"/>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4114800"/>
            <a:ext cx="73152" cy="960120"/>
          </a:xfrm>
          <a:prstGeom prst="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78992" y="4224528"/>
            <a:ext cx="2953512" cy="320040"/>
          </a:xfrm>
          <a:prstGeom prst="rect">
            <a:avLst/>
          </a:prstGeom>
          <a:noFill/>
        </p:spPr>
        <p:txBody>
          <a:bodyPr wrap="square" lIns="54864" rIns="54864" tIns="54864" bIns="54864" anchor="t">
            <a:spAutoFit/>
          </a:bodyPr>
          <a:lstStyle/>
          <a:p>
            <a:pPr algn="l">
              <a:lnSpc>
                <a:spcPct val="100000"/>
              </a:lnSpc>
            </a:pPr>
            <a:r>
              <a:rPr sz="1700" b="1" i="0">
                <a:solidFill>
                  <a:srgbClr val="17324D"/>
                </a:solidFill>
                <a:latin typeface="Aptos"/>
              </a:rPr>
              <a:t>1/4 size</a:t>
            </a:r>
          </a:p>
        </p:txBody>
      </p:sp>
      <p:sp>
        <p:nvSpPr>
          <p:cNvPr id="40" name="TextBox 39"/>
          <p:cNvSpPr txBox="1"/>
          <p:nvPr/>
        </p:nvSpPr>
        <p:spPr>
          <a:xfrm>
            <a:off x="1078992" y="4590288"/>
            <a:ext cx="2953512" cy="393192"/>
          </a:xfrm>
          <a:prstGeom prst="rect">
            <a:avLst/>
          </a:prstGeom>
          <a:noFill/>
        </p:spPr>
        <p:txBody>
          <a:bodyPr wrap="square" lIns="54864" rIns="54864" tIns="54864" bIns="54864" anchor="t">
            <a:spAutoFit/>
          </a:bodyPr>
          <a:lstStyle/>
          <a:p>
            <a:pPr algn="l">
              <a:lnSpc>
                <a:spcPct val="100000"/>
              </a:lnSpc>
            </a:pPr>
            <a:r>
              <a:rPr sz="1400" b="0" i="0">
                <a:solidFill>
                  <a:srgbClr val="243342"/>
                </a:solidFill>
                <a:latin typeface="Aptos"/>
              </a:rPr>
              <a:t>DWT keeps only LL, so each channel becomes half height by half width.</a:t>
            </a:r>
          </a:p>
        </p:txBody>
      </p:sp>
      <p:sp>
        <p:nvSpPr>
          <p:cNvPr id="41" name="Rounded Rectangle 40"/>
          <p:cNvSpPr/>
          <p:nvPr/>
        </p:nvSpPr>
        <p:spPr>
          <a:xfrm>
            <a:off x="4480560" y="4114800"/>
            <a:ext cx="3246120" cy="96012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480560" y="4114800"/>
            <a:ext cx="73152" cy="960120"/>
          </a:xfrm>
          <a:prstGeom prst="rect">
            <a:avLst/>
          </a:prstGeom>
          <a:solidFill>
            <a:srgbClr val="D69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45152" y="4224528"/>
            <a:ext cx="2953512" cy="320040"/>
          </a:xfrm>
          <a:prstGeom prst="rect">
            <a:avLst/>
          </a:prstGeom>
          <a:noFill/>
        </p:spPr>
        <p:txBody>
          <a:bodyPr wrap="square" lIns="54864" rIns="54864" tIns="54864" bIns="54864" anchor="t">
            <a:spAutoFit/>
          </a:bodyPr>
          <a:lstStyle/>
          <a:p>
            <a:pPr algn="l">
              <a:lnSpc>
                <a:spcPct val="100000"/>
              </a:lnSpc>
            </a:pPr>
            <a:r>
              <a:rPr sz="1700" b="1" i="0">
                <a:solidFill>
                  <a:srgbClr val="17324D"/>
                </a:solidFill>
                <a:latin typeface="Aptos"/>
              </a:rPr>
              <a:t>Different sizes</a:t>
            </a:r>
          </a:p>
        </p:txBody>
      </p:sp>
      <p:sp>
        <p:nvSpPr>
          <p:cNvPr id="44" name="TextBox 43"/>
          <p:cNvSpPr txBox="1"/>
          <p:nvPr/>
        </p:nvSpPr>
        <p:spPr>
          <a:xfrm>
            <a:off x="4645152" y="4590288"/>
            <a:ext cx="2953512" cy="393192"/>
          </a:xfrm>
          <a:prstGeom prst="rect">
            <a:avLst/>
          </a:prstGeom>
          <a:noFill/>
        </p:spPr>
        <p:txBody>
          <a:bodyPr wrap="square" lIns="54864" rIns="54864" tIns="54864" bIns="54864" anchor="t">
            <a:spAutoFit/>
          </a:bodyPr>
          <a:lstStyle/>
          <a:p>
            <a:pPr algn="l">
              <a:lnSpc>
                <a:spcPct val="100000"/>
              </a:lnSpc>
            </a:pPr>
            <a:r>
              <a:rPr sz="1400" b="0" i="0">
                <a:solidFill>
                  <a:srgbClr val="243342"/>
                </a:solidFill>
                <a:latin typeface="Aptos"/>
              </a:rPr>
              <a:t>The cube uses the largest dimensions and pads smaller images with zeros.</a:t>
            </a:r>
          </a:p>
        </p:txBody>
      </p:sp>
      <p:sp>
        <p:nvSpPr>
          <p:cNvPr id="45" name="Rounded Rectangle 44"/>
          <p:cNvSpPr/>
          <p:nvPr/>
        </p:nvSpPr>
        <p:spPr>
          <a:xfrm>
            <a:off x="8046720" y="4114800"/>
            <a:ext cx="2834640" cy="960120"/>
          </a:xfrm>
          <a:prstGeom prst="roundRect">
            <a:avLst/>
          </a:prstGeom>
          <a:solidFill>
            <a:srgbClr val="EAF0F6"/>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46720" y="4114800"/>
            <a:ext cx="73152" cy="96012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11312" y="4224528"/>
            <a:ext cx="2542032" cy="320040"/>
          </a:xfrm>
          <a:prstGeom prst="rect">
            <a:avLst/>
          </a:prstGeom>
          <a:noFill/>
        </p:spPr>
        <p:txBody>
          <a:bodyPr wrap="square" lIns="54864" rIns="54864" tIns="54864" bIns="54864" anchor="t">
            <a:spAutoFit/>
          </a:bodyPr>
          <a:lstStyle/>
          <a:p>
            <a:pPr algn="l">
              <a:lnSpc>
                <a:spcPct val="100000"/>
              </a:lnSpc>
            </a:pPr>
            <a:r>
              <a:rPr sz="1700" b="1" i="0">
                <a:solidFill>
                  <a:srgbClr val="17324D"/>
                </a:solidFill>
                <a:latin typeface="Aptos"/>
              </a:rPr>
              <a:t>Single object</a:t>
            </a:r>
          </a:p>
        </p:txBody>
      </p:sp>
      <p:sp>
        <p:nvSpPr>
          <p:cNvPr id="48" name="TextBox 47"/>
          <p:cNvSpPr txBox="1"/>
          <p:nvPr/>
        </p:nvSpPr>
        <p:spPr>
          <a:xfrm>
            <a:off x="8211312" y="4590288"/>
            <a:ext cx="2542032" cy="393192"/>
          </a:xfrm>
          <a:prstGeom prst="rect">
            <a:avLst/>
          </a:prstGeom>
          <a:noFill/>
        </p:spPr>
        <p:txBody>
          <a:bodyPr wrap="square" lIns="54864" rIns="54864" tIns="54864" bIns="54864" anchor="t">
            <a:spAutoFit/>
          </a:bodyPr>
          <a:lstStyle/>
          <a:p>
            <a:pPr algn="l">
              <a:lnSpc>
                <a:spcPct val="100000"/>
              </a:lnSpc>
            </a:pPr>
            <a:r>
              <a:rPr sz="1400" b="0" i="0">
                <a:solidFill>
                  <a:srgbClr val="243342"/>
                </a:solidFill>
                <a:latin typeface="Aptos"/>
              </a:rPr>
              <a:t>Encrypt the whole stack instead of one image at a time.</a:t>
            </a:r>
          </a:p>
        </p:txBody>
      </p:sp>
      <p:sp>
        <p:nvSpPr>
          <p:cNvPr id="49" name="TextBox 48"/>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Innovations list, Section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Methodology: DWT → stack → confusion → diffusion</a:t>
            </a:r>
          </a:p>
        </p:txBody>
      </p:sp>
      <p:sp>
        <p:nvSpPr>
          <p:cNvPr id="3" name="Rounded Rectangle 2"/>
          <p:cNvSpPr/>
          <p:nvPr/>
        </p:nvSpPr>
        <p:spPr>
          <a:xfrm>
            <a:off x="8778240" y="283464"/>
            <a:ext cx="2880360" cy="347472"/>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Abdul → Maria · 1:30 · Method</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5/10</a:t>
            </a:r>
          </a:p>
        </p:txBody>
      </p:sp>
      <p:sp>
        <p:nvSpPr>
          <p:cNvPr id="18" name="Rounded Rectangle 17"/>
          <p:cNvSpPr/>
          <p:nvPr/>
        </p:nvSpPr>
        <p:spPr>
          <a:xfrm>
            <a:off x="658368" y="1508760"/>
            <a:ext cx="2423160" cy="274320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59" y="1700784"/>
            <a:ext cx="475488" cy="475488"/>
          </a:xfrm>
          <a:prstGeom prst="round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1810512"/>
            <a:ext cx="201168" cy="164592"/>
          </a:xfrm>
          <a:prstGeom prst="rect">
            <a:avLst/>
          </a:prstGeom>
          <a:noFill/>
        </p:spPr>
        <p:txBody>
          <a:bodyPr wrap="square" lIns="0" rIns="0" tIns="0" bIns="0" anchor="t">
            <a:spAutoFit/>
          </a:bodyPr>
          <a:lstStyle/>
          <a:p>
            <a:pPr algn="ctr">
              <a:lnSpc>
                <a:spcPct val="100000"/>
              </a:lnSpc>
            </a:pPr>
            <a:r>
              <a:rPr sz="1400" b="1" i="0">
                <a:solidFill>
                  <a:srgbClr val="FFFFFF"/>
                </a:solidFill>
                <a:latin typeface="Aptos"/>
              </a:rPr>
              <a:t>1</a:t>
            </a:r>
          </a:p>
        </p:txBody>
      </p:sp>
      <p:sp>
        <p:nvSpPr>
          <p:cNvPr id="21" name="TextBox 20"/>
          <p:cNvSpPr txBox="1"/>
          <p:nvPr/>
        </p:nvSpPr>
        <p:spPr>
          <a:xfrm>
            <a:off x="822959" y="2331720"/>
            <a:ext cx="2048256" cy="347472"/>
          </a:xfrm>
          <a:prstGeom prst="rect">
            <a:avLst/>
          </a:prstGeom>
          <a:noFill/>
        </p:spPr>
        <p:txBody>
          <a:bodyPr wrap="square" lIns="54864" rIns="54864" tIns="54864" bIns="54864" anchor="t">
            <a:spAutoFit/>
          </a:bodyPr>
          <a:lstStyle/>
          <a:p>
            <a:pPr algn="ctr">
              <a:lnSpc>
                <a:spcPct val="100000"/>
              </a:lnSpc>
            </a:pPr>
            <a:r>
              <a:rPr sz="1600" b="1" i="0">
                <a:solidFill>
                  <a:srgbClr val="17324D"/>
                </a:solidFill>
                <a:latin typeface="Aptos"/>
              </a:rPr>
              <a:t>DWT compression</a:t>
            </a:r>
          </a:p>
        </p:txBody>
      </p:sp>
      <p:sp>
        <p:nvSpPr>
          <p:cNvPr id="22" name="TextBox 21"/>
          <p:cNvSpPr txBox="1"/>
          <p:nvPr/>
        </p:nvSpPr>
        <p:spPr>
          <a:xfrm>
            <a:off x="886968" y="2816352"/>
            <a:ext cx="1920240" cy="749808"/>
          </a:xfrm>
          <a:prstGeom prst="rect">
            <a:avLst/>
          </a:prstGeom>
          <a:noFill/>
        </p:spPr>
        <p:txBody>
          <a:bodyPr wrap="square" lIns="54864" rIns="54864" tIns="54864" bIns="54864" anchor="t">
            <a:spAutoFit/>
          </a:bodyPr>
          <a:lstStyle/>
          <a:p>
            <a:pPr algn="ctr">
              <a:lnSpc>
                <a:spcPct val="100000"/>
              </a:lnSpc>
            </a:pPr>
            <a:r>
              <a:rPr sz="1300" b="0" i="0">
                <a:solidFill>
                  <a:srgbClr val="243342"/>
                </a:solidFill>
                <a:latin typeface="Aptos"/>
              </a:rPr>
              <a:t>Each R,G,B channel → keep LL only</a:t>
            </a:r>
          </a:p>
          <a:p>
            <a:pPr algn="ctr">
              <a:lnSpc>
                <a:spcPct val="100000"/>
              </a:lnSpc>
            </a:pPr>
            <a:r>
              <a:rPr sz="1300" b="0" i="0">
                <a:solidFill>
                  <a:srgbClr val="243342"/>
                </a:solidFill>
                <a:latin typeface="Aptos"/>
              </a:rPr>
              <a:t>image shrinks to 1/4 size</a:t>
            </a:r>
          </a:p>
        </p:txBody>
      </p:sp>
      <p:cxnSp>
        <p:nvCxnSpPr>
          <p:cNvPr id="23" name="Connector 22"/>
          <p:cNvCxnSpPr/>
          <p:nvPr/>
        </p:nvCxnSpPr>
        <p:spPr>
          <a:xfrm>
            <a:off x="3145536" y="2834640"/>
            <a:ext cx="256032" cy="0"/>
          </a:xfrm>
          <a:prstGeom prst="line">
            <a:avLst/>
          </a:prstGeom>
          <a:ln w="27940">
            <a:solidFill>
              <a:srgbClr val="6B7785"/>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520439" y="1508760"/>
            <a:ext cx="2423160" cy="274320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685031" y="1700784"/>
            <a:ext cx="475488" cy="47548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13048" y="1810512"/>
            <a:ext cx="201168" cy="164592"/>
          </a:xfrm>
          <a:prstGeom prst="rect">
            <a:avLst/>
          </a:prstGeom>
          <a:noFill/>
        </p:spPr>
        <p:txBody>
          <a:bodyPr wrap="square" lIns="0" rIns="0" tIns="0" bIns="0" anchor="t">
            <a:spAutoFit/>
          </a:bodyPr>
          <a:lstStyle/>
          <a:p>
            <a:pPr algn="ctr">
              <a:lnSpc>
                <a:spcPct val="100000"/>
              </a:lnSpc>
            </a:pPr>
            <a:r>
              <a:rPr sz="1400" b="1" i="0">
                <a:solidFill>
                  <a:srgbClr val="FFFFFF"/>
                </a:solidFill>
                <a:latin typeface="Aptos"/>
              </a:rPr>
              <a:t>2</a:t>
            </a:r>
          </a:p>
        </p:txBody>
      </p:sp>
      <p:sp>
        <p:nvSpPr>
          <p:cNvPr id="27" name="TextBox 26"/>
          <p:cNvSpPr txBox="1"/>
          <p:nvPr/>
        </p:nvSpPr>
        <p:spPr>
          <a:xfrm>
            <a:off x="3685031" y="2331720"/>
            <a:ext cx="2048256" cy="347472"/>
          </a:xfrm>
          <a:prstGeom prst="rect">
            <a:avLst/>
          </a:prstGeom>
          <a:noFill/>
        </p:spPr>
        <p:txBody>
          <a:bodyPr wrap="square" lIns="54864" rIns="54864" tIns="54864" bIns="54864" anchor="t">
            <a:spAutoFit/>
          </a:bodyPr>
          <a:lstStyle/>
          <a:p>
            <a:pPr algn="ctr">
              <a:lnSpc>
                <a:spcPct val="100000"/>
              </a:lnSpc>
            </a:pPr>
            <a:r>
              <a:rPr sz="1600" b="1" i="0">
                <a:solidFill>
                  <a:srgbClr val="17324D"/>
                </a:solidFill>
                <a:latin typeface="Aptos"/>
              </a:rPr>
              <a:t>Stack into cube C</a:t>
            </a:r>
          </a:p>
        </p:txBody>
      </p:sp>
      <p:sp>
        <p:nvSpPr>
          <p:cNvPr id="28" name="TextBox 27"/>
          <p:cNvSpPr txBox="1"/>
          <p:nvPr/>
        </p:nvSpPr>
        <p:spPr>
          <a:xfrm>
            <a:off x="3749039" y="2816352"/>
            <a:ext cx="1920240" cy="749808"/>
          </a:xfrm>
          <a:prstGeom prst="rect">
            <a:avLst/>
          </a:prstGeom>
          <a:noFill/>
        </p:spPr>
        <p:txBody>
          <a:bodyPr wrap="square" lIns="54864" rIns="54864" tIns="54864" bIns="54864" anchor="t">
            <a:spAutoFit/>
          </a:bodyPr>
          <a:lstStyle/>
          <a:p>
            <a:pPr algn="ctr">
              <a:lnSpc>
                <a:spcPct val="100000"/>
              </a:lnSpc>
            </a:pPr>
            <a:r>
              <a:rPr sz="1300" b="0" i="0">
                <a:solidFill>
                  <a:srgbClr val="243342"/>
                </a:solidFill>
                <a:latin typeface="Aptos"/>
              </a:rPr>
              <a:t>All compressed LL sub-bands</a:t>
            </a:r>
          </a:p>
          <a:p>
            <a:pPr algn="ctr">
              <a:lnSpc>
                <a:spcPct val="100000"/>
              </a:lnSpc>
            </a:pPr>
            <a:r>
              <a:rPr sz="1300" b="0" i="0">
                <a:solidFill>
                  <a:srgbClr val="243342"/>
                </a:solidFill>
                <a:latin typeface="Aptos"/>
              </a:rPr>
              <a:t>size from largest image</a:t>
            </a:r>
          </a:p>
        </p:txBody>
      </p:sp>
      <p:cxnSp>
        <p:nvCxnSpPr>
          <p:cNvPr id="29" name="Connector 28"/>
          <p:cNvCxnSpPr/>
          <p:nvPr/>
        </p:nvCxnSpPr>
        <p:spPr>
          <a:xfrm>
            <a:off x="6007608" y="2834640"/>
            <a:ext cx="256032" cy="0"/>
          </a:xfrm>
          <a:prstGeom prst="line">
            <a:avLst/>
          </a:prstGeom>
          <a:ln w="27940">
            <a:solidFill>
              <a:srgbClr val="6B7785"/>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382512" y="1508760"/>
            <a:ext cx="2423160" cy="274320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547103" y="1700784"/>
            <a:ext cx="475488" cy="475488"/>
          </a:xfrm>
          <a:prstGeom prst="roundRect">
            <a:avLst/>
          </a:prstGeom>
          <a:solidFill>
            <a:srgbClr val="D69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1810512"/>
            <a:ext cx="201168" cy="164592"/>
          </a:xfrm>
          <a:prstGeom prst="rect">
            <a:avLst/>
          </a:prstGeom>
          <a:noFill/>
        </p:spPr>
        <p:txBody>
          <a:bodyPr wrap="square" lIns="0" rIns="0" tIns="0" bIns="0" anchor="t">
            <a:spAutoFit/>
          </a:bodyPr>
          <a:lstStyle/>
          <a:p>
            <a:pPr algn="ctr">
              <a:lnSpc>
                <a:spcPct val="100000"/>
              </a:lnSpc>
            </a:pPr>
            <a:r>
              <a:rPr sz="1400" b="1" i="0">
                <a:solidFill>
                  <a:srgbClr val="FFFFFF"/>
                </a:solidFill>
                <a:latin typeface="Aptos"/>
              </a:rPr>
              <a:t>3</a:t>
            </a:r>
          </a:p>
        </p:txBody>
      </p:sp>
      <p:sp>
        <p:nvSpPr>
          <p:cNvPr id="33" name="TextBox 32"/>
          <p:cNvSpPr txBox="1"/>
          <p:nvPr/>
        </p:nvSpPr>
        <p:spPr>
          <a:xfrm>
            <a:off x="6547103" y="2331720"/>
            <a:ext cx="2048256" cy="347472"/>
          </a:xfrm>
          <a:prstGeom prst="rect">
            <a:avLst/>
          </a:prstGeom>
          <a:noFill/>
        </p:spPr>
        <p:txBody>
          <a:bodyPr wrap="square" lIns="54864" rIns="54864" tIns="54864" bIns="54864" anchor="t">
            <a:spAutoFit/>
          </a:bodyPr>
          <a:lstStyle/>
          <a:p>
            <a:pPr algn="ctr">
              <a:lnSpc>
                <a:spcPct val="100000"/>
              </a:lnSpc>
            </a:pPr>
            <a:r>
              <a:rPr sz="1600" b="1" i="0">
                <a:solidFill>
                  <a:srgbClr val="17324D"/>
                </a:solidFill>
                <a:latin typeface="Aptos"/>
              </a:rPr>
              <a:t>Confusion</a:t>
            </a:r>
          </a:p>
        </p:txBody>
      </p:sp>
      <p:sp>
        <p:nvSpPr>
          <p:cNvPr id="34" name="TextBox 33"/>
          <p:cNvSpPr txBox="1"/>
          <p:nvPr/>
        </p:nvSpPr>
        <p:spPr>
          <a:xfrm>
            <a:off x="6611112" y="2816352"/>
            <a:ext cx="1920240" cy="749808"/>
          </a:xfrm>
          <a:prstGeom prst="rect">
            <a:avLst/>
          </a:prstGeom>
          <a:noFill/>
        </p:spPr>
        <p:txBody>
          <a:bodyPr wrap="square" lIns="54864" rIns="54864" tIns="54864" bIns="54864" anchor="t">
            <a:spAutoFit/>
          </a:bodyPr>
          <a:lstStyle/>
          <a:p>
            <a:pPr algn="ctr">
              <a:lnSpc>
                <a:spcPct val="100000"/>
              </a:lnSpc>
            </a:pPr>
            <a:r>
              <a:rPr sz="1300" b="0" i="0">
                <a:solidFill>
                  <a:srgbClr val="243342"/>
                </a:solidFill>
                <a:latin typeface="Aptos"/>
              </a:rPr>
              <a:t>Chaotic offsets swap</a:t>
            </a:r>
          </a:p>
          <a:p>
            <a:pPr algn="ctr">
              <a:lnSpc>
                <a:spcPct val="100000"/>
              </a:lnSpc>
            </a:pPr>
            <a:r>
              <a:rPr sz="1300" b="0" i="0">
                <a:solidFill>
                  <a:srgbClr val="243342"/>
                </a:solidFill>
                <a:latin typeface="Aptos"/>
              </a:rPr>
              <a:t>pixel positions</a:t>
            </a:r>
          </a:p>
        </p:txBody>
      </p:sp>
      <p:cxnSp>
        <p:nvCxnSpPr>
          <p:cNvPr id="35" name="Connector 34"/>
          <p:cNvCxnSpPr/>
          <p:nvPr/>
        </p:nvCxnSpPr>
        <p:spPr>
          <a:xfrm>
            <a:off x="8869680" y="2834640"/>
            <a:ext cx="256032" cy="0"/>
          </a:xfrm>
          <a:prstGeom prst="line">
            <a:avLst/>
          </a:prstGeom>
          <a:ln w="27940">
            <a:solidFill>
              <a:srgbClr val="6B778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244584" y="1508760"/>
            <a:ext cx="2423160" cy="274320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409176" y="1700784"/>
            <a:ext cx="475488" cy="475488"/>
          </a:xfrm>
          <a:prstGeom prst="roundRect">
            <a:avLst/>
          </a:prstGeom>
          <a:solidFill>
            <a:srgbClr val="B8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37192" y="1810512"/>
            <a:ext cx="201168" cy="164592"/>
          </a:xfrm>
          <a:prstGeom prst="rect">
            <a:avLst/>
          </a:prstGeom>
          <a:noFill/>
        </p:spPr>
        <p:txBody>
          <a:bodyPr wrap="square" lIns="0" rIns="0" tIns="0" bIns="0" anchor="t">
            <a:spAutoFit/>
          </a:bodyPr>
          <a:lstStyle/>
          <a:p>
            <a:pPr algn="ctr">
              <a:lnSpc>
                <a:spcPct val="100000"/>
              </a:lnSpc>
            </a:pPr>
            <a:r>
              <a:rPr sz="1400" b="1" i="0">
                <a:solidFill>
                  <a:srgbClr val="FFFFFF"/>
                </a:solidFill>
                <a:latin typeface="Aptos"/>
              </a:rPr>
              <a:t>4</a:t>
            </a:r>
          </a:p>
        </p:txBody>
      </p:sp>
      <p:sp>
        <p:nvSpPr>
          <p:cNvPr id="39" name="TextBox 38"/>
          <p:cNvSpPr txBox="1"/>
          <p:nvPr/>
        </p:nvSpPr>
        <p:spPr>
          <a:xfrm>
            <a:off x="9409176" y="2331720"/>
            <a:ext cx="2048256" cy="347472"/>
          </a:xfrm>
          <a:prstGeom prst="rect">
            <a:avLst/>
          </a:prstGeom>
          <a:noFill/>
        </p:spPr>
        <p:txBody>
          <a:bodyPr wrap="square" lIns="54864" rIns="54864" tIns="54864" bIns="54864" anchor="t">
            <a:spAutoFit/>
          </a:bodyPr>
          <a:lstStyle/>
          <a:p>
            <a:pPr algn="ctr">
              <a:lnSpc>
                <a:spcPct val="100000"/>
              </a:lnSpc>
            </a:pPr>
            <a:r>
              <a:rPr sz="1600" b="1" i="0">
                <a:solidFill>
                  <a:srgbClr val="17324D"/>
                </a:solidFill>
                <a:latin typeface="Aptos"/>
              </a:rPr>
              <a:t>Diffusion</a:t>
            </a:r>
          </a:p>
        </p:txBody>
      </p:sp>
      <p:sp>
        <p:nvSpPr>
          <p:cNvPr id="40" name="TextBox 39"/>
          <p:cNvSpPr txBox="1"/>
          <p:nvPr/>
        </p:nvSpPr>
        <p:spPr>
          <a:xfrm>
            <a:off x="9473184" y="2816352"/>
            <a:ext cx="1920240" cy="749808"/>
          </a:xfrm>
          <a:prstGeom prst="rect">
            <a:avLst/>
          </a:prstGeom>
          <a:noFill/>
        </p:spPr>
        <p:txBody>
          <a:bodyPr wrap="square" lIns="54864" rIns="54864" tIns="54864" bIns="54864" anchor="t">
            <a:spAutoFit/>
          </a:bodyPr>
          <a:lstStyle/>
          <a:p>
            <a:pPr algn="ctr">
              <a:lnSpc>
                <a:spcPct val="100000"/>
              </a:lnSpc>
            </a:pPr>
            <a:r>
              <a:rPr sz="1300" b="0" i="0">
                <a:solidFill>
                  <a:srgbClr val="243342"/>
                </a:solidFill>
                <a:latin typeface="Aptos"/>
              </a:rPr>
              <a:t>XOR changes values</a:t>
            </a:r>
          </a:p>
          <a:p>
            <a:pPr algn="ctr">
              <a:lnSpc>
                <a:spcPct val="100000"/>
              </a:lnSpc>
            </a:pPr>
            <a:r>
              <a:rPr sz="1300" b="0" i="0">
                <a:solidFill>
                  <a:srgbClr val="243342"/>
                </a:solidFill>
                <a:latin typeface="Aptos"/>
              </a:rPr>
              <a:t>output cipher cube D</a:t>
            </a:r>
          </a:p>
        </p:txBody>
      </p:sp>
      <p:sp>
        <p:nvSpPr>
          <p:cNvPr id="41" name="Rounded Rectangle 40"/>
          <p:cNvSpPr/>
          <p:nvPr/>
        </p:nvSpPr>
        <p:spPr>
          <a:xfrm>
            <a:off x="1965960" y="4828032"/>
            <a:ext cx="8321040" cy="822960"/>
          </a:xfrm>
          <a:prstGeom prst="roundRect">
            <a:avLst/>
          </a:prstGeom>
          <a:solidFill>
            <a:srgbClr val="E8F6F5"/>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48840" y="4983480"/>
            <a:ext cx="7955279" cy="420624"/>
          </a:xfrm>
          <a:prstGeom prst="rect">
            <a:avLst/>
          </a:prstGeom>
          <a:noFill/>
        </p:spPr>
        <p:txBody>
          <a:bodyPr wrap="square" lIns="54864" rIns="54864" tIns="54864" bIns="54864" anchor="t">
            <a:spAutoFit/>
          </a:bodyPr>
          <a:lstStyle/>
          <a:p>
            <a:pPr algn="ctr">
              <a:lnSpc>
                <a:spcPct val="100000"/>
              </a:lnSpc>
            </a:pPr>
            <a:r>
              <a:rPr sz="1700" b="1" i="0">
                <a:solidFill>
                  <a:srgbClr val="17324D"/>
                </a:solidFill>
                <a:latin typeface="Aptos"/>
              </a:rPr>
              <a:t>Transmit D. Receiver runs diffusion, confusion, and DWT recovery in reverse.</a:t>
            </a:r>
          </a:p>
        </p:txBody>
      </p:sp>
      <p:sp>
        <p:nvSpPr>
          <p:cNvPr id="43" name="TextBox 42"/>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Fig. 4 (encryption flow chart) · Fig. 7 (visual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Confusion: scrambling pixel POSITIONS</a:t>
            </a:r>
          </a:p>
        </p:txBody>
      </p:sp>
      <p:sp>
        <p:nvSpPr>
          <p:cNvPr id="3" name="Rounded Rectangle 2"/>
          <p:cNvSpPr/>
          <p:nvPr/>
        </p:nvSpPr>
        <p:spPr>
          <a:xfrm>
            <a:off x="8778240" y="283464"/>
            <a:ext cx="2880360" cy="347472"/>
          </a:xfrm>
          <a:prstGeom prst="round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Maria · 1:30 · Method</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6/10</a:t>
            </a:r>
          </a:p>
        </p:txBody>
      </p:sp>
      <p:sp>
        <p:nvSpPr>
          <p:cNvPr id="18" name="TextBox 17"/>
          <p:cNvSpPr txBox="1"/>
          <p:nvPr/>
        </p:nvSpPr>
        <p:spPr>
          <a:xfrm>
            <a:off x="658368" y="1170432"/>
            <a:ext cx="5394960" cy="2148840"/>
          </a:xfrm>
          <a:prstGeom prst="rect">
            <a:avLst/>
          </a:prstGeom>
          <a:noFill/>
        </p:spPr>
        <p:txBody>
          <a:bodyPr wrap="square" lIns="36576" rIns="36576" tIns="18288" bIns="18288">
            <a:spAutoFit/>
          </a:bodyPr>
          <a:lstStyle/>
          <a:p>
            <a:pPr>
              <a:spcAft>
                <a:spcPts val="500"/>
              </a:spcAft>
            </a:pPr>
            <a:r>
              <a:rPr sz="1500" b="1" i="0">
                <a:solidFill>
                  <a:srgbClr val="0C7C7B"/>
                </a:solidFill>
                <a:latin typeface="Aptos"/>
              </a:rPr>
              <a:t>• </a:t>
            </a:r>
            <a:r>
              <a:rPr sz="1500" b="0" i="0">
                <a:solidFill>
                  <a:srgbClr val="243342"/>
                </a:solidFill>
                <a:latin typeface="Aptos"/>
              </a:rPr>
              <a:t>Iterate chaotic map once per cube pixel.</a:t>
            </a:r>
          </a:p>
          <a:p>
            <a:pPr>
              <a:spcAft>
                <a:spcPts val="500"/>
              </a:spcAft>
            </a:pPr>
            <a:r>
              <a:rPr sz="1500" b="1" i="0">
                <a:solidFill>
                  <a:srgbClr val="0C7C7B"/>
                </a:solidFill>
                <a:latin typeface="Aptos"/>
              </a:rPr>
              <a:t>• </a:t>
            </a:r>
            <a:r>
              <a:rPr sz="1500" b="0" i="0">
                <a:solidFill>
                  <a:srgbClr val="243342"/>
                </a:solidFill>
                <a:latin typeface="Aptos"/>
              </a:rPr>
              <a:t>Generate coordinate offsets S1, T1, U1.</a:t>
            </a:r>
          </a:p>
          <a:p>
            <a:pPr>
              <a:spcAft>
                <a:spcPts val="500"/>
              </a:spcAft>
            </a:pPr>
            <a:r>
              <a:rPr sz="1500" b="1" i="0">
                <a:solidFill>
                  <a:srgbClr val="0C7C7B"/>
                </a:solidFill>
                <a:latin typeface="Aptos"/>
              </a:rPr>
              <a:t>• </a:t>
            </a:r>
            <a:r>
              <a:rPr sz="1500" b="0" i="0">
                <a:solidFill>
                  <a:srgbClr val="243342"/>
                </a:solidFill>
                <a:latin typeface="Aptos"/>
              </a:rPr>
              <a:t>Compare each pixel coordinate with its offset.</a:t>
            </a:r>
          </a:p>
          <a:p>
            <a:pPr>
              <a:spcAft>
                <a:spcPts val="500"/>
              </a:spcAft>
            </a:pPr>
            <a:r>
              <a:rPr sz="1500" b="1" i="0">
                <a:solidFill>
                  <a:srgbClr val="0C7C7B"/>
                </a:solidFill>
                <a:latin typeface="Aptos"/>
              </a:rPr>
              <a:t>• </a:t>
            </a:r>
            <a:r>
              <a:rPr sz="1500" b="0" i="0">
                <a:solidFill>
                  <a:srgbClr val="243342"/>
                </a:solidFill>
                <a:latin typeface="Aptos"/>
              </a:rPr>
              <a:t>Pixel values stay the same; positions move.</a:t>
            </a:r>
          </a:p>
          <a:p>
            <a:pPr>
              <a:spcAft>
                <a:spcPts val="500"/>
              </a:spcAft>
            </a:pPr>
            <a:r>
              <a:rPr sz="1500" b="1" i="0">
                <a:solidFill>
                  <a:srgbClr val="0C7C7B"/>
                </a:solidFill>
                <a:latin typeface="Aptos"/>
              </a:rPr>
              <a:t>• </a:t>
            </a:r>
            <a:r>
              <a:rPr sz="1500" b="0" i="0">
                <a:solidFill>
                  <a:srgbClr val="243342"/>
                </a:solidFill>
                <a:latin typeface="Aptos"/>
              </a:rPr>
              <a:t>Offsets depend on plaintext, so the scheme is plaintext-aware.</a:t>
            </a:r>
          </a:p>
        </p:txBody>
      </p:sp>
      <p:sp>
        <p:nvSpPr>
          <p:cNvPr id="19" name="TextBox 18"/>
          <p:cNvSpPr txBox="1"/>
          <p:nvPr/>
        </p:nvSpPr>
        <p:spPr>
          <a:xfrm>
            <a:off x="6537960" y="1143000"/>
            <a:ext cx="1828800" cy="228600"/>
          </a:xfrm>
          <a:prstGeom prst="rect">
            <a:avLst/>
          </a:prstGeom>
          <a:noFill/>
        </p:spPr>
        <p:txBody>
          <a:bodyPr wrap="square" lIns="54864" rIns="54864" tIns="54864" bIns="54864" anchor="t">
            <a:spAutoFit/>
          </a:bodyPr>
          <a:lstStyle/>
          <a:p>
            <a:pPr algn="ctr">
              <a:lnSpc>
                <a:spcPct val="100000"/>
              </a:lnSpc>
            </a:pPr>
            <a:r>
              <a:rPr sz="1500" b="1" i="0">
                <a:solidFill>
                  <a:srgbClr val="17324D"/>
                </a:solidFill>
                <a:latin typeface="Aptos"/>
              </a:rPr>
              <a:t>Before</a:t>
            </a:r>
          </a:p>
        </p:txBody>
      </p:sp>
      <p:sp>
        <p:nvSpPr>
          <p:cNvPr id="20" name="TextBox 19"/>
          <p:cNvSpPr txBox="1"/>
          <p:nvPr/>
        </p:nvSpPr>
        <p:spPr>
          <a:xfrm>
            <a:off x="9189720" y="1143000"/>
            <a:ext cx="1828800" cy="228600"/>
          </a:xfrm>
          <a:prstGeom prst="rect">
            <a:avLst/>
          </a:prstGeom>
          <a:noFill/>
        </p:spPr>
        <p:txBody>
          <a:bodyPr wrap="square" lIns="54864" rIns="54864" tIns="54864" bIns="54864" anchor="t">
            <a:spAutoFit/>
          </a:bodyPr>
          <a:lstStyle/>
          <a:p>
            <a:pPr algn="ctr">
              <a:lnSpc>
                <a:spcPct val="100000"/>
              </a:lnSpc>
            </a:pPr>
            <a:r>
              <a:rPr sz="1500" b="1" i="0">
                <a:solidFill>
                  <a:srgbClr val="17324D"/>
                </a:solidFill>
                <a:latin typeface="Aptos"/>
              </a:rPr>
              <a:t>After confusion</a:t>
            </a:r>
          </a:p>
        </p:txBody>
      </p:sp>
      <p:sp>
        <p:nvSpPr>
          <p:cNvPr id="21" name="Rectangle 20"/>
          <p:cNvSpPr/>
          <p:nvPr/>
        </p:nvSpPr>
        <p:spPr>
          <a:xfrm>
            <a:off x="6693408"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86016"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78624"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71232"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63840"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93408" y="1892807"/>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86016" y="1892807"/>
            <a:ext cx="292608" cy="292608"/>
          </a:xfrm>
          <a:prstGeom prst="rect">
            <a:avLst/>
          </a:prstGeom>
          <a:solidFill>
            <a:srgbClr val="E8F6F5"/>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13448" y="1956815"/>
            <a:ext cx="237744" cy="109728"/>
          </a:xfrm>
          <a:prstGeom prst="rect">
            <a:avLst/>
          </a:prstGeom>
          <a:noFill/>
        </p:spPr>
        <p:txBody>
          <a:bodyPr wrap="square" lIns="0" rIns="0" tIns="0" bIns="0" anchor="t">
            <a:spAutoFit/>
          </a:bodyPr>
          <a:lstStyle/>
          <a:p>
            <a:pPr algn="ctr">
              <a:lnSpc>
                <a:spcPct val="100000"/>
              </a:lnSpc>
            </a:pPr>
            <a:r>
              <a:rPr sz="800" b="1" i="0">
                <a:solidFill>
                  <a:srgbClr val="17324D"/>
                </a:solidFill>
                <a:latin typeface="Aptos"/>
              </a:rPr>
              <a:t>A</a:t>
            </a:r>
          </a:p>
        </p:txBody>
      </p:sp>
      <p:sp>
        <p:nvSpPr>
          <p:cNvPr id="29" name="Rectangle 28"/>
          <p:cNvSpPr/>
          <p:nvPr/>
        </p:nvSpPr>
        <p:spPr>
          <a:xfrm>
            <a:off x="7278624" y="1892807"/>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571232" y="1892807"/>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863840" y="1892807"/>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93408"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86016"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278624"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71232"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63840"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93408" y="2478024"/>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86016" y="2478024"/>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78624" y="2478024"/>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571232" y="2478024"/>
            <a:ext cx="292608" cy="292608"/>
          </a:xfrm>
          <a:prstGeom prst="rect">
            <a:avLst/>
          </a:prstGeom>
          <a:solidFill>
            <a:srgbClr val="FFF4D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98664" y="2542032"/>
            <a:ext cx="237744" cy="109728"/>
          </a:xfrm>
          <a:prstGeom prst="rect">
            <a:avLst/>
          </a:prstGeom>
          <a:noFill/>
        </p:spPr>
        <p:txBody>
          <a:bodyPr wrap="square" lIns="0" rIns="0" tIns="0" bIns="0" anchor="t">
            <a:spAutoFit/>
          </a:bodyPr>
          <a:lstStyle/>
          <a:p>
            <a:pPr algn="ctr">
              <a:lnSpc>
                <a:spcPct val="100000"/>
              </a:lnSpc>
            </a:pPr>
            <a:r>
              <a:rPr sz="800" b="1" i="0">
                <a:solidFill>
                  <a:srgbClr val="17324D"/>
                </a:solidFill>
                <a:latin typeface="Aptos"/>
              </a:rPr>
              <a:t>B</a:t>
            </a:r>
          </a:p>
        </p:txBody>
      </p:sp>
      <p:sp>
        <p:nvSpPr>
          <p:cNvPr id="42" name="Rectangle 41"/>
          <p:cNvSpPr/>
          <p:nvPr/>
        </p:nvSpPr>
        <p:spPr>
          <a:xfrm>
            <a:off x="7863840" y="2478024"/>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693408"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986016"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78624"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571232"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863840"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665976" y="1572768"/>
            <a:ext cx="1517904" cy="1517904"/>
          </a:xfrm>
          <a:prstGeom prst="rect">
            <a:avLst/>
          </a:prstGeom>
          <a:noFill/>
          <a:ln w="1905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345168"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637776"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930384"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22992"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515600" y="1600200"/>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345168" y="1892807"/>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37776" y="1892807"/>
            <a:ext cx="292608" cy="292608"/>
          </a:xfrm>
          <a:prstGeom prst="rect">
            <a:avLst/>
          </a:prstGeom>
          <a:solidFill>
            <a:srgbClr val="FFF4D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65208" y="1956815"/>
            <a:ext cx="237744" cy="109728"/>
          </a:xfrm>
          <a:prstGeom prst="rect">
            <a:avLst/>
          </a:prstGeom>
          <a:noFill/>
        </p:spPr>
        <p:txBody>
          <a:bodyPr wrap="square" lIns="0" rIns="0" tIns="0" bIns="0" anchor="t">
            <a:spAutoFit/>
          </a:bodyPr>
          <a:lstStyle/>
          <a:p>
            <a:pPr algn="ctr">
              <a:lnSpc>
                <a:spcPct val="100000"/>
              </a:lnSpc>
            </a:pPr>
            <a:r>
              <a:rPr sz="800" b="1" i="0">
                <a:solidFill>
                  <a:srgbClr val="17324D"/>
                </a:solidFill>
                <a:latin typeface="Aptos"/>
              </a:rPr>
              <a:t>B</a:t>
            </a:r>
          </a:p>
        </p:txBody>
      </p:sp>
      <p:sp>
        <p:nvSpPr>
          <p:cNvPr id="57" name="Rectangle 56"/>
          <p:cNvSpPr/>
          <p:nvPr/>
        </p:nvSpPr>
        <p:spPr>
          <a:xfrm>
            <a:off x="9930384" y="1892807"/>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222992" y="1892807"/>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515600" y="1892807"/>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345168"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637776"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930384"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2992"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515600" y="2185416"/>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345168" y="2478024"/>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637776" y="2478024"/>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930384" y="2478024"/>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222992" y="2478024"/>
            <a:ext cx="292608" cy="292608"/>
          </a:xfrm>
          <a:prstGeom prst="rect">
            <a:avLst/>
          </a:prstGeom>
          <a:solidFill>
            <a:srgbClr val="E8F6F5"/>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250424" y="2542032"/>
            <a:ext cx="237744" cy="109728"/>
          </a:xfrm>
          <a:prstGeom prst="rect">
            <a:avLst/>
          </a:prstGeom>
          <a:noFill/>
        </p:spPr>
        <p:txBody>
          <a:bodyPr wrap="square" lIns="0" rIns="0" tIns="0" bIns="0" anchor="t">
            <a:spAutoFit/>
          </a:bodyPr>
          <a:lstStyle/>
          <a:p>
            <a:pPr algn="ctr">
              <a:lnSpc>
                <a:spcPct val="100000"/>
              </a:lnSpc>
            </a:pPr>
            <a:r>
              <a:rPr sz="800" b="1" i="0">
                <a:solidFill>
                  <a:srgbClr val="17324D"/>
                </a:solidFill>
                <a:latin typeface="Aptos"/>
              </a:rPr>
              <a:t>A</a:t>
            </a:r>
          </a:p>
        </p:txBody>
      </p:sp>
      <p:sp>
        <p:nvSpPr>
          <p:cNvPr id="70" name="Rectangle 69"/>
          <p:cNvSpPr/>
          <p:nvPr/>
        </p:nvSpPr>
        <p:spPr>
          <a:xfrm>
            <a:off x="10515600" y="2478024"/>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345168"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37776"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930384"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222992"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515600" y="2770632"/>
            <a:ext cx="292608" cy="29260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317736" y="1572768"/>
            <a:ext cx="1517904" cy="1517904"/>
          </a:xfrm>
          <a:prstGeom prst="rect">
            <a:avLst/>
          </a:prstGeom>
          <a:noFill/>
          <a:ln w="19050">
            <a:solidFill>
              <a:srgbClr val="D69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8458200" y="2331720"/>
            <a:ext cx="685800" cy="0"/>
          </a:xfrm>
          <a:prstGeom prst="line">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6492240" y="3794760"/>
            <a:ext cx="4572000" cy="123444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693408" y="3977639"/>
            <a:ext cx="4169663" cy="786384"/>
          </a:xfrm>
          <a:prstGeom prst="rect">
            <a:avLst/>
          </a:prstGeom>
          <a:noFill/>
        </p:spPr>
        <p:txBody>
          <a:bodyPr wrap="square" lIns="54864" rIns="54864" tIns="54864" bIns="54864" anchor="t">
            <a:spAutoFit/>
          </a:bodyPr>
          <a:lstStyle/>
          <a:p>
            <a:pPr algn="l">
              <a:lnSpc>
                <a:spcPct val="100000"/>
              </a:lnSpc>
            </a:pPr>
            <a:r>
              <a:rPr sz="1300" b="0" i="0">
                <a:solidFill>
                  <a:srgbClr val="243342"/>
                </a:solidFill>
                <a:latin typeface="Aptos"/>
              </a:rPr>
              <a:t>Rule idea: if a coordinate is larger/smaller/equal to its chaotic offset, swap with the corresponding target coordinate. Across i, j, k, this creates nine cases.</a:t>
            </a:r>
          </a:p>
        </p:txBody>
      </p:sp>
      <p:sp>
        <p:nvSpPr>
          <p:cNvPr id="80" name="TextBox 79"/>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Section 4.1.2 · Equations (8)-(10)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Diffusion: XOR with a chaotic stream</a:t>
            </a:r>
          </a:p>
        </p:txBody>
      </p:sp>
      <p:sp>
        <p:nvSpPr>
          <p:cNvPr id="3" name="Rounded Rectangle 2"/>
          <p:cNvSpPr/>
          <p:nvPr/>
        </p:nvSpPr>
        <p:spPr>
          <a:xfrm>
            <a:off x="8778240" y="283464"/>
            <a:ext cx="2880360" cy="347472"/>
          </a:xfrm>
          <a:prstGeom prst="round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Maria · 1:30 · Method</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7/10</a:t>
            </a:r>
          </a:p>
        </p:txBody>
      </p:sp>
      <p:sp>
        <p:nvSpPr>
          <p:cNvPr id="18" name="TextBox 17"/>
          <p:cNvSpPr txBox="1"/>
          <p:nvPr/>
        </p:nvSpPr>
        <p:spPr>
          <a:xfrm>
            <a:off x="658368" y="1170432"/>
            <a:ext cx="4892040" cy="2057400"/>
          </a:xfrm>
          <a:prstGeom prst="rect">
            <a:avLst/>
          </a:prstGeom>
          <a:noFill/>
        </p:spPr>
        <p:txBody>
          <a:bodyPr wrap="square" lIns="36576" rIns="36576" tIns="18288" bIns="18288">
            <a:spAutoFit/>
          </a:bodyPr>
          <a:lstStyle/>
          <a:p>
            <a:pPr>
              <a:spcAft>
                <a:spcPts val="500"/>
              </a:spcAft>
            </a:pPr>
            <a:r>
              <a:rPr sz="1500" b="1" i="0">
                <a:solidFill>
                  <a:srgbClr val="0C7C7B"/>
                </a:solidFill>
                <a:latin typeface="Aptos"/>
              </a:rPr>
              <a:t>• </a:t>
            </a:r>
            <a:r>
              <a:rPr sz="1500" b="0" i="0">
                <a:solidFill>
                  <a:srgbClr val="243342"/>
                </a:solidFill>
                <a:latin typeface="Aptos"/>
              </a:rPr>
              <a:t>Flatten C-prime into vector V.</a:t>
            </a:r>
          </a:p>
          <a:p>
            <a:pPr>
              <a:spcAft>
                <a:spcPts val="500"/>
              </a:spcAft>
            </a:pPr>
            <a:r>
              <a:rPr sz="1500" b="1" i="0">
                <a:solidFill>
                  <a:srgbClr val="0C7C7B"/>
                </a:solidFill>
                <a:latin typeface="Aptos"/>
              </a:rPr>
              <a:t>• </a:t>
            </a:r>
            <a:r>
              <a:rPr sz="1500" b="0" i="0">
                <a:solidFill>
                  <a:srgbClr val="243342"/>
                </a:solidFill>
                <a:latin typeface="Aptos"/>
              </a:rPr>
              <a:t>First pixel XORs with a chaotic seed.</a:t>
            </a:r>
          </a:p>
          <a:p>
            <a:pPr>
              <a:spcAft>
                <a:spcPts val="500"/>
              </a:spcAft>
            </a:pPr>
            <a:r>
              <a:rPr sz="1500" b="1" i="0">
                <a:solidFill>
                  <a:srgbClr val="0C7C7B"/>
                </a:solidFill>
                <a:latin typeface="Aptos"/>
              </a:rPr>
              <a:t>• </a:t>
            </a:r>
            <a:r>
              <a:rPr sz="1500" b="0" i="0">
                <a:solidFill>
                  <a:srgbClr val="243342"/>
                </a:solidFill>
                <a:latin typeface="Aptos"/>
              </a:rPr>
              <a:t>For later pixels, index mod 3 selects X2, Y2, or Z2.</a:t>
            </a:r>
          </a:p>
          <a:p>
            <a:pPr>
              <a:spcAft>
                <a:spcPts val="500"/>
              </a:spcAft>
            </a:pPr>
            <a:r>
              <a:rPr sz="1500" b="1" i="0">
                <a:solidFill>
                  <a:srgbClr val="0C7C7B"/>
                </a:solidFill>
                <a:latin typeface="Aptos"/>
              </a:rPr>
              <a:t>• </a:t>
            </a:r>
            <a:r>
              <a:rPr sz="1500" b="0" i="0">
                <a:solidFill>
                  <a:srgbClr val="243342"/>
                </a:solidFill>
                <a:latin typeface="Aptos"/>
              </a:rPr>
              <a:t>Previous encrypted pixel is reused.</a:t>
            </a:r>
          </a:p>
          <a:p>
            <a:pPr>
              <a:spcAft>
                <a:spcPts val="500"/>
              </a:spcAft>
            </a:pPr>
            <a:r>
              <a:rPr sz="1500" b="1" i="0">
                <a:solidFill>
                  <a:srgbClr val="0C7C7B"/>
                </a:solidFill>
                <a:latin typeface="Aptos"/>
              </a:rPr>
              <a:t>• </a:t>
            </a:r>
            <a:r>
              <a:rPr sz="1500" b="0" i="0">
                <a:solidFill>
                  <a:srgbClr val="243342"/>
                </a:solidFill>
                <a:latin typeface="Aptos"/>
              </a:rPr>
              <a:t>One bit change cascades through the rest.</a:t>
            </a:r>
          </a:p>
        </p:txBody>
      </p:sp>
      <p:sp>
        <p:nvSpPr>
          <p:cNvPr id="19" name="Rounded Rectangle 18"/>
          <p:cNvSpPr/>
          <p:nvPr/>
        </p:nvSpPr>
        <p:spPr>
          <a:xfrm>
            <a:off x="5989320" y="1234440"/>
            <a:ext cx="5257800" cy="1325880"/>
          </a:xfrm>
          <a:prstGeom prst="roundRect">
            <a:avLst/>
          </a:prstGeom>
          <a:solidFill>
            <a:srgbClr val="EAF0F6"/>
          </a:solidFill>
          <a:ln w="12700">
            <a:solidFill>
              <a:srgbClr val="254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627632"/>
            <a:ext cx="4800600" cy="256032"/>
          </a:xfrm>
          <a:prstGeom prst="rect">
            <a:avLst/>
          </a:prstGeom>
          <a:noFill/>
        </p:spPr>
        <p:txBody>
          <a:bodyPr wrap="square" lIns="54864" rIns="54864" tIns="54864" bIns="54864" anchor="t">
            <a:spAutoFit/>
          </a:bodyPr>
          <a:lstStyle/>
          <a:p>
            <a:pPr algn="ctr">
              <a:lnSpc>
                <a:spcPct val="100000"/>
              </a:lnSpc>
            </a:pPr>
            <a:r>
              <a:rPr sz="1800" b="1" i="0">
                <a:solidFill>
                  <a:srgbClr val="17324D"/>
                </a:solidFill>
                <a:latin typeface="Consolas"/>
              </a:rPr>
              <a:t>D[k] = V[k]  XOR  chaos[k mod 3]  XOR  D[k-1]</a:t>
            </a:r>
          </a:p>
        </p:txBody>
      </p:sp>
      <p:sp>
        <p:nvSpPr>
          <p:cNvPr id="21" name="Rounded Rectangle 20"/>
          <p:cNvSpPr/>
          <p:nvPr/>
        </p:nvSpPr>
        <p:spPr>
          <a:xfrm>
            <a:off x="6108192" y="3246120"/>
            <a:ext cx="914400" cy="685800"/>
          </a:xfrm>
          <a:prstGeom prst="roundRect">
            <a:avLst/>
          </a:prstGeom>
          <a:solidFill>
            <a:srgbClr val="E8F6F5"/>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72200" y="3465576"/>
            <a:ext cx="786384" cy="164592"/>
          </a:xfrm>
          <a:prstGeom prst="rect">
            <a:avLst/>
          </a:prstGeom>
          <a:noFill/>
        </p:spPr>
        <p:txBody>
          <a:bodyPr wrap="square" lIns="0" rIns="0" tIns="0" bIns="0" anchor="t">
            <a:spAutoFit/>
          </a:bodyPr>
          <a:lstStyle/>
          <a:p>
            <a:pPr algn="ctr">
              <a:lnSpc>
                <a:spcPct val="100000"/>
              </a:lnSpc>
            </a:pPr>
            <a:r>
              <a:rPr sz="1300" b="1" i="0">
                <a:solidFill>
                  <a:srgbClr val="17324D"/>
                </a:solidFill>
                <a:latin typeface="Aptos"/>
              </a:rPr>
              <a:t>V[k]</a:t>
            </a:r>
          </a:p>
        </p:txBody>
      </p:sp>
      <p:sp>
        <p:nvSpPr>
          <p:cNvPr id="23" name="TextBox 22"/>
          <p:cNvSpPr txBox="1"/>
          <p:nvPr/>
        </p:nvSpPr>
        <p:spPr>
          <a:xfrm>
            <a:off x="7040879" y="3465576"/>
            <a:ext cx="347472" cy="164592"/>
          </a:xfrm>
          <a:prstGeom prst="rect">
            <a:avLst/>
          </a:prstGeom>
          <a:noFill/>
        </p:spPr>
        <p:txBody>
          <a:bodyPr wrap="square" lIns="0" rIns="0" tIns="0" bIns="0" anchor="t">
            <a:spAutoFit/>
          </a:bodyPr>
          <a:lstStyle/>
          <a:p>
            <a:pPr algn="ctr">
              <a:lnSpc>
                <a:spcPct val="100000"/>
              </a:lnSpc>
            </a:pPr>
            <a:r>
              <a:rPr sz="850" b="1" i="0">
                <a:solidFill>
                  <a:srgbClr val="6B7785"/>
                </a:solidFill>
                <a:latin typeface="Aptos"/>
              </a:rPr>
              <a:t>XOR</a:t>
            </a:r>
          </a:p>
        </p:txBody>
      </p:sp>
      <p:sp>
        <p:nvSpPr>
          <p:cNvPr id="24" name="Rounded Rectangle 23"/>
          <p:cNvSpPr/>
          <p:nvPr/>
        </p:nvSpPr>
        <p:spPr>
          <a:xfrm>
            <a:off x="7424927" y="3246120"/>
            <a:ext cx="914400" cy="685800"/>
          </a:xfrm>
          <a:prstGeom prst="roundRect">
            <a:avLst/>
          </a:prstGeom>
          <a:solidFill>
            <a:srgbClr val="FFF4DA"/>
          </a:solidFill>
          <a:ln w="12700">
            <a:solidFill>
              <a:srgbClr val="D69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88936" y="3465576"/>
            <a:ext cx="786384" cy="164592"/>
          </a:xfrm>
          <a:prstGeom prst="rect">
            <a:avLst/>
          </a:prstGeom>
          <a:noFill/>
        </p:spPr>
        <p:txBody>
          <a:bodyPr wrap="square" lIns="0" rIns="0" tIns="0" bIns="0" anchor="t">
            <a:spAutoFit/>
          </a:bodyPr>
          <a:lstStyle/>
          <a:p>
            <a:pPr algn="ctr">
              <a:lnSpc>
                <a:spcPct val="100000"/>
              </a:lnSpc>
            </a:pPr>
            <a:r>
              <a:rPr sz="1300" b="1" i="0">
                <a:solidFill>
                  <a:srgbClr val="17324D"/>
                </a:solidFill>
                <a:latin typeface="Aptos"/>
              </a:rPr>
              <a:t>chaos</a:t>
            </a:r>
          </a:p>
        </p:txBody>
      </p:sp>
      <p:sp>
        <p:nvSpPr>
          <p:cNvPr id="26" name="TextBox 25"/>
          <p:cNvSpPr txBox="1"/>
          <p:nvPr/>
        </p:nvSpPr>
        <p:spPr>
          <a:xfrm>
            <a:off x="8357615" y="3465576"/>
            <a:ext cx="347472" cy="164592"/>
          </a:xfrm>
          <a:prstGeom prst="rect">
            <a:avLst/>
          </a:prstGeom>
          <a:noFill/>
        </p:spPr>
        <p:txBody>
          <a:bodyPr wrap="square" lIns="0" rIns="0" tIns="0" bIns="0" anchor="t">
            <a:spAutoFit/>
          </a:bodyPr>
          <a:lstStyle/>
          <a:p>
            <a:pPr algn="ctr">
              <a:lnSpc>
                <a:spcPct val="100000"/>
              </a:lnSpc>
            </a:pPr>
            <a:r>
              <a:rPr sz="850" b="1" i="0">
                <a:solidFill>
                  <a:srgbClr val="6B7785"/>
                </a:solidFill>
                <a:latin typeface="Aptos"/>
              </a:rPr>
              <a:t>XOR</a:t>
            </a:r>
          </a:p>
        </p:txBody>
      </p:sp>
      <p:sp>
        <p:nvSpPr>
          <p:cNvPr id="27" name="Rounded Rectangle 26"/>
          <p:cNvSpPr/>
          <p:nvPr/>
        </p:nvSpPr>
        <p:spPr>
          <a:xfrm>
            <a:off x="8741664" y="3246120"/>
            <a:ext cx="914400" cy="685800"/>
          </a:xfrm>
          <a:prstGeom prst="roundRect">
            <a:avLst/>
          </a:prstGeom>
          <a:solidFill>
            <a:srgbClr val="EAF0F6"/>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05672" y="3465576"/>
            <a:ext cx="786384" cy="164592"/>
          </a:xfrm>
          <a:prstGeom prst="rect">
            <a:avLst/>
          </a:prstGeom>
          <a:noFill/>
        </p:spPr>
        <p:txBody>
          <a:bodyPr wrap="square" lIns="0" rIns="0" tIns="0" bIns="0" anchor="t">
            <a:spAutoFit/>
          </a:bodyPr>
          <a:lstStyle/>
          <a:p>
            <a:pPr algn="ctr">
              <a:lnSpc>
                <a:spcPct val="100000"/>
              </a:lnSpc>
            </a:pPr>
            <a:r>
              <a:rPr sz="1300" b="1" i="0">
                <a:solidFill>
                  <a:srgbClr val="17324D"/>
                </a:solidFill>
                <a:latin typeface="Aptos"/>
              </a:rPr>
              <a:t>D[k-1]</a:t>
            </a:r>
          </a:p>
        </p:txBody>
      </p:sp>
      <p:sp>
        <p:nvSpPr>
          <p:cNvPr id="29" name="TextBox 28"/>
          <p:cNvSpPr txBox="1"/>
          <p:nvPr/>
        </p:nvSpPr>
        <p:spPr>
          <a:xfrm>
            <a:off x="9674352" y="3465576"/>
            <a:ext cx="347472" cy="164592"/>
          </a:xfrm>
          <a:prstGeom prst="rect">
            <a:avLst/>
          </a:prstGeom>
          <a:noFill/>
        </p:spPr>
        <p:txBody>
          <a:bodyPr wrap="square" lIns="0" rIns="0" tIns="0" bIns="0" anchor="t">
            <a:spAutoFit/>
          </a:bodyPr>
          <a:lstStyle/>
          <a:p>
            <a:pPr algn="ctr">
              <a:lnSpc>
                <a:spcPct val="100000"/>
              </a:lnSpc>
            </a:pPr>
            <a:r>
              <a:rPr sz="850" b="1" i="0">
                <a:solidFill>
                  <a:srgbClr val="6B7785"/>
                </a:solidFill>
                <a:latin typeface="Aptos"/>
              </a:rPr>
              <a:t>XOR</a:t>
            </a:r>
          </a:p>
        </p:txBody>
      </p:sp>
      <p:sp>
        <p:nvSpPr>
          <p:cNvPr id="30" name="Rounded Rectangle 29"/>
          <p:cNvSpPr/>
          <p:nvPr/>
        </p:nvSpPr>
        <p:spPr>
          <a:xfrm>
            <a:off x="10058400" y="3246120"/>
            <a:ext cx="914400" cy="685800"/>
          </a:xfrm>
          <a:prstGeom prst="roundRect">
            <a:avLst/>
          </a:prstGeom>
          <a:solidFill>
            <a:srgbClr val="E9F7ED"/>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22408" y="3465576"/>
            <a:ext cx="786384" cy="164592"/>
          </a:xfrm>
          <a:prstGeom prst="rect">
            <a:avLst/>
          </a:prstGeom>
          <a:noFill/>
        </p:spPr>
        <p:txBody>
          <a:bodyPr wrap="square" lIns="0" rIns="0" tIns="0" bIns="0" anchor="t">
            <a:spAutoFit/>
          </a:bodyPr>
          <a:lstStyle/>
          <a:p>
            <a:pPr algn="ctr">
              <a:lnSpc>
                <a:spcPct val="100000"/>
              </a:lnSpc>
            </a:pPr>
            <a:r>
              <a:rPr sz="1300" b="1" i="0">
                <a:solidFill>
                  <a:srgbClr val="17324D"/>
                </a:solidFill>
                <a:latin typeface="Aptos"/>
              </a:rPr>
              <a:t>D[k]</a:t>
            </a:r>
          </a:p>
        </p:txBody>
      </p:sp>
      <p:sp>
        <p:nvSpPr>
          <p:cNvPr id="32" name="Rounded Rectangle 31"/>
          <p:cNvSpPr/>
          <p:nvPr/>
        </p:nvSpPr>
        <p:spPr>
          <a:xfrm>
            <a:off x="822960" y="4297680"/>
            <a:ext cx="10332720" cy="749808"/>
          </a:xfrm>
          <a:prstGeom prst="roundRect">
            <a:avLst/>
          </a:prstGeom>
          <a:solidFill>
            <a:srgbClr val="E8F6F5"/>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480560"/>
            <a:ext cx="9875520" cy="256032"/>
          </a:xfrm>
          <a:prstGeom prst="rect">
            <a:avLst/>
          </a:prstGeom>
          <a:noFill/>
        </p:spPr>
        <p:txBody>
          <a:bodyPr wrap="square" lIns="54864" rIns="54864" tIns="54864" bIns="54864" anchor="t">
            <a:spAutoFit/>
          </a:bodyPr>
          <a:lstStyle/>
          <a:p>
            <a:pPr algn="ctr">
              <a:lnSpc>
                <a:spcPct val="100000"/>
              </a:lnSpc>
            </a:pPr>
            <a:r>
              <a:rPr sz="1900" b="1" i="0">
                <a:solidFill>
                  <a:srgbClr val="17324D"/>
                </a:solidFill>
                <a:latin typeface="Aptos"/>
              </a:rPr>
              <a:t>Confusion hides where pixels are. Diffusion hides what pixel values are.</a:t>
            </a:r>
          </a:p>
        </p:txBody>
      </p:sp>
      <p:sp>
        <p:nvSpPr>
          <p:cNvPr id="34" name="TextBox 33"/>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Section 4.1.3 · Equations (11)-(13)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Findings: PSNR 32.06 dB beats prior work</a:t>
            </a:r>
          </a:p>
        </p:txBody>
      </p:sp>
      <p:sp>
        <p:nvSpPr>
          <p:cNvPr id="3" name="Rounded Rectangle 2"/>
          <p:cNvSpPr/>
          <p:nvPr/>
        </p:nvSpPr>
        <p:spPr>
          <a:xfrm>
            <a:off x="8778240" y="283464"/>
            <a:ext cx="2880360" cy="347472"/>
          </a:xfrm>
          <a:prstGeom prst="round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Maria · 1:00 · Findings</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8/10</a:t>
            </a:r>
          </a:p>
        </p:txBody>
      </p:sp>
      <p:sp>
        <p:nvSpPr>
          <p:cNvPr id="18" name="TextBox 17"/>
          <p:cNvSpPr txBox="1"/>
          <p:nvPr/>
        </p:nvSpPr>
        <p:spPr>
          <a:xfrm>
            <a:off x="868680" y="1024128"/>
            <a:ext cx="5715000" cy="228600"/>
          </a:xfrm>
          <a:prstGeom prst="rect">
            <a:avLst/>
          </a:prstGeom>
          <a:noFill/>
        </p:spPr>
        <p:txBody>
          <a:bodyPr wrap="square" lIns="54864" rIns="54864" tIns="54864" bIns="54864" anchor="t">
            <a:spAutoFit/>
          </a:bodyPr>
          <a:lstStyle/>
          <a:p>
            <a:pPr algn="l">
              <a:lnSpc>
                <a:spcPct val="100000"/>
              </a:lnSpc>
            </a:pPr>
            <a:r>
              <a:rPr sz="1600" b="1" i="0">
                <a:solidFill>
                  <a:srgbClr val="17324D"/>
                </a:solidFill>
                <a:latin typeface="Aptos"/>
              </a:rPr>
              <a:t>PSNR comparison (dB)</a:t>
            </a:r>
          </a:p>
        </p:txBody>
      </p:sp>
      <p:sp>
        <p:nvSpPr>
          <p:cNvPr id="19" name="TextBox 18"/>
          <p:cNvSpPr txBox="1"/>
          <p:nvPr/>
        </p:nvSpPr>
        <p:spPr>
          <a:xfrm>
            <a:off x="868680" y="1399032"/>
            <a:ext cx="1143000" cy="164592"/>
          </a:xfrm>
          <a:prstGeom prst="rect">
            <a:avLst/>
          </a:prstGeom>
          <a:noFill/>
        </p:spPr>
        <p:txBody>
          <a:bodyPr wrap="square" lIns="0" rIns="0" tIns="0" bIns="0" anchor="t">
            <a:spAutoFit/>
          </a:bodyPr>
          <a:lstStyle/>
          <a:p>
            <a:pPr algn="r">
              <a:lnSpc>
                <a:spcPct val="100000"/>
              </a:lnSpc>
            </a:pPr>
            <a:r>
              <a:rPr sz="1050" b="0" i="0">
                <a:solidFill>
                  <a:srgbClr val="243342"/>
                </a:solidFill>
                <a:latin typeface="Aptos"/>
              </a:rPr>
              <a:t>This paper</a:t>
            </a:r>
          </a:p>
        </p:txBody>
      </p:sp>
      <p:sp>
        <p:nvSpPr>
          <p:cNvPr id="20" name="Rounded Rectangle 19"/>
          <p:cNvSpPr/>
          <p:nvPr/>
        </p:nvSpPr>
        <p:spPr>
          <a:xfrm>
            <a:off x="2194560" y="1325880"/>
            <a:ext cx="3750692" cy="320040"/>
          </a:xfrm>
          <a:prstGeom prst="round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6692" y="1380744"/>
            <a:ext cx="566928" cy="118872"/>
          </a:xfrm>
          <a:prstGeom prst="rect">
            <a:avLst/>
          </a:prstGeom>
          <a:noFill/>
        </p:spPr>
        <p:txBody>
          <a:bodyPr wrap="square" lIns="0" rIns="0" tIns="0" bIns="0" anchor="t">
            <a:spAutoFit/>
          </a:bodyPr>
          <a:lstStyle/>
          <a:p>
            <a:pPr algn="l">
              <a:lnSpc>
                <a:spcPct val="100000"/>
              </a:lnSpc>
            </a:pPr>
            <a:r>
              <a:rPr sz="950" b="0" i="0">
                <a:solidFill>
                  <a:srgbClr val="243342"/>
                </a:solidFill>
                <a:latin typeface="Aptos"/>
              </a:rPr>
              <a:t>32.06</a:t>
            </a:r>
          </a:p>
        </p:txBody>
      </p:sp>
      <p:sp>
        <p:nvSpPr>
          <p:cNvPr id="22" name="TextBox 21"/>
          <p:cNvSpPr txBox="1"/>
          <p:nvPr/>
        </p:nvSpPr>
        <p:spPr>
          <a:xfrm>
            <a:off x="868680" y="1965960"/>
            <a:ext cx="1143000" cy="164592"/>
          </a:xfrm>
          <a:prstGeom prst="rect">
            <a:avLst/>
          </a:prstGeom>
          <a:noFill/>
        </p:spPr>
        <p:txBody>
          <a:bodyPr wrap="square" lIns="0" rIns="0" tIns="0" bIns="0" anchor="t">
            <a:spAutoFit/>
          </a:bodyPr>
          <a:lstStyle/>
          <a:p>
            <a:pPr algn="r">
              <a:lnSpc>
                <a:spcPct val="100000"/>
              </a:lnSpc>
            </a:pPr>
            <a:r>
              <a:rPr sz="1050" b="0" i="0">
                <a:solidFill>
                  <a:srgbClr val="243342"/>
                </a:solidFill>
                <a:latin typeface="Aptos"/>
              </a:rPr>
              <a:t>Ref. [8]</a:t>
            </a:r>
          </a:p>
        </p:txBody>
      </p:sp>
      <p:sp>
        <p:nvSpPr>
          <p:cNvPr id="23" name="Rounded Rectangle 22"/>
          <p:cNvSpPr/>
          <p:nvPr/>
        </p:nvSpPr>
        <p:spPr>
          <a:xfrm>
            <a:off x="2194560" y="1892807"/>
            <a:ext cx="3075604" cy="320040"/>
          </a:xfrm>
          <a:prstGeom prst="roundRect">
            <a:avLst/>
          </a:prstGeom>
          <a:solidFill>
            <a:srgbClr val="9EB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61604" y="1947672"/>
            <a:ext cx="566928" cy="118872"/>
          </a:xfrm>
          <a:prstGeom prst="rect">
            <a:avLst/>
          </a:prstGeom>
          <a:noFill/>
        </p:spPr>
        <p:txBody>
          <a:bodyPr wrap="square" lIns="0" rIns="0" tIns="0" bIns="0" anchor="t">
            <a:spAutoFit/>
          </a:bodyPr>
          <a:lstStyle/>
          <a:p>
            <a:pPr algn="l">
              <a:lnSpc>
                <a:spcPct val="100000"/>
              </a:lnSpc>
            </a:pPr>
            <a:r>
              <a:rPr sz="950" b="0" i="0">
                <a:solidFill>
                  <a:srgbClr val="243342"/>
                </a:solidFill>
                <a:latin typeface="Aptos"/>
              </a:rPr>
              <a:t>26.29</a:t>
            </a:r>
          </a:p>
        </p:txBody>
      </p:sp>
      <p:sp>
        <p:nvSpPr>
          <p:cNvPr id="25" name="TextBox 24"/>
          <p:cNvSpPr txBox="1"/>
          <p:nvPr/>
        </p:nvSpPr>
        <p:spPr>
          <a:xfrm>
            <a:off x="868680" y="2532888"/>
            <a:ext cx="1143000" cy="164592"/>
          </a:xfrm>
          <a:prstGeom prst="rect">
            <a:avLst/>
          </a:prstGeom>
          <a:noFill/>
        </p:spPr>
        <p:txBody>
          <a:bodyPr wrap="square" lIns="0" rIns="0" tIns="0" bIns="0" anchor="t">
            <a:spAutoFit/>
          </a:bodyPr>
          <a:lstStyle/>
          <a:p>
            <a:pPr algn="r">
              <a:lnSpc>
                <a:spcPct val="100000"/>
              </a:lnSpc>
            </a:pPr>
            <a:r>
              <a:rPr sz="1050" b="0" i="0">
                <a:solidFill>
                  <a:srgbClr val="243342"/>
                </a:solidFill>
                <a:latin typeface="Aptos"/>
              </a:rPr>
              <a:t>Ref. [22]</a:t>
            </a:r>
          </a:p>
        </p:txBody>
      </p:sp>
      <p:sp>
        <p:nvSpPr>
          <p:cNvPr id="26" name="Rounded Rectangle 25"/>
          <p:cNvSpPr/>
          <p:nvPr/>
        </p:nvSpPr>
        <p:spPr>
          <a:xfrm>
            <a:off x="2194560" y="2459736"/>
            <a:ext cx="3239635" cy="320040"/>
          </a:xfrm>
          <a:prstGeom prst="roundRect">
            <a:avLst/>
          </a:prstGeom>
          <a:solidFill>
            <a:srgbClr val="9EB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25635" y="2514600"/>
            <a:ext cx="566928" cy="118872"/>
          </a:xfrm>
          <a:prstGeom prst="rect">
            <a:avLst/>
          </a:prstGeom>
          <a:noFill/>
        </p:spPr>
        <p:txBody>
          <a:bodyPr wrap="square" lIns="0" rIns="0" tIns="0" bIns="0" anchor="t">
            <a:spAutoFit/>
          </a:bodyPr>
          <a:lstStyle/>
          <a:p>
            <a:pPr algn="l">
              <a:lnSpc>
                <a:spcPct val="100000"/>
              </a:lnSpc>
            </a:pPr>
            <a:r>
              <a:rPr sz="950" b="0" i="0">
                <a:solidFill>
                  <a:srgbClr val="243342"/>
                </a:solidFill>
                <a:latin typeface="Aptos"/>
              </a:rPr>
              <a:t>27.69</a:t>
            </a:r>
          </a:p>
        </p:txBody>
      </p:sp>
      <p:sp>
        <p:nvSpPr>
          <p:cNvPr id="28" name="TextBox 27"/>
          <p:cNvSpPr txBox="1"/>
          <p:nvPr/>
        </p:nvSpPr>
        <p:spPr>
          <a:xfrm>
            <a:off x="868680" y="3099815"/>
            <a:ext cx="1143000" cy="164592"/>
          </a:xfrm>
          <a:prstGeom prst="rect">
            <a:avLst/>
          </a:prstGeom>
          <a:noFill/>
        </p:spPr>
        <p:txBody>
          <a:bodyPr wrap="square" lIns="0" rIns="0" tIns="0" bIns="0" anchor="t">
            <a:spAutoFit/>
          </a:bodyPr>
          <a:lstStyle/>
          <a:p>
            <a:pPr algn="r">
              <a:lnSpc>
                <a:spcPct val="100000"/>
              </a:lnSpc>
            </a:pPr>
            <a:r>
              <a:rPr sz="1050" b="0" i="0">
                <a:solidFill>
                  <a:srgbClr val="243342"/>
                </a:solidFill>
                <a:latin typeface="Aptos"/>
              </a:rPr>
              <a:t>Ref. [46]</a:t>
            </a:r>
          </a:p>
        </p:txBody>
      </p:sp>
      <p:sp>
        <p:nvSpPr>
          <p:cNvPr id="29" name="Rounded Rectangle 28"/>
          <p:cNvSpPr/>
          <p:nvPr/>
        </p:nvSpPr>
        <p:spPr>
          <a:xfrm>
            <a:off x="2194560" y="3026663"/>
            <a:ext cx="3198092" cy="320040"/>
          </a:xfrm>
          <a:prstGeom prst="roundRect">
            <a:avLst/>
          </a:prstGeom>
          <a:solidFill>
            <a:srgbClr val="9EB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4092" y="3081527"/>
            <a:ext cx="566928" cy="118872"/>
          </a:xfrm>
          <a:prstGeom prst="rect">
            <a:avLst/>
          </a:prstGeom>
          <a:noFill/>
        </p:spPr>
        <p:txBody>
          <a:bodyPr wrap="square" lIns="0" rIns="0" tIns="0" bIns="0" anchor="t">
            <a:spAutoFit/>
          </a:bodyPr>
          <a:lstStyle/>
          <a:p>
            <a:pPr algn="l">
              <a:lnSpc>
                <a:spcPct val="100000"/>
              </a:lnSpc>
            </a:pPr>
            <a:r>
              <a:rPr sz="950" b="0" i="0">
                <a:solidFill>
                  <a:srgbClr val="243342"/>
                </a:solidFill>
                <a:latin typeface="Aptos"/>
              </a:rPr>
              <a:t>27.34</a:t>
            </a:r>
          </a:p>
        </p:txBody>
      </p:sp>
      <p:sp>
        <p:nvSpPr>
          <p:cNvPr id="31" name="TextBox 30"/>
          <p:cNvSpPr txBox="1"/>
          <p:nvPr/>
        </p:nvSpPr>
        <p:spPr>
          <a:xfrm>
            <a:off x="868680" y="3666744"/>
            <a:ext cx="1143000" cy="164592"/>
          </a:xfrm>
          <a:prstGeom prst="rect">
            <a:avLst/>
          </a:prstGeom>
          <a:noFill/>
        </p:spPr>
        <p:txBody>
          <a:bodyPr wrap="square" lIns="0" rIns="0" tIns="0" bIns="0" anchor="t">
            <a:spAutoFit/>
          </a:bodyPr>
          <a:lstStyle/>
          <a:p>
            <a:pPr algn="r">
              <a:lnSpc>
                <a:spcPct val="100000"/>
              </a:lnSpc>
            </a:pPr>
            <a:r>
              <a:rPr sz="1050" b="0" i="0">
                <a:solidFill>
                  <a:srgbClr val="243342"/>
                </a:solidFill>
                <a:latin typeface="Aptos"/>
              </a:rPr>
              <a:t>Ref. [19]</a:t>
            </a:r>
          </a:p>
        </p:txBody>
      </p:sp>
      <p:sp>
        <p:nvSpPr>
          <p:cNvPr id="32" name="Rounded Rectangle 31"/>
          <p:cNvSpPr/>
          <p:nvPr/>
        </p:nvSpPr>
        <p:spPr>
          <a:xfrm>
            <a:off x="2194560" y="3593591"/>
            <a:ext cx="3215875" cy="320040"/>
          </a:xfrm>
          <a:prstGeom prst="roundRect">
            <a:avLst/>
          </a:prstGeom>
          <a:solidFill>
            <a:srgbClr val="9EB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01875" y="3648456"/>
            <a:ext cx="566928" cy="118872"/>
          </a:xfrm>
          <a:prstGeom prst="rect">
            <a:avLst/>
          </a:prstGeom>
          <a:noFill/>
        </p:spPr>
        <p:txBody>
          <a:bodyPr wrap="square" lIns="0" rIns="0" tIns="0" bIns="0" anchor="t">
            <a:spAutoFit/>
          </a:bodyPr>
          <a:lstStyle/>
          <a:p>
            <a:pPr algn="l">
              <a:lnSpc>
                <a:spcPct val="100000"/>
              </a:lnSpc>
            </a:pPr>
            <a:r>
              <a:rPr sz="950" b="0" i="0">
                <a:solidFill>
                  <a:srgbClr val="243342"/>
                </a:solidFill>
                <a:latin typeface="Aptos"/>
              </a:rPr>
              <a:t>27.49</a:t>
            </a:r>
          </a:p>
        </p:txBody>
      </p:sp>
      <p:sp>
        <p:nvSpPr>
          <p:cNvPr id="34" name="Rounded Rectangle 33"/>
          <p:cNvSpPr/>
          <p:nvPr/>
        </p:nvSpPr>
        <p:spPr>
          <a:xfrm>
            <a:off x="7086600" y="1417320"/>
            <a:ext cx="3886200" cy="868680"/>
          </a:xfrm>
          <a:prstGeom prst="roundRect">
            <a:avLst/>
          </a:prstGeom>
          <a:solidFill>
            <a:srgbClr val="E8F6F5"/>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0" y="1600200"/>
            <a:ext cx="1691640" cy="256032"/>
          </a:xfrm>
          <a:prstGeom prst="rect">
            <a:avLst/>
          </a:prstGeom>
          <a:noFill/>
        </p:spPr>
        <p:txBody>
          <a:bodyPr wrap="square" lIns="0" rIns="0" tIns="0" bIns="0" anchor="t">
            <a:spAutoFit/>
          </a:bodyPr>
          <a:lstStyle/>
          <a:p>
            <a:pPr algn="l">
              <a:lnSpc>
                <a:spcPct val="100000"/>
              </a:lnSpc>
            </a:pPr>
            <a:r>
              <a:rPr sz="2100" b="1" i="0">
                <a:solidFill>
                  <a:srgbClr val="0C7C7B"/>
                </a:solidFill>
                <a:latin typeface="Aptos"/>
              </a:rPr>
              <a:t>32.0601 dB</a:t>
            </a:r>
          </a:p>
        </p:txBody>
      </p:sp>
      <p:sp>
        <p:nvSpPr>
          <p:cNvPr id="36" name="TextBox 35"/>
          <p:cNvSpPr txBox="1"/>
          <p:nvPr/>
        </p:nvSpPr>
        <p:spPr>
          <a:xfrm>
            <a:off x="9006840" y="1655064"/>
            <a:ext cx="1783080" cy="201168"/>
          </a:xfrm>
          <a:prstGeom prst="rect">
            <a:avLst/>
          </a:prstGeom>
          <a:noFill/>
        </p:spPr>
        <p:txBody>
          <a:bodyPr wrap="square" lIns="0" rIns="0" tIns="0" bIns="0" anchor="t">
            <a:spAutoFit/>
          </a:bodyPr>
          <a:lstStyle/>
          <a:p>
            <a:pPr algn="l">
              <a:lnSpc>
                <a:spcPct val="100000"/>
              </a:lnSpc>
            </a:pPr>
            <a:r>
              <a:rPr sz="1250" b="0" i="0">
                <a:solidFill>
                  <a:srgbClr val="243342"/>
                </a:solidFill>
                <a:latin typeface="Aptos"/>
              </a:rPr>
              <a:t>reconstruction PSNR</a:t>
            </a:r>
          </a:p>
        </p:txBody>
      </p:sp>
      <p:sp>
        <p:nvSpPr>
          <p:cNvPr id="37" name="Rounded Rectangle 36"/>
          <p:cNvSpPr/>
          <p:nvPr/>
        </p:nvSpPr>
        <p:spPr>
          <a:xfrm>
            <a:off x="7086600" y="2560320"/>
            <a:ext cx="3886200" cy="86868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0" y="2743200"/>
            <a:ext cx="1691640" cy="256032"/>
          </a:xfrm>
          <a:prstGeom prst="rect">
            <a:avLst/>
          </a:prstGeom>
          <a:noFill/>
        </p:spPr>
        <p:txBody>
          <a:bodyPr wrap="square" lIns="0" rIns="0" tIns="0" bIns="0" anchor="t">
            <a:spAutoFit/>
          </a:bodyPr>
          <a:lstStyle/>
          <a:p>
            <a:pPr algn="l">
              <a:lnSpc>
                <a:spcPct val="100000"/>
              </a:lnSpc>
            </a:pPr>
            <a:r>
              <a:rPr sz="2100" b="1" i="0">
                <a:solidFill>
                  <a:srgbClr val="D69B20"/>
                </a:solidFill>
                <a:latin typeface="Aptos"/>
              </a:rPr>
              <a:t>1/4</a:t>
            </a:r>
          </a:p>
        </p:txBody>
      </p:sp>
      <p:sp>
        <p:nvSpPr>
          <p:cNvPr id="39" name="TextBox 38"/>
          <p:cNvSpPr txBox="1"/>
          <p:nvPr/>
        </p:nvSpPr>
        <p:spPr>
          <a:xfrm>
            <a:off x="9006840" y="2798064"/>
            <a:ext cx="1783080" cy="201168"/>
          </a:xfrm>
          <a:prstGeom prst="rect">
            <a:avLst/>
          </a:prstGeom>
          <a:noFill/>
        </p:spPr>
        <p:txBody>
          <a:bodyPr wrap="square" lIns="0" rIns="0" tIns="0" bIns="0" anchor="t">
            <a:spAutoFit/>
          </a:bodyPr>
          <a:lstStyle/>
          <a:p>
            <a:pPr algn="l">
              <a:lnSpc>
                <a:spcPct val="100000"/>
              </a:lnSpc>
            </a:pPr>
            <a:r>
              <a:rPr sz="1250" b="0" i="0">
                <a:solidFill>
                  <a:srgbClr val="243342"/>
                </a:solidFill>
                <a:latin typeface="Aptos"/>
              </a:rPr>
              <a:t>compressed size</a:t>
            </a:r>
          </a:p>
        </p:txBody>
      </p:sp>
      <p:sp>
        <p:nvSpPr>
          <p:cNvPr id="40" name="Rounded Rectangle 39"/>
          <p:cNvSpPr/>
          <p:nvPr/>
        </p:nvSpPr>
        <p:spPr>
          <a:xfrm>
            <a:off x="7086600" y="3703320"/>
            <a:ext cx="3886200" cy="86868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0" y="3886200"/>
            <a:ext cx="1691640" cy="256032"/>
          </a:xfrm>
          <a:prstGeom prst="rect">
            <a:avLst/>
          </a:prstGeom>
          <a:noFill/>
        </p:spPr>
        <p:txBody>
          <a:bodyPr wrap="square" lIns="0" rIns="0" tIns="0" bIns="0" anchor="t">
            <a:spAutoFit/>
          </a:bodyPr>
          <a:lstStyle/>
          <a:p>
            <a:pPr algn="l">
              <a:lnSpc>
                <a:spcPct val="100000"/>
              </a:lnSpc>
            </a:pPr>
            <a:r>
              <a:rPr sz="2100" b="1" i="0">
                <a:solidFill>
                  <a:srgbClr val="0C7C7B"/>
                </a:solidFill>
                <a:latin typeface="Aptos"/>
              </a:rPr>
              <a:t>6.1529 MB/s</a:t>
            </a:r>
          </a:p>
        </p:txBody>
      </p:sp>
      <p:sp>
        <p:nvSpPr>
          <p:cNvPr id="42" name="TextBox 41"/>
          <p:cNvSpPr txBox="1"/>
          <p:nvPr/>
        </p:nvSpPr>
        <p:spPr>
          <a:xfrm>
            <a:off x="9006840" y="3941064"/>
            <a:ext cx="1783080" cy="201168"/>
          </a:xfrm>
          <a:prstGeom prst="rect">
            <a:avLst/>
          </a:prstGeom>
          <a:noFill/>
        </p:spPr>
        <p:txBody>
          <a:bodyPr wrap="square" lIns="0" rIns="0" tIns="0" bIns="0" anchor="t">
            <a:spAutoFit/>
          </a:bodyPr>
          <a:lstStyle/>
          <a:p>
            <a:pPr algn="l">
              <a:lnSpc>
                <a:spcPct val="100000"/>
              </a:lnSpc>
            </a:pPr>
            <a:r>
              <a:rPr sz="1250" b="0" i="0">
                <a:solidFill>
                  <a:srgbClr val="243342"/>
                </a:solidFill>
                <a:latin typeface="Aptos"/>
              </a:rPr>
              <a:t>encryption speed</a:t>
            </a:r>
          </a:p>
        </p:txBody>
      </p:sp>
      <p:sp>
        <p:nvSpPr>
          <p:cNvPr id="43" name="TextBox 42"/>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Table 2 (PSNR) · Fig. 7 (visuals) · Table 10 (speed)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Security: NIST · NPCR · UACI · IE all green</a:t>
            </a:r>
          </a:p>
        </p:txBody>
      </p:sp>
      <p:sp>
        <p:nvSpPr>
          <p:cNvPr id="3" name="Rounded Rectangle 2"/>
          <p:cNvSpPr/>
          <p:nvPr/>
        </p:nvSpPr>
        <p:spPr>
          <a:xfrm>
            <a:off x="8778240" y="283464"/>
            <a:ext cx="2880360" cy="347472"/>
          </a:xfrm>
          <a:prstGeom prst="round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Maria · 1:00 · Findings</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9/10</a:t>
            </a:r>
          </a:p>
        </p:txBody>
      </p:sp>
      <p:sp>
        <p:nvSpPr>
          <p:cNvPr id="18" name="Rectangle 17"/>
          <p:cNvSpPr/>
          <p:nvPr/>
        </p:nvSpPr>
        <p:spPr>
          <a:xfrm>
            <a:off x="777240" y="1325880"/>
            <a:ext cx="7040880" cy="43891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1453895"/>
            <a:ext cx="2093976" cy="118872"/>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Security check</a:t>
            </a:r>
          </a:p>
        </p:txBody>
      </p:sp>
      <p:sp>
        <p:nvSpPr>
          <p:cNvPr id="20" name="TextBox 19"/>
          <p:cNvSpPr txBox="1"/>
          <p:nvPr/>
        </p:nvSpPr>
        <p:spPr>
          <a:xfrm>
            <a:off x="3090672" y="1453895"/>
            <a:ext cx="1865376" cy="118872"/>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Target / meaning</a:t>
            </a:r>
          </a:p>
        </p:txBody>
      </p:sp>
      <p:sp>
        <p:nvSpPr>
          <p:cNvPr id="21" name="TextBox 20"/>
          <p:cNvSpPr txBox="1"/>
          <p:nvPr/>
        </p:nvSpPr>
        <p:spPr>
          <a:xfrm>
            <a:off x="5102352" y="1453895"/>
            <a:ext cx="1728216" cy="118872"/>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Result</a:t>
            </a:r>
          </a:p>
        </p:txBody>
      </p:sp>
      <p:sp>
        <p:nvSpPr>
          <p:cNvPr id="22" name="TextBox 21"/>
          <p:cNvSpPr txBox="1"/>
          <p:nvPr/>
        </p:nvSpPr>
        <p:spPr>
          <a:xfrm>
            <a:off x="6976872" y="1453895"/>
            <a:ext cx="768096" cy="118872"/>
          </a:xfrm>
          <a:prstGeom prst="rect">
            <a:avLst/>
          </a:prstGeom>
          <a:noFill/>
        </p:spPr>
        <p:txBody>
          <a:bodyPr wrap="square" lIns="0" rIns="0" tIns="0" bIns="0" anchor="t">
            <a:spAutoFit/>
          </a:bodyPr>
          <a:lstStyle/>
          <a:p>
            <a:pPr algn="l">
              <a:lnSpc>
                <a:spcPct val="100000"/>
              </a:lnSpc>
            </a:pPr>
            <a:r>
              <a:rPr sz="1050" b="1" i="0">
                <a:solidFill>
                  <a:srgbClr val="FFFFFF"/>
                </a:solidFill>
                <a:latin typeface="Aptos"/>
              </a:rPr>
              <a:t>Status</a:t>
            </a:r>
          </a:p>
        </p:txBody>
      </p:sp>
      <p:sp>
        <p:nvSpPr>
          <p:cNvPr id="23" name="Rectangle 22"/>
          <p:cNvSpPr/>
          <p:nvPr/>
        </p:nvSpPr>
        <p:spPr>
          <a:xfrm>
            <a:off x="777240" y="1764792"/>
            <a:ext cx="7040880" cy="56692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1947672"/>
            <a:ext cx="2093976" cy="146304"/>
          </a:xfrm>
          <a:prstGeom prst="rect">
            <a:avLst/>
          </a:prstGeom>
          <a:noFill/>
        </p:spPr>
        <p:txBody>
          <a:bodyPr wrap="square" lIns="0" rIns="0" tIns="0" bIns="0" anchor="t">
            <a:spAutoFit/>
          </a:bodyPr>
          <a:lstStyle/>
          <a:p>
            <a:pPr algn="l">
              <a:lnSpc>
                <a:spcPct val="100000"/>
              </a:lnSpc>
            </a:pPr>
            <a:r>
              <a:rPr sz="1200" b="1" i="0">
                <a:solidFill>
                  <a:srgbClr val="17324D"/>
                </a:solidFill>
                <a:latin typeface="Aptos"/>
              </a:rPr>
              <a:t>NIST randomness</a:t>
            </a:r>
          </a:p>
        </p:txBody>
      </p:sp>
      <p:sp>
        <p:nvSpPr>
          <p:cNvPr id="25" name="TextBox 24"/>
          <p:cNvSpPr txBox="1"/>
          <p:nvPr/>
        </p:nvSpPr>
        <p:spPr>
          <a:xfrm>
            <a:off x="3090672" y="1947672"/>
            <a:ext cx="186537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15 tests</a:t>
            </a:r>
          </a:p>
        </p:txBody>
      </p:sp>
      <p:sp>
        <p:nvSpPr>
          <p:cNvPr id="26" name="TextBox 25"/>
          <p:cNvSpPr txBox="1"/>
          <p:nvPr/>
        </p:nvSpPr>
        <p:spPr>
          <a:xfrm>
            <a:off x="5102352" y="1947672"/>
            <a:ext cx="172821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15 / 15 passed</a:t>
            </a:r>
          </a:p>
        </p:txBody>
      </p:sp>
      <p:sp>
        <p:nvSpPr>
          <p:cNvPr id="27" name="TextBox 26"/>
          <p:cNvSpPr txBox="1"/>
          <p:nvPr/>
        </p:nvSpPr>
        <p:spPr>
          <a:xfrm>
            <a:off x="6976872" y="1911095"/>
            <a:ext cx="768096" cy="164592"/>
          </a:xfrm>
          <a:prstGeom prst="rect">
            <a:avLst/>
          </a:prstGeom>
          <a:noFill/>
        </p:spPr>
        <p:txBody>
          <a:bodyPr wrap="square" lIns="0" rIns="0" tIns="0" bIns="0" anchor="t">
            <a:spAutoFit/>
          </a:bodyPr>
          <a:lstStyle/>
          <a:p>
            <a:pPr algn="ctr">
              <a:lnSpc>
                <a:spcPct val="100000"/>
              </a:lnSpc>
            </a:pPr>
            <a:r>
              <a:rPr sz="1100" b="1" i="0">
                <a:solidFill>
                  <a:srgbClr val="2E8B57"/>
                </a:solidFill>
                <a:latin typeface="Aptos"/>
              </a:rPr>
              <a:t>PASS</a:t>
            </a:r>
          </a:p>
        </p:txBody>
      </p:sp>
      <p:sp>
        <p:nvSpPr>
          <p:cNvPr id="28" name="Rectangle 27"/>
          <p:cNvSpPr/>
          <p:nvPr/>
        </p:nvSpPr>
        <p:spPr>
          <a:xfrm>
            <a:off x="777240" y="2331720"/>
            <a:ext cx="7040880" cy="566928"/>
          </a:xfrm>
          <a:prstGeom prst="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 y="2514600"/>
            <a:ext cx="2093976" cy="146304"/>
          </a:xfrm>
          <a:prstGeom prst="rect">
            <a:avLst/>
          </a:prstGeom>
          <a:noFill/>
        </p:spPr>
        <p:txBody>
          <a:bodyPr wrap="square" lIns="0" rIns="0" tIns="0" bIns="0" anchor="t">
            <a:spAutoFit/>
          </a:bodyPr>
          <a:lstStyle/>
          <a:p>
            <a:pPr algn="l">
              <a:lnSpc>
                <a:spcPct val="100000"/>
              </a:lnSpc>
            </a:pPr>
            <a:r>
              <a:rPr sz="1200" b="1" i="0">
                <a:solidFill>
                  <a:srgbClr val="17324D"/>
                </a:solidFill>
                <a:latin typeface="Aptos"/>
              </a:rPr>
              <a:t>NPCR</a:t>
            </a:r>
          </a:p>
        </p:txBody>
      </p:sp>
      <p:sp>
        <p:nvSpPr>
          <p:cNvPr id="30" name="TextBox 29"/>
          <p:cNvSpPr txBox="1"/>
          <p:nvPr/>
        </p:nvSpPr>
        <p:spPr>
          <a:xfrm>
            <a:off x="3090672" y="2514600"/>
            <a:ext cx="186537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target 99.6094%</a:t>
            </a:r>
          </a:p>
        </p:txBody>
      </p:sp>
      <p:sp>
        <p:nvSpPr>
          <p:cNvPr id="31" name="TextBox 30"/>
          <p:cNvSpPr txBox="1"/>
          <p:nvPr/>
        </p:nvSpPr>
        <p:spPr>
          <a:xfrm>
            <a:off x="5102352" y="2514600"/>
            <a:ext cx="172821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99.6533%</a:t>
            </a:r>
          </a:p>
        </p:txBody>
      </p:sp>
      <p:sp>
        <p:nvSpPr>
          <p:cNvPr id="32" name="TextBox 31"/>
          <p:cNvSpPr txBox="1"/>
          <p:nvPr/>
        </p:nvSpPr>
        <p:spPr>
          <a:xfrm>
            <a:off x="6976872" y="2478024"/>
            <a:ext cx="768096" cy="164592"/>
          </a:xfrm>
          <a:prstGeom prst="rect">
            <a:avLst/>
          </a:prstGeom>
          <a:noFill/>
        </p:spPr>
        <p:txBody>
          <a:bodyPr wrap="square" lIns="0" rIns="0" tIns="0" bIns="0" anchor="t">
            <a:spAutoFit/>
          </a:bodyPr>
          <a:lstStyle/>
          <a:p>
            <a:pPr algn="ctr">
              <a:lnSpc>
                <a:spcPct val="100000"/>
              </a:lnSpc>
            </a:pPr>
            <a:r>
              <a:rPr sz="1100" b="1" i="0">
                <a:solidFill>
                  <a:srgbClr val="2E8B57"/>
                </a:solidFill>
                <a:latin typeface="Aptos"/>
              </a:rPr>
              <a:t>PASS</a:t>
            </a:r>
          </a:p>
        </p:txBody>
      </p:sp>
      <p:sp>
        <p:nvSpPr>
          <p:cNvPr id="33" name="Rectangle 32"/>
          <p:cNvSpPr/>
          <p:nvPr/>
        </p:nvSpPr>
        <p:spPr>
          <a:xfrm>
            <a:off x="777240" y="2898648"/>
            <a:ext cx="7040880" cy="56692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392" y="3081528"/>
            <a:ext cx="2093976" cy="146304"/>
          </a:xfrm>
          <a:prstGeom prst="rect">
            <a:avLst/>
          </a:prstGeom>
          <a:noFill/>
        </p:spPr>
        <p:txBody>
          <a:bodyPr wrap="square" lIns="0" rIns="0" tIns="0" bIns="0" anchor="t">
            <a:spAutoFit/>
          </a:bodyPr>
          <a:lstStyle/>
          <a:p>
            <a:pPr algn="l">
              <a:lnSpc>
                <a:spcPct val="100000"/>
              </a:lnSpc>
            </a:pPr>
            <a:r>
              <a:rPr sz="1200" b="1" i="0">
                <a:solidFill>
                  <a:srgbClr val="17324D"/>
                </a:solidFill>
                <a:latin typeface="Aptos"/>
              </a:rPr>
              <a:t>UACI</a:t>
            </a:r>
          </a:p>
        </p:txBody>
      </p:sp>
      <p:sp>
        <p:nvSpPr>
          <p:cNvPr id="35" name="TextBox 34"/>
          <p:cNvSpPr txBox="1"/>
          <p:nvPr/>
        </p:nvSpPr>
        <p:spPr>
          <a:xfrm>
            <a:off x="3090672" y="3081528"/>
            <a:ext cx="186537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target 33.4635%</a:t>
            </a:r>
          </a:p>
        </p:txBody>
      </p:sp>
      <p:sp>
        <p:nvSpPr>
          <p:cNvPr id="36" name="TextBox 35"/>
          <p:cNvSpPr txBox="1"/>
          <p:nvPr/>
        </p:nvSpPr>
        <p:spPr>
          <a:xfrm>
            <a:off x="5102352" y="3081528"/>
            <a:ext cx="172821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33.4887%</a:t>
            </a:r>
          </a:p>
        </p:txBody>
      </p:sp>
      <p:sp>
        <p:nvSpPr>
          <p:cNvPr id="37" name="TextBox 36"/>
          <p:cNvSpPr txBox="1"/>
          <p:nvPr/>
        </p:nvSpPr>
        <p:spPr>
          <a:xfrm>
            <a:off x="6976872" y="3044952"/>
            <a:ext cx="768096" cy="164592"/>
          </a:xfrm>
          <a:prstGeom prst="rect">
            <a:avLst/>
          </a:prstGeom>
          <a:noFill/>
        </p:spPr>
        <p:txBody>
          <a:bodyPr wrap="square" lIns="0" rIns="0" tIns="0" bIns="0" anchor="t">
            <a:spAutoFit/>
          </a:bodyPr>
          <a:lstStyle/>
          <a:p>
            <a:pPr algn="ctr">
              <a:lnSpc>
                <a:spcPct val="100000"/>
              </a:lnSpc>
            </a:pPr>
            <a:r>
              <a:rPr sz="1100" b="1" i="0">
                <a:solidFill>
                  <a:srgbClr val="2E8B57"/>
                </a:solidFill>
                <a:latin typeface="Aptos"/>
              </a:rPr>
              <a:t>PASS</a:t>
            </a:r>
          </a:p>
        </p:txBody>
      </p:sp>
      <p:sp>
        <p:nvSpPr>
          <p:cNvPr id="38" name="Rectangle 37"/>
          <p:cNvSpPr/>
          <p:nvPr/>
        </p:nvSpPr>
        <p:spPr>
          <a:xfrm>
            <a:off x="777240" y="3465576"/>
            <a:ext cx="7040880" cy="566928"/>
          </a:xfrm>
          <a:prstGeom prst="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 y="3648456"/>
            <a:ext cx="2093976" cy="146304"/>
          </a:xfrm>
          <a:prstGeom prst="rect">
            <a:avLst/>
          </a:prstGeom>
          <a:noFill/>
        </p:spPr>
        <p:txBody>
          <a:bodyPr wrap="square" lIns="0" rIns="0" tIns="0" bIns="0" anchor="t">
            <a:spAutoFit/>
          </a:bodyPr>
          <a:lstStyle/>
          <a:p>
            <a:pPr algn="l">
              <a:lnSpc>
                <a:spcPct val="100000"/>
              </a:lnSpc>
            </a:pPr>
            <a:r>
              <a:rPr sz="1200" b="1" i="0">
                <a:solidFill>
                  <a:srgbClr val="17324D"/>
                </a:solidFill>
                <a:latin typeface="Aptos"/>
              </a:rPr>
              <a:t>Information entropy</a:t>
            </a:r>
          </a:p>
        </p:txBody>
      </p:sp>
      <p:sp>
        <p:nvSpPr>
          <p:cNvPr id="40" name="TextBox 39"/>
          <p:cNvSpPr txBox="1"/>
          <p:nvPr/>
        </p:nvSpPr>
        <p:spPr>
          <a:xfrm>
            <a:off x="3090672" y="3648456"/>
            <a:ext cx="186537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max 8.0</a:t>
            </a:r>
          </a:p>
        </p:txBody>
      </p:sp>
      <p:sp>
        <p:nvSpPr>
          <p:cNvPr id="41" name="TextBox 40"/>
          <p:cNvSpPr txBox="1"/>
          <p:nvPr/>
        </p:nvSpPr>
        <p:spPr>
          <a:xfrm>
            <a:off x="5102352" y="3648456"/>
            <a:ext cx="172821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7.9994</a:t>
            </a:r>
          </a:p>
        </p:txBody>
      </p:sp>
      <p:sp>
        <p:nvSpPr>
          <p:cNvPr id="42" name="TextBox 41"/>
          <p:cNvSpPr txBox="1"/>
          <p:nvPr/>
        </p:nvSpPr>
        <p:spPr>
          <a:xfrm>
            <a:off x="6976872" y="3611880"/>
            <a:ext cx="768096" cy="164592"/>
          </a:xfrm>
          <a:prstGeom prst="rect">
            <a:avLst/>
          </a:prstGeom>
          <a:noFill/>
        </p:spPr>
        <p:txBody>
          <a:bodyPr wrap="square" lIns="0" rIns="0" tIns="0" bIns="0" anchor="t">
            <a:spAutoFit/>
          </a:bodyPr>
          <a:lstStyle/>
          <a:p>
            <a:pPr algn="ctr">
              <a:lnSpc>
                <a:spcPct val="100000"/>
              </a:lnSpc>
            </a:pPr>
            <a:r>
              <a:rPr sz="1100" b="1" i="0">
                <a:solidFill>
                  <a:srgbClr val="2E8B57"/>
                </a:solidFill>
                <a:latin typeface="Aptos"/>
              </a:rPr>
              <a:t>PASS</a:t>
            </a:r>
          </a:p>
        </p:txBody>
      </p:sp>
      <p:sp>
        <p:nvSpPr>
          <p:cNvPr id="43" name="Rectangle 42"/>
          <p:cNvSpPr/>
          <p:nvPr/>
        </p:nvSpPr>
        <p:spPr>
          <a:xfrm>
            <a:off x="777240" y="4032504"/>
            <a:ext cx="7040880" cy="566928"/>
          </a:xfrm>
          <a:prstGeom prst="rect">
            <a:avLst/>
          </a:prstGeom>
          <a:solidFill>
            <a:srgbClr val="FFFFFF"/>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0392" y="4215384"/>
            <a:ext cx="2093976" cy="146304"/>
          </a:xfrm>
          <a:prstGeom prst="rect">
            <a:avLst/>
          </a:prstGeom>
          <a:noFill/>
        </p:spPr>
        <p:txBody>
          <a:bodyPr wrap="square" lIns="0" rIns="0" tIns="0" bIns="0" anchor="t">
            <a:spAutoFit/>
          </a:bodyPr>
          <a:lstStyle/>
          <a:p>
            <a:pPr algn="l">
              <a:lnSpc>
                <a:spcPct val="100000"/>
              </a:lnSpc>
            </a:pPr>
            <a:r>
              <a:rPr sz="1200" b="1" i="0">
                <a:solidFill>
                  <a:srgbClr val="17324D"/>
                </a:solidFill>
                <a:latin typeface="Aptos"/>
              </a:rPr>
              <a:t>Key space</a:t>
            </a:r>
          </a:p>
        </p:txBody>
      </p:sp>
      <p:sp>
        <p:nvSpPr>
          <p:cNvPr id="45" name="TextBox 44"/>
          <p:cNvSpPr txBox="1"/>
          <p:nvPr/>
        </p:nvSpPr>
        <p:spPr>
          <a:xfrm>
            <a:off x="3090672" y="4215384"/>
            <a:ext cx="186537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brute force</a:t>
            </a:r>
          </a:p>
        </p:txBody>
      </p:sp>
      <p:sp>
        <p:nvSpPr>
          <p:cNvPr id="46" name="TextBox 45"/>
          <p:cNvSpPr txBox="1"/>
          <p:nvPr/>
        </p:nvSpPr>
        <p:spPr>
          <a:xfrm>
            <a:off x="5102352" y="4215384"/>
            <a:ext cx="1728216" cy="146304"/>
          </a:xfrm>
          <a:prstGeom prst="rect">
            <a:avLst/>
          </a:prstGeom>
          <a:noFill/>
        </p:spPr>
        <p:txBody>
          <a:bodyPr wrap="square" lIns="0" rIns="0" tIns="0" bIns="0" anchor="t">
            <a:spAutoFit/>
          </a:bodyPr>
          <a:lstStyle/>
          <a:p>
            <a:pPr algn="l">
              <a:lnSpc>
                <a:spcPct val="100000"/>
              </a:lnSpc>
            </a:pPr>
            <a:r>
              <a:rPr sz="1200" b="0" i="0">
                <a:solidFill>
                  <a:srgbClr val="243342"/>
                </a:solidFill>
                <a:latin typeface="Aptos"/>
              </a:rPr>
              <a:t>huge</a:t>
            </a:r>
          </a:p>
        </p:txBody>
      </p:sp>
      <p:sp>
        <p:nvSpPr>
          <p:cNvPr id="47" name="TextBox 46"/>
          <p:cNvSpPr txBox="1"/>
          <p:nvPr/>
        </p:nvSpPr>
        <p:spPr>
          <a:xfrm>
            <a:off x="6976872" y="4178808"/>
            <a:ext cx="768096" cy="164592"/>
          </a:xfrm>
          <a:prstGeom prst="rect">
            <a:avLst/>
          </a:prstGeom>
          <a:noFill/>
        </p:spPr>
        <p:txBody>
          <a:bodyPr wrap="square" lIns="0" rIns="0" tIns="0" bIns="0" anchor="t">
            <a:spAutoFit/>
          </a:bodyPr>
          <a:lstStyle/>
          <a:p>
            <a:pPr algn="ctr">
              <a:lnSpc>
                <a:spcPct val="100000"/>
              </a:lnSpc>
            </a:pPr>
            <a:r>
              <a:rPr sz="1100" b="1" i="0">
                <a:solidFill>
                  <a:srgbClr val="2E8B57"/>
                </a:solidFill>
                <a:latin typeface="Aptos"/>
              </a:rPr>
              <a:t>PASS</a:t>
            </a:r>
          </a:p>
        </p:txBody>
      </p:sp>
      <p:sp>
        <p:nvSpPr>
          <p:cNvPr id="48" name="Rounded Rectangle 47"/>
          <p:cNvSpPr/>
          <p:nvPr/>
        </p:nvSpPr>
        <p:spPr>
          <a:xfrm>
            <a:off x="8458200" y="1481328"/>
            <a:ext cx="2697480" cy="2377440"/>
          </a:xfrm>
          <a:prstGeom prst="roundRect">
            <a:avLst/>
          </a:prstGeom>
          <a:solidFill>
            <a:srgbClr val="E8F6F5"/>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68512" y="1737360"/>
            <a:ext cx="2286000" cy="320040"/>
          </a:xfrm>
          <a:prstGeom prst="rect">
            <a:avLst/>
          </a:prstGeom>
          <a:noFill/>
        </p:spPr>
        <p:txBody>
          <a:bodyPr wrap="square" lIns="54864" rIns="54864" tIns="54864" bIns="54864" anchor="t">
            <a:spAutoFit/>
          </a:bodyPr>
          <a:lstStyle/>
          <a:p>
            <a:pPr algn="ctr">
              <a:lnSpc>
                <a:spcPct val="100000"/>
              </a:lnSpc>
            </a:pPr>
            <a:r>
              <a:rPr sz="1800" b="1" i="0">
                <a:solidFill>
                  <a:srgbClr val="17324D"/>
                </a:solidFill>
                <a:latin typeface="Aptos"/>
              </a:rPr>
              <a:t>What this means</a:t>
            </a:r>
          </a:p>
        </p:txBody>
      </p:sp>
      <p:sp>
        <p:nvSpPr>
          <p:cNvPr id="50" name="TextBox 49"/>
          <p:cNvSpPr txBox="1"/>
          <p:nvPr/>
        </p:nvSpPr>
        <p:spPr>
          <a:xfrm>
            <a:off x="8732520" y="2267712"/>
            <a:ext cx="2148840" cy="1051560"/>
          </a:xfrm>
          <a:prstGeom prst="rect">
            <a:avLst/>
          </a:prstGeom>
          <a:noFill/>
        </p:spPr>
        <p:txBody>
          <a:bodyPr wrap="square" lIns="54864" rIns="54864" tIns="54864" bIns="54864" anchor="t">
            <a:spAutoFit/>
          </a:bodyPr>
          <a:lstStyle/>
          <a:p>
            <a:pPr algn="ctr">
              <a:lnSpc>
                <a:spcPct val="100000"/>
              </a:lnSpc>
            </a:pPr>
            <a:r>
              <a:rPr sz="1400" b="0" i="0">
                <a:solidFill>
                  <a:srgbClr val="243342"/>
                </a:solidFill>
                <a:latin typeface="Aptos"/>
              </a:rPr>
              <a:t>The cipher behaves like noise: flat histogram, low correlation, high sensitivity to tiny plaintext/key changes.</a:t>
            </a:r>
          </a:p>
        </p:txBody>
      </p:sp>
      <p:sp>
        <p:nvSpPr>
          <p:cNvPr id="51" name="TextBox 50"/>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Tables 1, 5, 6, 8 · Section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7498079" cy="457200"/>
          </a:xfrm>
          <a:prstGeom prst="rect">
            <a:avLst/>
          </a:prstGeom>
          <a:noFill/>
        </p:spPr>
        <p:txBody>
          <a:bodyPr wrap="square" lIns="54864" rIns="54864" tIns="54864" bIns="54864" anchor="t">
            <a:spAutoFit/>
          </a:bodyPr>
          <a:lstStyle/>
          <a:p>
            <a:pPr algn="l">
              <a:lnSpc>
                <a:spcPct val="100000"/>
              </a:lnSpc>
            </a:pPr>
            <a:r>
              <a:rPr sz="2600" b="1" i="0">
                <a:solidFill>
                  <a:srgbClr val="17324D"/>
                </a:solidFill>
                <a:latin typeface="Aptos Display"/>
              </a:rPr>
              <a:t>Limitation and take-home</a:t>
            </a:r>
          </a:p>
        </p:txBody>
      </p:sp>
      <p:sp>
        <p:nvSpPr>
          <p:cNvPr id="3" name="Rounded Rectangle 2"/>
          <p:cNvSpPr/>
          <p:nvPr/>
        </p:nvSpPr>
        <p:spPr>
          <a:xfrm>
            <a:off x="8778240" y="283464"/>
            <a:ext cx="2880360" cy="347472"/>
          </a:xfrm>
          <a:prstGeom prst="round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51392" y="310896"/>
            <a:ext cx="2734056" cy="246888"/>
          </a:xfrm>
          <a:prstGeom prst="rect">
            <a:avLst/>
          </a:prstGeom>
          <a:noFill/>
        </p:spPr>
        <p:txBody>
          <a:bodyPr wrap="square" lIns="0" rIns="0" tIns="0" bIns="0" anchor="t">
            <a:spAutoFit/>
          </a:bodyPr>
          <a:lstStyle/>
          <a:p>
            <a:pPr algn="ctr">
              <a:lnSpc>
                <a:spcPct val="100000"/>
              </a:lnSpc>
            </a:pPr>
            <a:r>
              <a:rPr sz="1100" b="1" i="0">
                <a:solidFill>
                  <a:srgbClr val="FFFFFF"/>
                </a:solidFill>
                <a:latin typeface="Aptos"/>
              </a:rPr>
              <a:t>Maria · 0:30 · Closing</a:t>
            </a:r>
          </a:p>
        </p:txBody>
      </p:sp>
      <p:sp>
        <p:nvSpPr>
          <p:cNvPr id="5" name="Rectangle 4"/>
          <p:cNvSpPr/>
          <p:nvPr/>
        </p:nvSpPr>
        <p:spPr>
          <a:xfrm>
            <a:off x="457200" y="841248"/>
            <a:ext cx="11274552" cy="32004"/>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28232"/>
            <a:ext cx="8138160" cy="201168"/>
          </a:xfrm>
          <a:prstGeom prst="rect">
            <a:avLst/>
          </a:prstGeom>
          <a:noFill/>
        </p:spPr>
        <p:txBody>
          <a:bodyPr wrap="square" lIns="0" rIns="0" tIns="0" bIns="0" anchor="t">
            <a:spAutoFit/>
          </a:bodyPr>
          <a:lstStyle/>
          <a:p>
            <a:pPr algn="l">
              <a:lnSpc>
                <a:spcPct val="100000"/>
              </a:lnSpc>
            </a:pPr>
            <a:r>
              <a:rPr sz="900" b="0" i="0">
                <a:solidFill>
                  <a:srgbClr val="6B7785"/>
                </a:solidFill>
                <a:latin typeface="Aptos"/>
              </a:rPr>
              <a:t>CMP4221 · DWT Encryption · Xu et al. · ACM TOMM 2026</a:t>
            </a:r>
          </a:p>
        </p:txBody>
      </p:sp>
      <p:sp>
        <p:nvSpPr>
          <p:cNvPr id="7" name="Oval 6"/>
          <p:cNvSpPr/>
          <p:nvPr/>
        </p:nvSpPr>
        <p:spPr>
          <a:xfrm>
            <a:off x="914400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9030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3660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8291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0"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21824"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68128"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314432"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60736" y="6446520"/>
            <a:ext cx="64008" cy="64008"/>
          </a:xfrm>
          <a:prstGeom prst="ellipse">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0" y="6400800"/>
            <a:ext cx="594360" cy="201168"/>
          </a:xfrm>
          <a:prstGeom prst="rect">
            <a:avLst/>
          </a:prstGeom>
          <a:noFill/>
        </p:spPr>
        <p:txBody>
          <a:bodyPr wrap="square" lIns="0" rIns="0" tIns="0" bIns="0" anchor="t">
            <a:spAutoFit/>
          </a:bodyPr>
          <a:lstStyle/>
          <a:p>
            <a:pPr algn="r">
              <a:lnSpc>
                <a:spcPct val="100000"/>
              </a:lnSpc>
            </a:pPr>
            <a:r>
              <a:rPr sz="900" b="0" i="0">
                <a:solidFill>
                  <a:srgbClr val="6B7785"/>
                </a:solidFill>
                <a:latin typeface="Aptos"/>
              </a:rPr>
              <a:t>10/10</a:t>
            </a:r>
          </a:p>
        </p:txBody>
      </p:sp>
      <p:sp>
        <p:nvSpPr>
          <p:cNvPr id="18" name="Rounded Rectangle 17"/>
          <p:cNvSpPr/>
          <p:nvPr/>
        </p:nvSpPr>
        <p:spPr>
          <a:xfrm>
            <a:off x="914400" y="1234440"/>
            <a:ext cx="2971800" cy="1234440"/>
          </a:xfrm>
          <a:prstGeom prst="roundRect">
            <a:avLst/>
          </a:prstGeom>
          <a:solidFill>
            <a:srgbClr val="E8F6F5"/>
          </a:solidFill>
          <a:ln w="12700">
            <a:solidFill>
              <a:srgbClr val="0C7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1499616"/>
            <a:ext cx="2651760" cy="384048"/>
          </a:xfrm>
          <a:prstGeom prst="rect">
            <a:avLst/>
          </a:prstGeom>
          <a:noFill/>
        </p:spPr>
        <p:txBody>
          <a:bodyPr wrap="square" lIns="54864" rIns="54864" tIns="54864" bIns="54864" anchor="t">
            <a:spAutoFit/>
          </a:bodyPr>
          <a:lstStyle/>
          <a:p>
            <a:pPr algn="ctr">
              <a:lnSpc>
                <a:spcPct val="100000"/>
              </a:lnSpc>
            </a:pPr>
            <a:r>
              <a:rPr sz="3200" b="1" i="0">
                <a:solidFill>
                  <a:srgbClr val="0C7C7B"/>
                </a:solidFill>
                <a:latin typeface="Aptos"/>
              </a:rPr>
              <a:t>32 dB</a:t>
            </a:r>
          </a:p>
        </p:txBody>
      </p:sp>
      <p:sp>
        <p:nvSpPr>
          <p:cNvPr id="20" name="TextBox 19"/>
          <p:cNvSpPr txBox="1"/>
          <p:nvPr/>
        </p:nvSpPr>
        <p:spPr>
          <a:xfrm>
            <a:off x="1078992" y="2029968"/>
            <a:ext cx="2651760" cy="164592"/>
          </a:xfrm>
          <a:prstGeom prst="rect">
            <a:avLst/>
          </a:prstGeom>
          <a:noFill/>
        </p:spPr>
        <p:txBody>
          <a:bodyPr wrap="square" lIns="0" rIns="0" tIns="0" bIns="0" anchor="t">
            <a:spAutoFit/>
          </a:bodyPr>
          <a:lstStyle/>
          <a:p>
            <a:pPr algn="ctr">
              <a:lnSpc>
                <a:spcPct val="100000"/>
              </a:lnSpc>
            </a:pPr>
            <a:r>
              <a:rPr sz="1300" b="0" i="0">
                <a:solidFill>
                  <a:srgbClr val="6B7785"/>
                </a:solidFill>
                <a:latin typeface="Aptos"/>
              </a:rPr>
              <a:t>PSNR</a:t>
            </a:r>
          </a:p>
        </p:txBody>
      </p:sp>
      <p:sp>
        <p:nvSpPr>
          <p:cNvPr id="21" name="Rounded Rectangle 20"/>
          <p:cNvSpPr/>
          <p:nvPr/>
        </p:nvSpPr>
        <p:spPr>
          <a:xfrm>
            <a:off x="4663440" y="1234440"/>
            <a:ext cx="2971800" cy="123444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28031" y="1499616"/>
            <a:ext cx="2651760" cy="384048"/>
          </a:xfrm>
          <a:prstGeom prst="rect">
            <a:avLst/>
          </a:prstGeom>
          <a:noFill/>
        </p:spPr>
        <p:txBody>
          <a:bodyPr wrap="square" lIns="54864" rIns="54864" tIns="54864" bIns="54864" anchor="t">
            <a:spAutoFit/>
          </a:bodyPr>
          <a:lstStyle/>
          <a:p>
            <a:pPr algn="ctr">
              <a:lnSpc>
                <a:spcPct val="100000"/>
              </a:lnSpc>
            </a:pPr>
            <a:r>
              <a:rPr sz="3200" b="1" i="0">
                <a:solidFill>
                  <a:srgbClr val="0C7C7B"/>
                </a:solidFill>
                <a:latin typeface="Aptos"/>
              </a:rPr>
              <a:t>7.9994</a:t>
            </a:r>
          </a:p>
        </p:txBody>
      </p:sp>
      <p:sp>
        <p:nvSpPr>
          <p:cNvPr id="23" name="TextBox 22"/>
          <p:cNvSpPr txBox="1"/>
          <p:nvPr/>
        </p:nvSpPr>
        <p:spPr>
          <a:xfrm>
            <a:off x="4828031" y="2029968"/>
            <a:ext cx="2651760" cy="164592"/>
          </a:xfrm>
          <a:prstGeom prst="rect">
            <a:avLst/>
          </a:prstGeom>
          <a:noFill/>
        </p:spPr>
        <p:txBody>
          <a:bodyPr wrap="square" lIns="0" rIns="0" tIns="0" bIns="0" anchor="t">
            <a:spAutoFit/>
          </a:bodyPr>
          <a:lstStyle/>
          <a:p>
            <a:pPr algn="ctr">
              <a:lnSpc>
                <a:spcPct val="100000"/>
              </a:lnSpc>
            </a:pPr>
            <a:r>
              <a:rPr sz="1300" b="0" i="0">
                <a:solidFill>
                  <a:srgbClr val="6B7785"/>
                </a:solidFill>
                <a:latin typeface="Aptos"/>
              </a:rPr>
              <a:t>entropy</a:t>
            </a:r>
          </a:p>
        </p:txBody>
      </p:sp>
      <p:sp>
        <p:nvSpPr>
          <p:cNvPr id="24" name="Rounded Rectangle 23"/>
          <p:cNvSpPr/>
          <p:nvPr/>
        </p:nvSpPr>
        <p:spPr>
          <a:xfrm>
            <a:off x="8412480" y="1234440"/>
            <a:ext cx="2971800" cy="1234440"/>
          </a:xfrm>
          <a:prstGeom prst="roundRect">
            <a:avLst/>
          </a:prstGeom>
          <a:solidFill>
            <a:srgbClr val="F6F8F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77072" y="1499616"/>
            <a:ext cx="2651760" cy="384048"/>
          </a:xfrm>
          <a:prstGeom prst="rect">
            <a:avLst/>
          </a:prstGeom>
          <a:noFill/>
        </p:spPr>
        <p:txBody>
          <a:bodyPr wrap="square" lIns="54864" rIns="54864" tIns="54864" bIns="54864" anchor="t">
            <a:spAutoFit/>
          </a:bodyPr>
          <a:lstStyle/>
          <a:p>
            <a:pPr algn="ctr">
              <a:lnSpc>
                <a:spcPct val="100000"/>
              </a:lnSpc>
            </a:pPr>
            <a:r>
              <a:rPr sz="3200" b="1" i="0">
                <a:solidFill>
                  <a:srgbClr val="2E8B57"/>
                </a:solidFill>
                <a:latin typeface="Aptos"/>
              </a:rPr>
              <a:t>99.65%</a:t>
            </a:r>
          </a:p>
        </p:txBody>
      </p:sp>
      <p:sp>
        <p:nvSpPr>
          <p:cNvPr id="26" name="TextBox 25"/>
          <p:cNvSpPr txBox="1"/>
          <p:nvPr/>
        </p:nvSpPr>
        <p:spPr>
          <a:xfrm>
            <a:off x="8577072" y="2029968"/>
            <a:ext cx="2651760" cy="164592"/>
          </a:xfrm>
          <a:prstGeom prst="rect">
            <a:avLst/>
          </a:prstGeom>
          <a:noFill/>
        </p:spPr>
        <p:txBody>
          <a:bodyPr wrap="square" lIns="0" rIns="0" tIns="0" bIns="0" anchor="t">
            <a:spAutoFit/>
          </a:bodyPr>
          <a:lstStyle/>
          <a:p>
            <a:pPr algn="ctr">
              <a:lnSpc>
                <a:spcPct val="100000"/>
              </a:lnSpc>
            </a:pPr>
            <a:r>
              <a:rPr sz="1300" b="0" i="0">
                <a:solidFill>
                  <a:srgbClr val="6B7785"/>
                </a:solidFill>
                <a:latin typeface="Aptos"/>
              </a:rPr>
              <a:t>NPCR</a:t>
            </a:r>
          </a:p>
        </p:txBody>
      </p:sp>
      <p:sp>
        <p:nvSpPr>
          <p:cNvPr id="27" name="Rounded Rectangle 26"/>
          <p:cNvSpPr/>
          <p:nvPr/>
        </p:nvSpPr>
        <p:spPr>
          <a:xfrm>
            <a:off x="914400" y="3063240"/>
            <a:ext cx="4892040" cy="1051560"/>
          </a:xfrm>
          <a:prstGeom prst="roundRect">
            <a:avLst/>
          </a:prstGeom>
          <a:solidFill>
            <a:srgbClr val="FFF4DA"/>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3063240"/>
            <a:ext cx="73152" cy="1051560"/>
          </a:xfrm>
          <a:prstGeom prst="rect">
            <a:avLst/>
          </a:prstGeom>
          <a:solidFill>
            <a:srgbClr val="D69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992" y="3172968"/>
            <a:ext cx="4599431" cy="320040"/>
          </a:xfrm>
          <a:prstGeom prst="rect">
            <a:avLst/>
          </a:prstGeom>
          <a:noFill/>
        </p:spPr>
        <p:txBody>
          <a:bodyPr wrap="square" lIns="54864" rIns="54864" tIns="54864" bIns="54864" anchor="t">
            <a:spAutoFit/>
          </a:bodyPr>
          <a:lstStyle/>
          <a:p>
            <a:pPr algn="l">
              <a:lnSpc>
                <a:spcPct val="100000"/>
              </a:lnSpc>
            </a:pPr>
            <a:r>
              <a:rPr sz="1800" b="1" i="0">
                <a:solidFill>
                  <a:srgbClr val="17324D"/>
                </a:solidFill>
                <a:latin typeface="Aptos"/>
              </a:rPr>
              <a:t>Limitation</a:t>
            </a:r>
          </a:p>
        </p:txBody>
      </p:sp>
      <p:sp>
        <p:nvSpPr>
          <p:cNvPr id="30" name="TextBox 29"/>
          <p:cNvSpPr txBox="1"/>
          <p:nvPr/>
        </p:nvSpPr>
        <p:spPr>
          <a:xfrm>
            <a:off x="1078992" y="3538728"/>
            <a:ext cx="4599431" cy="484631"/>
          </a:xfrm>
          <a:prstGeom prst="rect">
            <a:avLst/>
          </a:prstGeom>
          <a:noFill/>
        </p:spPr>
        <p:txBody>
          <a:bodyPr wrap="square" lIns="54864" rIns="54864" tIns="54864" bIns="54864" anchor="t">
            <a:spAutoFit/>
          </a:bodyPr>
          <a:lstStyle/>
          <a:p>
            <a:pPr algn="l">
              <a:lnSpc>
                <a:spcPct val="100000"/>
              </a:lnSpc>
            </a:pPr>
            <a:r>
              <a:rPr sz="1500" b="0" i="0">
                <a:solidFill>
                  <a:srgbClr val="243342"/>
                </a:solidFill>
                <a:latin typeface="Aptos"/>
              </a:rPr>
              <a:t>Zero-padding wastes cube space when image sizes differ. The authors flag this for future work.</a:t>
            </a:r>
          </a:p>
        </p:txBody>
      </p:sp>
      <p:sp>
        <p:nvSpPr>
          <p:cNvPr id="31" name="Rounded Rectangle 30"/>
          <p:cNvSpPr/>
          <p:nvPr/>
        </p:nvSpPr>
        <p:spPr>
          <a:xfrm>
            <a:off x="6309360" y="3063240"/>
            <a:ext cx="4892040" cy="1051560"/>
          </a:xfrm>
          <a:prstGeom prst="roundRect">
            <a:avLst/>
          </a:prstGeom>
          <a:solidFill>
            <a:srgbClr val="E8F6F5"/>
          </a:solidFill>
          <a:ln w="12700">
            <a:solidFill>
              <a:srgbClr val="D9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063240"/>
            <a:ext cx="73152" cy="1051560"/>
          </a:xfrm>
          <a:prstGeom prst="rect">
            <a:avLst/>
          </a:prstGeom>
          <a:solidFill>
            <a:srgbClr val="0C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3952" y="3172968"/>
            <a:ext cx="4599431" cy="320040"/>
          </a:xfrm>
          <a:prstGeom prst="rect">
            <a:avLst/>
          </a:prstGeom>
          <a:noFill/>
        </p:spPr>
        <p:txBody>
          <a:bodyPr wrap="square" lIns="54864" rIns="54864" tIns="54864" bIns="54864" anchor="t">
            <a:spAutoFit/>
          </a:bodyPr>
          <a:lstStyle/>
          <a:p>
            <a:pPr algn="l">
              <a:lnSpc>
                <a:spcPct val="100000"/>
              </a:lnSpc>
            </a:pPr>
            <a:r>
              <a:rPr sz="1800" b="1" i="0">
                <a:solidFill>
                  <a:srgbClr val="17324D"/>
                </a:solidFill>
                <a:latin typeface="Aptos"/>
              </a:rPr>
              <a:t>Take-home</a:t>
            </a:r>
          </a:p>
        </p:txBody>
      </p:sp>
      <p:sp>
        <p:nvSpPr>
          <p:cNvPr id="34" name="TextBox 33"/>
          <p:cNvSpPr txBox="1"/>
          <p:nvPr/>
        </p:nvSpPr>
        <p:spPr>
          <a:xfrm>
            <a:off x="6473952" y="3538728"/>
            <a:ext cx="4599431" cy="484631"/>
          </a:xfrm>
          <a:prstGeom prst="rect">
            <a:avLst/>
          </a:prstGeom>
          <a:noFill/>
        </p:spPr>
        <p:txBody>
          <a:bodyPr wrap="square" lIns="54864" rIns="54864" tIns="54864" bIns="54864" anchor="t">
            <a:spAutoFit/>
          </a:bodyPr>
          <a:lstStyle/>
          <a:p>
            <a:pPr algn="l">
              <a:lnSpc>
                <a:spcPct val="100000"/>
              </a:lnSpc>
            </a:pPr>
            <a:r>
              <a:rPr sz="1500" b="0" i="0">
                <a:solidFill>
                  <a:srgbClr val="243342"/>
                </a:solidFill>
                <a:latin typeface="Aptos"/>
              </a:rPr>
              <a:t>DWT + chaos gives compression and encryption in one pipeline for multiple color images.</a:t>
            </a:r>
          </a:p>
        </p:txBody>
      </p:sp>
      <p:sp>
        <p:nvSpPr>
          <p:cNvPr id="35" name="TextBox 34"/>
          <p:cNvSpPr txBox="1"/>
          <p:nvPr/>
        </p:nvSpPr>
        <p:spPr>
          <a:xfrm>
            <a:off x="914400" y="5074920"/>
            <a:ext cx="10332720" cy="384048"/>
          </a:xfrm>
          <a:prstGeom prst="rect">
            <a:avLst/>
          </a:prstGeom>
          <a:noFill/>
        </p:spPr>
        <p:txBody>
          <a:bodyPr wrap="square" lIns="54864" rIns="54864" tIns="54864" bIns="54864" anchor="t">
            <a:spAutoFit/>
          </a:bodyPr>
          <a:lstStyle/>
          <a:p>
            <a:pPr algn="ctr">
              <a:lnSpc>
                <a:spcPct val="100000"/>
              </a:lnSpc>
            </a:pPr>
            <a:r>
              <a:rPr sz="3000" b="1" i="0">
                <a:solidFill>
                  <a:srgbClr val="17324D"/>
                </a:solidFill>
                <a:latin typeface="Aptos Display"/>
              </a:rPr>
              <a:t>Questions?</a:t>
            </a:r>
          </a:p>
        </p:txBody>
      </p:sp>
      <p:sp>
        <p:nvSpPr>
          <p:cNvPr id="36" name="TextBox 35"/>
          <p:cNvSpPr txBox="1"/>
          <p:nvPr/>
        </p:nvSpPr>
        <p:spPr>
          <a:xfrm>
            <a:off x="640080" y="6053328"/>
            <a:ext cx="10927080" cy="201168"/>
          </a:xfrm>
          <a:prstGeom prst="rect">
            <a:avLst/>
          </a:prstGeom>
          <a:noFill/>
        </p:spPr>
        <p:txBody>
          <a:bodyPr wrap="square" lIns="0" rIns="0" tIns="0" bIns="0" anchor="t">
            <a:spAutoFit/>
          </a:bodyPr>
          <a:lstStyle/>
          <a:p>
            <a:pPr algn="l">
              <a:lnSpc>
                <a:spcPct val="100000"/>
              </a:lnSpc>
            </a:pPr>
            <a:r>
              <a:rPr sz="950" b="0" i="1">
                <a:solidFill>
                  <a:srgbClr val="6B7785"/>
                </a:solidFill>
                <a:latin typeface="Aptos"/>
              </a:rPr>
              <a:t>Ref: Section 7, 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CMP4221 - DWT Encryption Presentation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