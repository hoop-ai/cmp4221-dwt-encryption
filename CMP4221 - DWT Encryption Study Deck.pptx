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Study deck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Requirement proof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Paper identity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Problem framing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DWT formula and LL-only compression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Chaotic key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Full pipeline recipe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Cube sizing and zero-padding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Confusion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Diffusion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Metric: PSNR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PSNR 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NIST randomness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Differential attack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Information entropy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Speed and efficiency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Likely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243342"/>
                </a:solidFill>
                <a:latin typeface="Aptos"/>
              </a:rPr>
              <a:t>Rehearsal checklist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FE7E5"/>
                </a:solidFill>
                <a:latin typeface="Aptos"/>
              </a:rPr>
              <a:t>CMP4221 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97840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 i="0">
                <a:solidFill>
                  <a:srgbClr val="FFFFFF"/>
                </a:solidFill>
                <a:latin typeface="Aptos Display"/>
              </a:rPr>
              <a:t>DWT Encryption</a:t>
            </a:r>
          </a:p>
          <a:p>
            <a:pPr algn="l">
              <a:lnSpc>
                <a:spcPct val="90000"/>
              </a:lnSpc>
            </a:pPr>
            <a:r>
              <a:rPr sz="4600" b="1" i="0">
                <a:solidFill>
                  <a:srgbClr val="FFFFFF"/>
                </a:solidFill>
                <a:latin typeface="Aptos Display"/>
              </a:rPr>
              <a:t>backup explanations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988552" y="3721608"/>
            <a:ext cx="1645920" cy="1143000"/>
          </a:xfrm>
          <a:prstGeom prst="rect">
            <a:avLst/>
          </a:prstGeom>
          <a:solidFill>
            <a:srgbClr val="D9EEEE"/>
          </a:solidFill>
          <a:ln w="12700">
            <a:solidFill>
              <a:srgbClr val="8F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0536" y="3803904"/>
            <a:ext cx="1645920" cy="1143000"/>
          </a:xfrm>
          <a:prstGeom prst="rect">
            <a:avLst/>
          </a:prstGeom>
          <a:solidFill>
            <a:srgbClr val="E2F3F2"/>
          </a:solidFill>
          <a:ln w="12700">
            <a:solidFill>
              <a:srgbClr val="8F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32520" y="3886200"/>
            <a:ext cx="1645920" cy="1143000"/>
          </a:xfrm>
          <a:prstGeom prst="rect">
            <a:avLst/>
          </a:prstGeom>
          <a:solidFill>
            <a:srgbClr val="2C6F83"/>
          </a:solidFill>
          <a:ln w="12700">
            <a:solidFill>
              <a:srgbClr val="8F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5672" y="4293108"/>
            <a:ext cx="149961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7324D"/>
                </a:solidFill>
                <a:latin typeface="Aptos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413248"/>
            <a:ext cx="98755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D7E8F6"/>
                </a:solidFill>
                <a:latin typeface="Aptos"/>
              </a:rPr>
              <a:t>Use this for rehearsal, defense, and Q&amp;A. Do not present all of it in the 10-minute slot.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Requirement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2/18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89919" cy="42062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62456"/>
            <a:ext cx="31455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1362456"/>
            <a:ext cx="735177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55064"/>
            <a:ext cx="1078991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73936"/>
            <a:ext cx="31455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1773936"/>
            <a:ext cx="735177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ACM Transactions on Multimedia Computing, Communications, and Applications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75688"/>
            <a:ext cx="10789919" cy="420624"/>
          </a:xfrm>
          <a:prstGeom prst="rect">
            <a:avLst/>
          </a:prstGeom>
          <a:solidFill>
            <a:srgbClr val="F6F8FA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194560"/>
            <a:ext cx="31455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2194560"/>
            <a:ext cx="735177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Crossref: online 2026-02-27; print 2026-03-31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96312"/>
            <a:ext cx="1078991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15184"/>
            <a:ext cx="31455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DOI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2615184"/>
            <a:ext cx="735177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10.1145/3769123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16936"/>
            <a:ext cx="10789919" cy="420624"/>
          </a:xfrm>
          <a:prstGeom prst="rect">
            <a:avLst/>
          </a:prstGeom>
          <a:solidFill>
            <a:srgbClr val="F6F8FA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035808"/>
            <a:ext cx="31455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Main deck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3035808"/>
            <a:ext cx="735177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10 slides; Abdul 1-5; Maria 6-10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37560"/>
            <a:ext cx="1078991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456432"/>
            <a:ext cx="31455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Required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3456432"/>
            <a:ext cx="735177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Novelty slide 4; methodology slides 5-7; findings slides 8-9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Paper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3/18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Title: Multi-Image Encryption Scheme Based on Chaotic Pseudo-Random Signal Generator and DWT Compression.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Authors: Yidan Xu, Suo Gao, Yinghong Cao, Jun Mou.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Article 82, pages 1-20, ACM TOMM Vol. 22 Issue 3.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Core topic: compress multiple color images, merge them into a cube, then encrypt with chaos.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Do not use Options/3762860.fm.pdf as the article source; it is issue front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4/18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Exam phrase: the paper combines compression and encryption instead of treating them as separate afterthoughts.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3337560" cy="12344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1234440"/>
          </a:xfrm>
          <a:prstGeom prst="rect">
            <a:avLst/>
          </a:prstGeom>
          <a:solidFill>
            <a:srgbClr val="0C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344168"/>
            <a:ext cx="30449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324D"/>
                </a:solidFill>
                <a:latin typeface="Aptos"/>
              </a:rPr>
              <a:t>Bandwidth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09928"/>
            <a:ext cx="3044952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43342"/>
                </a:solidFill>
                <a:latin typeface="Aptos"/>
              </a:rPr>
              <a:t>Multi-color images are large because every pixel has R, G, and B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337560" cy="12344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73152" cy="12344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344168"/>
            <a:ext cx="30449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324D"/>
                </a:solidFill>
                <a:latin typeface="Aptos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1709928"/>
            <a:ext cx="3044952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43342"/>
                </a:solidFill>
                <a:latin typeface="Aptos"/>
              </a:rPr>
              <a:t>Visible image content must become unreadable before transmission.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337560" cy="12344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73152" cy="1234440"/>
          </a:xfrm>
          <a:prstGeom prst="rect">
            <a:avLst/>
          </a:prstGeom>
          <a:solidFill>
            <a:srgbClr val="D69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344168"/>
            <a:ext cx="30449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324D"/>
                </a:solidFill>
                <a:latin typeface="Aptos"/>
              </a:rPr>
              <a:t>Batch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709928"/>
            <a:ext cx="3044952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43342"/>
                </a:solidFill>
                <a:latin typeface="Aptos"/>
              </a:rPr>
              <a:t>Multiple images need one efficient workflow instead of repeated single-image encryption.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DWT formula and LL-only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5/18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For each channel: [LL, LH, HL, HH] = DWT(channel).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LL = low-frequency approximation. It keeps most visible structure.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LH, HL, HH = detail bands. They carry edge/detail information.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Keeping LL only gives half height and half width, so area becomes 1/4.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Recovery is lossy, but the paper reports PSNR above 32 dB.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Chaotic key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6/18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The chaotic map is deterministic: same key gives the same sequence.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It is sensitive: a tiny initial-value change gives a totally different sequence.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Paper parameters include a, b, c, d, k1, k2 and initial values x0, y0, z0.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These sequences drive both position swaps and XOR diffusion.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Security claim depends on randomness tests and key sensitivity.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Full pipeline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7/18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1. Split every color image into R, G, B channels.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2. Apply DWT to each channel and keep LL.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3. Stack all LL data into cube C.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4. Generate plaintext-related chaotic parameters.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5. Confusion swaps positions; diffusion changes values.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6. Transmit cipher cube D; receiver reverses the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Cube sizing and zero-padding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8/18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Each compressed image has size hi/2 by wi/2 by li.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The cube width and height follow the largest compressed images in the batch.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Smaller images need padding so all data fits into the shared cube shape.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Limitation: padding takes extra space and reduces efficiency for mixed-size batches.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Future-work line: reduce extra-space utilization for more robust, less resource-intensive encryption.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Confusion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9/18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Purpose: change where pixels are.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Input: plaintext cube C.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Chaotic sequences become coordinate offsets S1, T1, U1.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For each pixel (i, j, k), compare coordinates against offsets.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Nine swap cases move pixels into new cube positions.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Output: C-prime, a position-scrambled cube.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Diffusion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10/18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Purpose: change pixel values.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Flatten C-prime into vector V.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First value XORs with a chaotic seed.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Later values use index mod 3 to select X2, Y2, or Z2.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Each output also depends on the previous output, creating a cascade.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Output: cipher cube 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Metric: PSNR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11/18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PSNR = Peak Signal-to-Noise Ratio.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Unit: decibels.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Higher PSNR means reconstructed image is closer to the original.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The paper says around 30 dB is generally acceptable visual recovery.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Reported result: 32.0601 dB after compression and encryption/decryption.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PSNR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12/18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8229600" cy="42062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62456"/>
            <a:ext cx="534009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Scheme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362456"/>
            <a:ext cx="259689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PSNR (dB)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55064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73936"/>
            <a:ext cx="53400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Proposed scheme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773936"/>
            <a:ext cx="2596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32.0601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75688"/>
            <a:ext cx="8229600" cy="420624"/>
          </a:xfrm>
          <a:prstGeom prst="rect">
            <a:avLst/>
          </a:prstGeom>
          <a:solidFill>
            <a:srgbClr val="F6F8FA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194560"/>
            <a:ext cx="53400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Ref. [8]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194560"/>
            <a:ext cx="2596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26.2896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96312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15184"/>
            <a:ext cx="53400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Ref. [22]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615184"/>
            <a:ext cx="2596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27.6917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16936"/>
            <a:ext cx="8229600" cy="420624"/>
          </a:xfrm>
          <a:prstGeom prst="rect">
            <a:avLst/>
          </a:prstGeom>
          <a:solidFill>
            <a:srgbClr val="F6F8FA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035808"/>
            <a:ext cx="53400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Ref. [46]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035808"/>
            <a:ext cx="2596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27.3366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37560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456432"/>
            <a:ext cx="53400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Ref. [19]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456432"/>
            <a:ext cx="2596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27.4886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NIST randomness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13/18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NIST suite checks whether a pseudo-random generator behaves statistically random.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The paper reports all 15 tests passed.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Pass condition used: p-value &gt;= 0.01 and pass rate above the accepted threshold.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Presentation line: the chaotic generator passed the randomness battery.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Differential attack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14/18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58521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62456"/>
            <a:ext cx="18653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6352" y="1362456"/>
            <a:ext cx="204825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1362456"/>
            <a:ext cx="204825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Paper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1362456"/>
            <a:ext cx="41513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19656"/>
            <a:ext cx="10698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38528"/>
            <a:ext cx="18653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NPCR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1938528"/>
            <a:ext cx="204825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99.6094%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938528"/>
            <a:ext cx="204825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99.6533%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1938528"/>
            <a:ext cx="41513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How many pixels change after a tiny plaintext change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04872"/>
            <a:ext cx="10698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523744"/>
            <a:ext cx="18653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UACI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523744"/>
            <a:ext cx="204825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33.4635%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523744"/>
            <a:ext cx="204825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33.4887%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2523744"/>
            <a:ext cx="41513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Average intensity change between two cipher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Information entropy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15/18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Information entropy measures how uniform/unpredictable the cipher pixel distribution is.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The theoretical maximum for 8-bit images is 8.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The paper reports 7.9994, essentially maximum entropy.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Presentation line: the cipher image is statistically close to uniform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Speed and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16/18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00" cy="42062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62456"/>
            <a:ext cx="3694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2" y="1362456"/>
            <a:ext cx="22311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Time 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1362456"/>
            <a:ext cx="27797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ptos"/>
              </a:rPr>
              <a:t>Speed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55064"/>
            <a:ext cx="9144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73936"/>
            <a:ext cx="36941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Confusion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773936"/>
            <a:ext cx="22311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0.1124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27797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177.9359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75688"/>
            <a:ext cx="9144000" cy="420624"/>
          </a:xfrm>
          <a:prstGeom prst="rect">
            <a:avLst/>
          </a:prstGeom>
          <a:solidFill>
            <a:srgbClr val="F6F8FA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94560"/>
            <a:ext cx="36941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Diffusion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194560"/>
            <a:ext cx="22311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3.1381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194560"/>
            <a:ext cx="27797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6.3733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496312"/>
            <a:ext cx="9144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615184"/>
            <a:ext cx="36941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Total encryption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615184"/>
            <a:ext cx="22311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3.2505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2615184"/>
            <a:ext cx="27797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243342"/>
                </a:solidFill>
                <a:latin typeface="Aptos"/>
              </a:rPr>
              <a:t>6.1529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Likely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17/18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Q: Is this lossless? A: No. DWT LL-only compression is lossy, but PSNR is still strong.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Q: Why use a cube? A: It lets the method encrypt multiple images together in one object.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Q: What is the main limitation? A: Zero-padding wastes space for mixed-size images.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Q: Is chaos alone enough? A: No. The scheme combines confusion, diffusion, and tested randomness.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Q: What is the strongest result? A: PSNR 32.0601 dB plus strong NPCR/UACI/entropy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966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7324D"/>
                </a:solidFill>
                <a:latin typeface="Aptos Display"/>
              </a:rPr>
              <a:t>Rehearsal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Aptos"/>
              </a:rPr>
              <a:t>18/18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201400" cy="3200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527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Abdul: keep slides 3 and 5 tight; do not over-explain wavelets.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Maria: define confusion and diffusion in one sentence each before details.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Both: say numbers cleanly: PSNR 32.06, NPCR 99.65, UACI 33.49, entropy 7.9994.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Do one timed run under 10 minutes before presenting.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0C7C7B"/>
                </a:solidFill>
                <a:latin typeface="Aptos"/>
              </a:rPr>
              <a:t>• </a:t>
            </a:r>
            <a:r>
              <a:rPr sz="1800" b="0" i="0">
                <a:solidFill>
                  <a:srgbClr val="243342"/>
                </a:solidFill>
                <a:latin typeface="Aptos"/>
              </a:rPr>
              <a:t>Use the study deck only for backup and Q&amp;A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785"/>
                </a:solidFill>
                <a:latin typeface="Aptos"/>
              </a:rPr>
              <a:t>Companion study deck · not the 10-minute graded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CMP4221 - DWT Encryption Study Deck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