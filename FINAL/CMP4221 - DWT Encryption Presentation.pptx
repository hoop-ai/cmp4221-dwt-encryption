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102033"/>
                </a:solidFill>
                <a:latin typeface="Arial"/>
              </a:rPr>
              <a:t>Hi everyone. I'm Abdul, and this is Maria. [pause] Our paper solves a practical problem: image batches are large, and they still need privacy. The authors combine DWT compression with a chaotic encryption stream. The result is one pipeline: shrink the images, stack them into a cube, then encrypt the cube. I'll cover the problem, the two tools, and the overall pipeline. Maria will cover the algorithm details and results.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102033"/>
                </a:solidFill>
                <a:latin typeface="Arial"/>
              </a:rPr>
              <a:t>Start with the problem. A color image is not one grid; it is three grids: red, green, and blue. A 512 by 512 image has 786 thousand pixel values. [pause] Now send ten images, or a medical scan batch, or frames from several cameras. The bandwidth problem grows fast. The privacy problem is separate: if someone intercepts raw pixels, they see the image. The paper tries to handle both problems together.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102033"/>
                </a:solidFill>
                <a:latin typeface="Arial"/>
              </a:rPr>
              <a:t>The first tool is DWT, the Discrete Wavelet Transform. For each color channel, DWT splits the image into four bands. The LL band keeps the rough visual content, at half the width and half the height. So LL alone is one quarter of the original area. [pause] The second tool is chaos. It looks random, but the same starting key always produces the same stream. That stream drives the encryption.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102033"/>
                </a:solidFill>
                <a:latin typeface="Arial"/>
              </a:rPr>
              <a:t>Here is the actual novelty. [pause] The older pattern is one image, one encryption run. This paper does something cleaner. It DWT-compresses every image first, keeps the LL bands, and stacks those bands into one cube. Then it encrypts the cube once. Different image sizes still fit because smaller images get zero padding. That padding is useful, but it is also the main limitation.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102033"/>
                </a:solidFill>
                <a:latin typeface="Arial"/>
              </a:rPr>
              <a:t>The pipeline has four stages. First, DWT compression keeps the LL bands. Second, those bands are stacked into cube C. Third, confusion moves pixel positions inside the cube. Fourth, diffusion changes the pixel values with XOR and chaotic streams. The transmitted object is not a normal image. It is cipher cube D. [pause] Maria, over to you.</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102033"/>
                </a:solidFill>
                <a:latin typeface="Arial"/>
              </a:rPr>
              <a:t>Thanks, Abdul. Confusion means location hiding. The pixel values do not change yet. Their positions change. [pause] The chaotic map generates offsets for the cube coordinates. For each pixel, the algorithm compares its position with those offsets and chooses one of the swap cases. After this step, the same information exists, but it is no longer in meaningful image positions.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102033"/>
                </a:solidFill>
                <a:latin typeface="Arial"/>
              </a:rPr>
              <a:t>Diffusion is the value-changing step. The cube is flattened into a one-dimensional vector. Each pixel is XORed with a chaotic value. The important part is the chain: each new cipher pixel also depends on the previous cipher pixel. [pause] So a one-bit change near the start spreads forward through the output. That is the avalanche effect.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102033"/>
                </a:solidFill>
                <a:latin typeface="Arial"/>
              </a:rPr>
              <a:t>Now the results. The paper reports average PSNR of 32.06 decibels after compression, encryption, decryption, and reconstruction. A rough visual threshold is 30 decibels, so 32 is safely above it. [pause] The compared methods sit around 26 to 27 decibels. So the recovered images are not merely decrypted. They remain visually usable.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102033"/>
                </a:solidFill>
                <a:latin typeface="Arial"/>
              </a:rPr>
              <a:t>The security checks also line up. The chaotic sequence passes all fifteen NIST randomness tests. NPCR and UACI are almost exactly on their ideal targets, which means a tiny plaintext change spreads across the cipher. Entropy is 7.9994 out of 8, so the cipher histogram is basically uniform. [pause] This is empirical security, not an AES-style formal proof. That distinction matters.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102033"/>
                </a:solidFill>
                <a:latin typeface="Arial"/>
              </a:rPr>
              <a:t>The limitation is simple: zero padding wastes space when batch images have different sizes. The authors mark that as future work. [pause] The take-home is also simple. DWT handles size. Chaos handles secrecy. The cube lets the method process a batch in one pass. The strongest numbers are 32 dB PSNR, entropy 7.9994, and NPCR around 99.65 percent. Thank you. We are ready for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AFC"/>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F7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84048"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02920"/>
            <a:ext cx="5486400" cy="228600"/>
          </a:xfrm>
          <a:prstGeom prst="rect">
            <a:avLst/>
          </a:prstGeom>
          <a:noFill/>
        </p:spPr>
        <p:txBody>
          <a:bodyPr wrap="square" lIns="0" rIns="0" tIns="0" bIns="0" anchor="t">
            <a:spAutoFit/>
          </a:bodyPr>
          <a:lstStyle/>
          <a:p>
            <a:pPr algn="l">
              <a:lnSpc>
                <a:spcPct val="115000"/>
              </a:lnSpc>
            </a:pPr>
            <a:r>
              <a:rPr sz="1000" b="1" i="0">
                <a:solidFill>
                  <a:srgbClr val="5F6C7B"/>
                </a:solidFill>
                <a:latin typeface="Arial"/>
              </a:rPr>
              <a:t>CMP4221 Multimedia Systems</a:t>
            </a:r>
          </a:p>
        </p:txBody>
      </p:sp>
      <p:sp>
        <p:nvSpPr>
          <p:cNvPr id="5" name="TextBox 4"/>
          <p:cNvSpPr txBox="1"/>
          <p:nvPr/>
        </p:nvSpPr>
        <p:spPr>
          <a:xfrm>
            <a:off x="685800" y="1261872"/>
            <a:ext cx="8961120" cy="1600200"/>
          </a:xfrm>
          <a:prstGeom prst="rect">
            <a:avLst/>
          </a:prstGeom>
          <a:noFill/>
        </p:spPr>
        <p:txBody>
          <a:bodyPr wrap="square" lIns="0" rIns="0" tIns="0" bIns="0" anchor="t">
            <a:spAutoFit/>
          </a:bodyPr>
          <a:lstStyle/>
          <a:p>
            <a:pPr algn="l">
              <a:lnSpc>
                <a:spcPct val="96000"/>
              </a:lnSpc>
            </a:pPr>
            <a:r>
              <a:rPr sz="5400" b="1" i="0">
                <a:solidFill>
                  <a:srgbClr val="102033"/>
                </a:solidFill>
                <a:latin typeface="Arial"/>
              </a:rPr>
              <a:t>Encrypt a batch,</a:t>
            </a:r>
          </a:p>
          <a:p>
            <a:pPr algn="l">
              <a:lnSpc>
                <a:spcPct val="96000"/>
              </a:lnSpc>
            </a:pPr>
            <a:r>
              <a:rPr sz="5400" b="1" i="0">
                <a:solidFill>
                  <a:srgbClr val="102033"/>
                </a:solidFill>
                <a:latin typeface="Arial"/>
              </a:rPr>
              <a:t>not one image.</a:t>
            </a:r>
          </a:p>
        </p:txBody>
      </p:sp>
      <p:sp>
        <p:nvSpPr>
          <p:cNvPr id="6" name="TextBox 5"/>
          <p:cNvSpPr txBox="1"/>
          <p:nvPr/>
        </p:nvSpPr>
        <p:spPr>
          <a:xfrm>
            <a:off x="685800" y="3154680"/>
            <a:ext cx="7863840" cy="713232"/>
          </a:xfrm>
          <a:prstGeom prst="rect">
            <a:avLst/>
          </a:prstGeom>
          <a:noFill/>
        </p:spPr>
        <p:txBody>
          <a:bodyPr wrap="square" lIns="0" rIns="0" tIns="0" bIns="0" anchor="t">
            <a:spAutoFit/>
          </a:bodyPr>
          <a:lstStyle/>
          <a:p>
            <a:pPr algn="l">
              <a:lnSpc>
                <a:spcPct val="118000"/>
              </a:lnSpc>
            </a:pPr>
            <a:r>
              <a:rPr sz="2200" b="1" i="0">
                <a:solidFill>
                  <a:srgbClr val="0B4F4A"/>
                </a:solidFill>
                <a:latin typeface="Arial"/>
              </a:rPr>
              <a:t>DWT compresses the images. A chaotic map encrypts the shared cube.</a:t>
            </a:r>
          </a:p>
        </p:txBody>
      </p:sp>
      <p:cxnSp>
        <p:nvCxnSpPr>
          <p:cNvPr id="7" name="Connector 6"/>
          <p:cNvCxnSpPr/>
          <p:nvPr/>
        </p:nvCxnSpPr>
        <p:spPr>
          <a:xfrm>
            <a:off x="685800" y="4160520"/>
            <a:ext cx="5303520" cy="0"/>
          </a:xfrm>
          <a:prstGeom prst="line">
            <a:avLst/>
          </a:prstGeom>
          <a:ln w="16510">
            <a:solidFill>
              <a:srgbClr val="D8E1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85800" y="4480560"/>
            <a:ext cx="7040880" cy="594360"/>
          </a:xfrm>
          <a:prstGeom prst="rect">
            <a:avLst/>
          </a:prstGeom>
          <a:noFill/>
        </p:spPr>
        <p:txBody>
          <a:bodyPr wrap="square" lIns="0" rIns="0" tIns="0" bIns="0" anchor="t">
            <a:spAutoFit/>
          </a:bodyPr>
          <a:lstStyle/>
          <a:p>
            <a:pPr algn="l">
              <a:lnSpc>
                <a:spcPct val="125000"/>
              </a:lnSpc>
            </a:pPr>
            <a:r>
              <a:rPr sz="1300" b="0" i="0">
                <a:solidFill>
                  <a:srgbClr val="102033"/>
                </a:solidFill>
                <a:latin typeface="Arial"/>
              </a:rPr>
              <a:t>Multi-Image Encryption Scheme Based on Chaotic Pseudo-Random Signal Generator and DWT Compression</a:t>
            </a:r>
          </a:p>
        </p:txBody>
      </p:sp>
      <p:sp>
        <p:nvSpPr>
          <p:cNvPr id="9" name="TextBox 8"/>
          <p:cNvSpPr txBox="1"/>
          <p:nvPr/>
        </p:nvSpPr>
        <p:spPr>
          <a:xfrm>
            <a:off x="685800" y="5349240"/>
            <a:ext cx="6858000" cy="256032"/>
          </a:xfrm>
          <a:prstGeom prst="rect">
            <a:avLst/>
          </a:prstGeom>
          <a:noFill/>
        </p:spPr>
        <p:txBody>
          <a:bodyPr wrap="square" lIns="0" rIns="0" tIns="0" bIns="0" anchor="t">
            <a:spAutoFit/>
          </a:bodyPr>
          <a:lstStyle/>
          <a:p>
            <a:pPr algn="l">
              <a:lnSpc>
                <a:spcPct val="115000"/>
              </a:lnSpc>
            </a:pPr>
            <a:r>
              <a:rPr sz="1050" b="0" i="0">
                <a:solidFill>
                  <a:srgbClr val="5F6C7B"/>
                </a:solidFill>
                <a:latin typeface="Arial"/>
              </a:rPr>
              <a:t>Xu, Gao, Cao, Mou - ACM TOMM, March 2026</a:t>
            </a:r>
          </a:p>
        </p:txBody>
      </p:sp>
      <p:sp>
        <p:nvSpPr>
          <p:cNvPr id="10" name="TextBox 9"/>
          <p:cNvSpPr txBox="1"/>
          <p:nvPr/>
        </p:nvSpPr>
        <p:spPr>
          <a:xfrm>
            <a:off x="685800" y="5623560"/>
            <a:ext cx="6858000" cy="256032"/>
          </a:xfrm>
          <a:prstGeom prst="rect">
            <a:avLst/>
          </a:prstGeom>
          <a:noFill/>
        </p:spPr>
        <p:txBody>
          <a:bodyPr wrap="square" lIns="0" rIns="0" tIns="0" bIns="0" anchor="t">
            <a:spAutoFit/>
          </a:bodyPr>
          <a:lstStyle/>
          <a:p>
            <a:pPr algn="l">
              <a:lnSpc>
                <a:spcPct val="115000"/>
              </a:lnSpc>
            </a:pPr>
            <a:r>
              <a:rPr sz="1050" b="1" i="0">
                <a:solidFill>
                  <a:srgbClr val="5F6C7B"/>
                </a:solidFill>
                <a:latin typeface="Arial"/>
              </a:rPr>
              <a:t>Abdul Rahman Malak - Maria Alftaih</a:t>
            </a:r>
          </a:p>
        </p:txBody>
      </p:sp>
      <p:sp>
        <p:nvSpPr>
          <p:cNvPr id="11" name="Rectangle 10"/>
          <p:cNvSpPr/>
          <p:nvPr/>
        </p:nvSpPr>
        <p:spPr>
          <a:xfrm>
            <a:off x="9345168" y="4251960"/>
            <a:ext cx="1325880" cy="822960"/>
          </a:xfrm>
          <a:prstGeom prst="rect">
            <a:avLst/>
          </a:prstGeom>
          <a:solidFill>
            <a:srgbClr val="FFFFFF"/>
          </a:solidFill>
          <a:ln w="9525">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244584" y="4297680"/>
            <a:ext cx="1325880" cy="822960"/>
          </a:xfrm>
          <a:prstGeom prst="rect">
            <a:avLst/>
          </a:prstGeom>
          <a:solidFill>
            <a:srgbClr val="FFFFFF"/>
          </a:solidFill>
          <a:ln w="9525">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9144000" y="4343400"/>
            <a:ext cx="1325880" cy="822960"/>
          </a:xfrm>
          <a:prstGeom prst="rect">
            <a:avLst/>
          </a:prstGeom>
          <a:solidFill>
            <a:srgbClr val="FFFFFF"/>
          </a:solidFill>
          <a:ln w="1524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0" y="4645152"/>
            <a:ext cx="1325880" cy="219456"/>
          </a:xfrm>
          <a:prstGeom prst="rect">
            <a:avLst/>
          </a:prstGeom>
          <a:noFill/>
        </p:spPr>
        <p:txBody>
          <a:bodyPr wrap="square" lIns="0" rIns="0" tIns="0" bIns="0" anchor="t">
            <a:spAutoFit/>
          </a:bodyPr>
          <a:lstStyle/>
          <a:p>
            <a:pPr algn="ctr">
              <a:lnSpc>
                <a:spcPct val="115000"/>
              </a:lnSpc>
            </a:pPr>
            <a:r>
              <a:rPr sz="1300" b="1" i="0">
                <a:solidFill>
                  <a:srgbClr val="0B4F4A"/>
                </a:solidFill>
                <a:latin typeface="Arial"/>
              </a:rPr>
              <a:t>CUBE</a:t>
            </a:r>
          </a:p>
        </p:txBody>
      </p:sp>
      <p:sp>
        <p:nvSpPr>
          <p:cNvPr id="15" name="TextBox 14"/>
          <p:cNvSpPr txBox="1"/>
          <p:nvPr/>
        </p:nvSpPr>
        <p:spPr>
          <a:xfrm>
            <a:off x="8823960" y="5504688"/>
            <a:ext cx="2194560" cy="228600"/>
          </a:xfrm>
          <a:prstGeom prst="rect">
            <a:avLst/>
          </a:prstGeom>
          <a:noFill/>
        </p:spPr>
        <p:txBody>
          <a:bodyPr wrap="square" lIns="0" rIns="0" tIns="0" bIns="0" anchor="t">
            <a:spAutoFit/>
          </a:bodyPr>
          <a:lstStyle/>
          <a:p>
            <a:pPr algn="ctr">
              <a:lnSpc>
                <a:spcPct val="115000"/>
              </a:lnSpc>
            </a:pPr>
            <a:r>
              <a:rPr sz="1000" b="0" i="0">
                <a:solidFill>
                  <a:srgbClr val="5F6C7B"/>
                </a:solidFill>
                <a:latin typeface="Arial"/>
              </a:rPr>
              <a:t>10-minute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AFC"/>
        </a:solidFill>
        <a:effectLst/>
      </p:bgPr>
    </p:bg>
    <p:spTree>
      <p:nvGrpSpPr>
        <p:cNvPr id="1" name=""/>
        <p:cNvGrpSpPr/>
        <p:nvPr/>
      </p:nvGrpSpPr>
      <p:grpSpPr/>
      <p:sp>
        <p:nvSpPr>
          <p:cNvPr id="2" name="TextBox 1"/>
          <p:cNvSpPr txBox="1"/>
          <p:nvPr/>
        </p:nvSpPr>
        <p:spPr>
          <a:xfrm>
            <a:off x="685800" y="411480"/>
            <a:ext cx="4114800" cy="228600"/>
          </a:xfrm>
          <a:prstGeom prst="rect">
            <a:avLst/>
          </a:prstGeom>
          <a:noFill/>
        </p:spPr>
        <p:txBody>
          <a:bodyPr wrap="square" lIns="0" rIns="0" tIns="0" bIns="0" anchor="t">
            <a:spAutoFit/>
          </a:bodyPr>
          <a:lstStyle/>
          <a:p>
            <a:pPr algn="l">
              <a:lnSpc>
                <a:spcPct val="115000"/>
              </a:lnSpc>
            </a:pPr>
            <a:r>
              <a:rPr sz="900" b="1" i="0">
                <a:solidFill>
                  <a:srgbClr val="5F6C7B"/>
                </a:solidFill>
                <a:latin typeface="Arial"/>
              </a:rPr>
              <a:t>PROBLEM</a:t>
            </a:r>
          </a:p>
        </p:txBody>
      </p:sp>
      <p:sp>
        <p:nvSpPr>
          <p:cNvPr id="3" name="TextBox 2"/>
          <p:cNvSpPr txBox="1"/>
          <p:nvPr/>
        </p:nvSpPr>
        <p:spPr>
          <a:xfrm>
            <a:off x="10317175" y="411480"/>
            <a:ext cx="1188720" cy="228600"/>
          </a:xfrm>
          <a:prstGeom prst="rect">
            <a:avLst/>
          </a:prstGeom>
          <a:noFill/>
        </p:spPr>
        <p:txBody>
          <a:bodyPr wrap="square" lIns="0" rIns="0" tIns="0" bIns="0" anchor="t">
            <a:spAutoFit/>
          </a:bodyPr>
          <a:lstStyle/>
          <a:p>
            <a:pPr algn="r">
              <a:lnSpc>
                <a:spcPct val="115000"/>
              </a:lnSpc>
            </a:pPr>
            <a:r>
              <a:rPr sz="1000" b="1" i="0">
                <a:solidFill>
                  <a:srgbClr val="5F6C7B"/>
                </a:solidFill>
                <a:latin typeface="Arial"/>
              </a:rPr>
              <a:t>02/10</a:t>
            </a:r>
          </a:p>
        </p:txBody>
      </p:sp>
      <p:sp>
        <p:nvSpPr>
          <p:cNvPr id="4" name="TextBox 3"/>
          <p:cNvSpPr txBox="1"/>
          <p:nvPr/>
        </p:nvSpPr>
        <p:spPr>
          <a:xfrm>
            <a:off x="685800" y="749808"/>
            <a:ext cx="10820095" cy="594360"/>
          </a:xfrm>
          <a:prstGeom prst="rect">
            <a:avLst/>
          </a:prstGeom>
          <a:noFill/>
        </p:spPr>
        <p:txBody>
          <a:bodyPr wrap="square" lIns="0" rIns="0" tIns="0" bIns="0" anchor="t">
            <a:spAutoFit/>
          </a:bodyPr>
          <a:lstStyle/>
          <a:p>
            <a:pPr algn="l">
              <a:lnSpc>
                <a:spcPct val="115000"/>
              </a:lnSpc>
            </a:pPr>
            <a:r>
              <a:rPr sz="3100" b="1" i="0">
                <a:solidFill>
                  <a:srgbClr val="102033"/>
                </a:solidFill>
                <a:latin typeface="Arial"/>
              </a:rPr>
              <a:t>Image batches are big and exposed.</a:t>
            </a:r>
          </a:p>
        </p:txBody>
      </p:sp>
      <p:cxnSp>
        <p:nvCxnSpPr>
          <p:cNvPr id="5" name="Connector 4"/>
          <p:cNvCxnSpPr/>
          <p:nvPr/>
        </p:nvCxnSpPr>
        <p:spPr>
          <a:xfrm>
            <a:off x="685800" y="1444752"/>
            <a:ext cx="10820095" cy="0"/>
          </a:xfrm>
          <a:prstGeom prst="line">
            <a:avLst/>
          </a:prstGeom>
          <a:ln w="12700">
            <a:solidFill>
              <a:srgbClr val="D8E1E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82512"/>
            <a:ext cx="6583680" cy="182880"/>
          </a:xfrm>
          <a:prstGeom prst="rect">
            <a:avLst/>
          </a:prstGeom>
          <a:noFill/>
        </p:spPr>
        <p:txBody>
          <a:bodyPr wrap="square" lIns="0" rIns="0" tIns="0" bIns="0" anchor="t">
            <a:spAutoFit/>
          </a:bodyPr>
          <a:lstStyle/>
          <a:p>
            <a:pPr algn="l">
              <a:lnSpc>
                <a:spcPct val="115000"/>
              </a:lnSpc>
            </a:pPr>
            <a:r>
              <a:rPr sz="850" b="0" i="0">
                <a:solidFill>
                  <a:srgbClr val="5F6C7B"/>
                </a:solidFill>
                <a:latin typeface="Arial"/>
              </a:rPr>
              <a:t>CMP4221 - DWT Encryption - Xu et al. ACM TOMM 2026</a:t>
            </a:r>
          </a:p>
        </p:txBody>
      </p:sp>
      <p:sp>
        <p:nvSpPr>
          <p:cNvPr id="7" name="TextBox 6"/>
          <p:cNvSpPr txBox="1"/>
          <p:nvPr/>
        </p:nvSpPr>
        <p:spPr>
          <a:xfrm>
            <a:off x="8945575" y="6382512"/>
            <a:ext cx="2560320" cy="182880"/>
          </a:xfrm>
          <a:prstGeom prst="rect">
            <a:avLst/>
          </a:prstGeom>
          <a:noFill/>
        </p:spPr>
        <p:txBody>
          <a:bodyPr wrap="square" lIns="0" rIns="0" tIns="0" bIns="0" anchor="t">
            <a:spAutoFit/>
          </a:bodyPr>
          <a:lstStyle/>
          <a:p>
            <a:pPr algn="r">
              <a:lnSpc>
                <a:spcPct val="115000"/>
              </a:lnSpc>
            </a:pPr>
            <a:r>
              <a:rPr sz="850" b="1" i="0">
                <a:solidFill>
                  <a:srgbClr val="5F6C7B"/>
                </a:solidFill>
                <a:latin typeface="Arial"/>
              </a:rPr>
              <a:t>Abdul - 1:00</a:t>
            </a:r>
          </a:p>
        </p:txBody>
      </p:sp>
      <p:sp>
        <p:nvSpPr>
          <p:cNvPr id="8" name="Rectangle 7"/>
          <p:cNvSpPr/>
          <p:nvPr/>
        </p:nvSpPr>
        <p:spPr>
          <a:xfrm>
            <a:off x="685800" y="1938528"/>
            <a:ext cx="109728" cy="109728"/>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1832" y="1828800"/>
            <a:ext cx="4864607" cy="310896"/>
          </a:xfrm>
          <a:prstGeom prst="rect">
            <a:avLst/>
          </a:prstGeom>
          <a:noFill/>
        </p:spPr>
        <p:txBody>
          <a:bodyPr wrap="square" lIns="0" rIns="0" tIns="0" bIns="0" anchor="t">
            <a:spAutoFit/>
          </a:bodyPr>
          <a:lstStyle/>
          <a:p>
            <a:pPr algn="l">
              <a:lnSpc>
                <a:spcPct val="115000"/>
              </a:lnSpc>
            </a:pPr>
            <a:r>
              <a:rPr sz="2100" b="0" i="0">
                <a:solidFill>
                  <a:srgbClr val="102033"/>
                </a:solidFill>
                <a:latin typeface="Arial"/>
              </a:rPr>
              <a:t>Color images carry millions of values</a:t>
            </a:r>
          </a:p>
        </p:txBody>
      </p:sp>
      <p:sp>
        <p:nvSpPr>
          <p:cNvPr id="10" name="Rectangle 9"/>
          <p:cNvSpPr/>
          <p:nvPr/>
        </p:nvSpPr>
        <p:spPr>
          <a:xfrm>
            <a:off x="685800" y="2359152"/>
            <a:ext cx="109728" cy="109728"/>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2249424"/>
            <a:ext cx="4864607" cy="310896"/>
          </a:xfrm>
          <a:prstGeom prst="rect">
            <a:avLst/>
          </a:prstGeom>
          <a:noFill/>
        </p:spPr>
        <p:txBody>
          <a:bodyPr wrap="square" lIns="0" rIns="0" tIns="0" bIns="0" anchor="t">
            <a:spAutoFit/>
          </a:bodyPr>
          <a:lstStyle/>
          <a:p>
            <a:pPr algn="l">
              <a:lnSpc>
                <a:spcPct val="115000"/>
              </a:lnSpc>
            </a:pPr>
            <a:r>
              <a:rPr sz="2100" b="0" i="0">
                <a:solidFill>
                  <a:srgbClr val="102033"/>
                </a:solidFill>
                <a:latin typeface="Arial"/>
              </a:rPr>
              <a:t>Batches multiply bandwidth cost</a:t>
            </a:r>
          </a:p>
        </p:txBody>
      </p:sp>
      <p:sp>
        <p:nvSpPr>
          <p:cNvPr id="12" name="Rectangle 11"/>
          <p:cNvSpPr/>
          <p:nvPr/>
        </p:nvSpPr>
        <p:spPr>
          <a:xfrm>
            <a:off x="685800" y="2779776"/>
            <a:ext cx="109728" cy="109728"/>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670048"/>
            <a:ext cx="4864607" cy="310896"/>
          </a:xfrm>
          <a:prstGeom prst="rect">
            <a:avLst/>
          </a:prstGeom>
          <a:noFill/>
        </p:spPr>
        <p:txBody>
          <a:bodyPr wrap="square" lIns="0" rIns="0" tIns="0" bIns="0" anchor="t">
            <a:spAutoFit/>
          </a:bodyPr>
          <a:lstStyle/>
          <a:p>
            <a:pPr algn="l">
              <a:lnSpc>
                <a:spcPct val="115000"/>
              </a:lnSpc>
            </a:pPr>
            <a:r>
              <a:rPr sz="2100" b="0" i="0">
                <a:solidFill>
                  <a:srgbClr val="102033"/>
                </a:solidFill>
                <a:latin typeface="Arial"/>
              </a:rPr>
              <a:t>Interception exposes raw pixels</a:t>
            </a:r>
          </a:p>
        </p:txBody>
      </p:sp>
      <p:sp>
        <p:nvSpPr>
          <p:cNvPr id="14" name="Rectangle 13"/>
          <p:cNvSpPr/>
          <p:nvPr/>
        </p:nvSpPr>
        <p:spPr>
          <a:xfrm>
            <a:off x="685800" y="3200400"/>
            <a:ext cx="109728" cy="109728"/>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3090672"/>
            <a:ext cx="4864607" cy="310896"/>
          </a:xfrm>
          <a:prstGeom prst="rect">
            <a:avLst/>
          </a:prstGeom>
          <a:noFill/>
        </p:spPr>
        <p:txBody>
          <a:bodyPr wrap="square" lIns="0" rIns="0" tIns="0" bIns="0" anchor="t">
            <a:spAutoFit/>
          </a:bodyPr>
          <a:lstStyle/>
          <a:p>
            <a:pPr algn="l">
              <a:lnSpc>
                <a:spcPct val="115000"/>
              </a:lnSpc>
            </a:pPr>
            <a:r>
              <a:rPr sz="2100" b="0" i="0">
                <a:solidFill>
                  <a:srgbClr val="102033"/>
                </a:solidFill>
                <a:latin typeface="Arial"/>
              </a:rPr>
              <a:t>One-by-one encryption does not scale</a:t>
            </a:r>
          </a:p>
        </p:txBody>
      </p:sp>
      <p:sp>
        <p:nvSpPr>
          <p:cNvPr id="16" name="TextBox 15"/>
          <p:cNvSpPr txBox="1"/>
          <p:nvPr/>
        </p:nvSpPr>
        <p:spPr>
          <a:xfrm>
            <a:off x="6675120" y="1828800"/>
            <a:ext cx="4297680" cy="256032"/>
          </a:xfrm>
          <a:prstGeom prst="rect">
            <a:avLst/>
          </a:prstGeom>
          <a:noFill/>
        </p:spPr>
        <p:txBody>
          <a:bodyPr wrap="square" lIns="0" rIns="0" tIns="0" bIns="0" anchor="t">
            <a:spAutoFit/>
          </a:bodyPr>
          <a:lstStyle/>
          <a:p>
            <a:pPr algn="r">
              <a:lnSpc>
                <a:spcPct val="115000"/>
              </a:lnSpc>
            </a:pPr>
            <a:r>
              <a:rPr sz="1600" b="1" i="0">
                <a:solidFill>
                  <a:srgbClr val="5F6C7B"/>
                </a:solidFill>
                <a:latin typeface="Arial"/>
              </a:rPr>
              <a:t>512 x 512 x 3</a:t>
            </a:r>
          </a:p>
        </p:txBody>
      </p:sp>
      <p:sp>
        <p:nvSpPr>
          <p:cNvPr id="17" name="TextBox 16"/>
          <p:cNvSpPr txBox="1"/>
          <p:nvPr/>
        </p:nvSpPr>
        <p:spPr>
          <a:xfrm>
            <a:off x="6675120" y="2057400"/>
            <a:ext cx="4297680" cy="914400"/>
          </a:xfrm>
          <a:prstGeom prst="rect">
            <a:avLst/>
          </a:prstGeom>
          <a:noFill/>
        </p:spPr>
        <p:txBody>
          <a:bodyPr wrap="square" lIns="0" rIns="0" tIns="0" bIns="0" anchor="t">
            <a:spAutoFit/>
          </a:bodyPr>
          <a:lstStyle/>
          <a:p>
            <a:pPr algn="r">
              <a:lnSpc>
                <a:spcPct val="115000"/>
              </a:lnSpc>
            </a:pPr>
            <a:r>
              <a:rPr sz="5800" b="1" i="0">
                <a:solidFill>
                  <a:srgbClr val="102033"/>
                </a:solidFill>
                <a:latin typeface="Consolas"/>
              </a:rPr>
              <a:t>786,432</a:t>
            </a:r>
          </a:p>
        </p:txBody>
      </p:sp>
      <p:sp>
        <p:nvSpPr>
          <p:cNvPr id="18" name="TextBox 17"/>
          <p:cNvSpPr txBox="1"/>
          <p:nvPr/>
        </p:nvSpPr>
        <p:spPr>
          <a:xfrm>
            <a:off x="6675120" y="2852928"/>
            <a:ext cx="4297680" cy="274320"/>
          </a:xfrm>
          <a:prstGeom prst="rect">
            <a:avLst/>
          </a:prstGeom>
          <a:noFill/>
        </p:spPr>
        <p:txBody>
          <a:bodyPr wrap="square" lIns="0" rIns="0" tIns="0" bIns="0" anchor="t">
            <a:spAutoFit/>
          </a:bodyPr>
          <a:lstStyle/>
          <a:p>
            <a:pPr algn="r">
              <a:lnSpc>
                <a:spcPct val="115000"/>
              </a:lnSpc>
            </a:pPr>
            <a:r>
              <a:rPr sz="1300" b="0" i="0">
                <a:solidFill>
                  <a:srgbClr val="5F6C7B"/>
                </a:solidFill>
                <a:latin typeface="Arial"/>
              </a:rPr>
              <a:t>pixel values per image</a:t>
            </a:r>
          </a:p>
        </p:txBody>
      </p:sp>
      <p:cxnSp>
        <p:nvCxnSpPr>
          <p:cNvPr id="19" name="Connector 18"/>
          <p:cNvCxnSpPr/>
          <p:nvPr/>
        </p:nvCxnSpPr>
        <p:spPr>
          <a:xfrm>
            <a:off x="6949440" y="3520440"/>
            <a:ext cx="3886200" cy="0"/>
          </a:xfrm>
          <a:prstGeom prst="line">
            <a:avLst/>
          </a:prstGeom>
          <a:ln w="12700">
            <a:solidFill>
              <a:srgbClr val="D8E1EA"/>
            </a:solidFill>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7452360" y="4069080"/>
            <a:ext cx="868680" cy="594360"/>
          </a:xfrm>
          <a:prstGeom prst="rect">
            <a:avLst/>
          </a:prstGeom>
          <a:solidFill>
            <a:srgbClr val="FFFFFF"/>
          </a:solidFill>
          <a:ln w="9525">
            <a:solidFill>
              <a:srgbClr val="5F6C7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360920" y="4133088"/>
            <a:ext cx="868680" cy="594360"/>
          </a:xfrm>
          <a:prstGeom prst="rect">
            <a:avLst/>
          </a:prstGeom>
          <a:solidFill>
            <a:srgbClr val="FFFFFF"/>
          </a:solidFill>
          <a:ln w="9525">
            <a:solidFill>
              <a:srgbClr val="5F6C7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97096"/>
            <a:ext cx="868680" cy="594360"/>
          </a:xfrm>
          <a:prstGeom prst="rect">
            <a:avLst/>
          </a:prstGeom>
          <a:solidFill>
            <a:srgbClr val="FFFFFF"/>
          </a:solidFill>
          <a:ln w="9525">
            <a:solidFill>
              <a:srgbClr val="5F6C7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178040" y="4261104"/>
            <a:ext cx="868680" cy="594360"/>
          </a:xfrm>
          <a:prstGeom prst="rect">
            <a:avLst/>
          </a:prstGeom>
          <a:solidFill>
            <a:srgbClr val="FFFFFF"/>
          </a:solidFill>
          <a:ln w="9525">
            <a:solidFill>
              <a:srgbClr val="5F6C7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86600" y="4325112"/>
            <a:ext cx="868680" cy="594360"/>
          </a:xfrm>
          <a:prstGeom prst="rect">
            <a:avLst/>
          </a:prstGeom>
          <a:solidFill>
            <a:srgbClr val="FFFFFF"/>
          </a:solidFill>
          <a:ln w="9525">
            <a:solidFill>
              <a:srgbClr val="5F6C7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95160" y="5074920"/>
            <a:ext cx="1600200" cy="182880"/>
          </a:xfrm>
          <a:prstGeom prst="rect">
            <a:avLst/>
          </a:prstGeom>
          <a:noFill/>
        </p:spPr>
        <p:txBody>
          <a:bodyPr wrap="square" lIns="0" rIns="0" tIns="0" bIns="0" anchor="t">
            <a:spAutoFit/>
          </a:bodyPr>
          <a:lstStyle/>
          <a:p>
            <a:pPr algn="ctr">
              <a:lnSpc>
                <a:spcPct val="115000"/>
              </a:lnSpc>
            </a:pPr>
            <a:r>
              <a:rPr sz="900" b="1" i="0">
                <a:solidFill>
                  <a:srgbClr val="5F6C7B"/>
                </a:solidFill>
                <a:latin typeface="Arial"/>
              </a:rPr>
              <a:t>IMAGE BATCH</a:t>
            </a:r>
          </a:p>
        </p:txBody>
      </p:sp>
      <p:sp>
        <p:nvSpPr>
          <p:cNvPr id="26" name="TextBox 25"/>
          <p:cNvSpPr txBox="1"/>
          <p:nvPr/>
        </p:nvSpPr>
        <p:spPr>
          <a:xfrm>
            <a:off x="8458200" y="4261104"/>
            <a:ext cx="411480" cy="228600"/>
          </a:xfrm>
          <a:prstGeom prst="rect">
            <a:avLst/>
          </a:prstGeom>
          <a:noFill/>
        </p:spPr>
        <p:txBody>
          <a:bodyPr wrap="square" lIns="0" rIns="0" tIns="0" bIns="0" anchor="t">
            <a:spAutoFit/>
          </a:bodyPr>
          <a:lstStyle/>
          <a:p>
            <a:pPr algn="ctr">
              <a:lnSpc>
                <a:spcPct val="115000"/>
              </a:lnSpc>
            </a:pPr>
            <a:r>
              <a:rPr sz="1800" b="1" i="0">
                <a:solidFill>
                  <a:srgbClr val="5F6C7B"/>
                </a:solidFill>
                <a:latin typeface="Arial"/>
              </a:rPr>
              <a:t>+</a:t>
            </a:r>
          </a:p>
        </p:txBody>
      </p:sp>
      <p:sp>
        <p:nvSpPr>
          <p:cNvPr id="27" name="Rounded Rectangle 26"/>
          <p:cNvSpPr/>
          <p:nvPr/>
        </p:nvSpPr>
        <p:spPr>
          <a:xfrm>
            <a:off x="9098280" y="4114800"/>
            <a:ext cx="1234440" cy="329184"/>
          </a:xfrm>
          <a:prstGeom prst="round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98280" y="4187952"/>
            <a:ext cx="1234440" cy="164592"/>
          </a:xfrm>
          <a:prstGeom prst="rect">
            <a:avLst/>
          </a:prstGeom>
          <a:noFill/>
        </p:spPr>
        <p:txBody>
          <a:bodyPr wrap="square" lIns="0" rIns="0" tIns="0" bIns="0" anchor="t">
            <a:spAutoFit/>
          </a:bodyPr>
          <a:lstStyle/>
          <a:p>
            <a:pPr algn="ctr">
              <a:lnSpc>
                <a:spcPct val="115000"/>
              </a:lnSpc>
            </a:pPr>
            <a:r>
              <a:rPr sz="950" b="1" i="0">
                <a:solidFill>
                  <a:srgbClr val="FFFFFF"/>
                </a:solidFill>
                <a:latin typeface="Arial"/>
              </a:rPr>
              <a:t>ATTACKER</a:t>
            </a:r>
          </a:p>
        </p:txBody>
      </p:sp>
      <p:sp>
        <p:nvSpPr>
          <p:cNvPr id="29" name="TextBox 28"/>
          <p:cNvSpPr txBox="1"/>
          <p:nvPr/>
        </p:nvSpPr>
        <p:spPr>
          <a:xfrm>
            <a:off x="6675120" y="5257800"/>
            <a:ext cx="4297680" cy="384048"/>
          </a:xfrm>
          <a:prstGeom prst="rect">
            <a:avLst/>
          </a:prstGeom>
          <a:noFill/>
        </p:spPr>
        <p:txBody>
          <a:bodyPr wrap="square" lIns="0" rIns="0" tIns="0" bIns="0" anchor="t">
            <a:spAutoFit/>
          </a:bodyPr>
          <a:lstStyle/>
          <a:p>
            <a:pPr algn="r">
              <a:lnSpc>
                <a:spcPct val="115000"/>
              </a:lnSpc>
            </a:pPr>
            <a:r>
              <a:rPr sz="1500" b="1" i="0">
                <a:solidFill>
                  <a:srgbClr val="0B4F4A"/>
                </a:solidFill>
                <a:latin typeface="Arial"/>
              </a:rPr>
              <a:t>The paper needs size reduction and secrecy.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AFC"/>
        </a:solidFill>
        <a:effectLst/>
      </p:bgPr>
    </p:bg>
    <p:spTree>
      <p:nvGrpSpPr>
        <p:cNvPr id="1" name=""/>
        <p:cNvGrpSpPr/>
        <p:nvPr/>
      </p:nvGrpSpPr>
      <p:grpSpPr/>
      <p:sp>
        <p:nvSpPr>
          <p:cNvPr id="2" name="TextBox 1"/>
          <p:cNvSpPr txBox="1"/>
          <p:nvPr/>
        </p:nvSpPr>
        <p:spPr>
          <a:xfrm>
            <a:off x="685800" y="411480"/>
            <a:ext cx="4114800" cy="228600"/>
          </a:xfrm>
          <a:prstGeom prst="rect">
            <a:avLst/>
          </a:prstGeom>
          <a:noFill/>
        </p:spPr>
        <p:txBody>
          <a:bodyPr wrap="square" lIns="0" rIns="0" tIns="0" bIns="0" anchor="t">
            <a:spAutoFit/>
          </a:bodyPr>
          <a:lstStyle/>
          <a:p>
            <a:pPr algn="l">
              <a:lnSpc>
                <a:spcPct val="115000"/>
              </a:lnSpc>
            </a:pPr>
            <a:r>
              <a:rPr sz="900" b="1" i="0">
                <a:solidFill>
                  <a:srgbClr val="5F6C7B"/>
                </a:solidFill>
                <a:latin typeface="Arial"/>
              </a:rPr>
              <a:t>BACKGROUND</a:t>
            </a:r>
          </a:p>
        </p:txBody>
      </p:sp>
      <p:sp>
        <p:nvSpPr>
          <p:cNvPr id="3" name="TextBox 2"/>
          <p:cNvSpPr txBox="1"/>
          <p:nvPr/>
        </p:nvSpPr>
        <p:spPr>
          <a:xfrm>
            <a:off x="10317175" y="411480"/>
            <a:ext cx="1188720" cy="228600"/>
          </a:xfrm>
          <a:prstGeom prst="rect">
            <a:avLst/>
          </a:prstGeom>
          <a:noFill/>
        </p:spPr>
        <p:txBody>
          <a:bodyPr wrap="square" lIns="0" rIns="0" tIns="0" bIns="0" anchor="t">
            <a:spAutoFit/>
          </a:bodyPr>
          <a:lstStyle/>
          <a:p>
            <a:pPr algn="r">
              <a:lnSpc>
                <a:spcPct val="115000"/>
              </a:lnSpc>
            </a:pPr>
            <a:r>
              <a:rPr sz="1000" b="1" i="0">
                <a:solidFill>
                  <a:srgbClr val="5F6C7B"/>
                </a:solidFill>
                <a:latin typeface="Arial"/>
              </a:rPr>
              <a:t>03/10</a:t>
            </a:r>
          </a:p>
        </p:txBody>
      </p:sp>
      <p:sp>
        <p:nvSpPr>
          <p:cNvPr id="4" name="TextBox 3"/>
          <p:cNvSpPr txBox="1"/>
          <p:nvPr/>
        </p:nvSpPr>
        <p:spPr>
          <a:xfrm>
            <a:off x="685800" y="749808"/>
            <a:ext cx="10820095" cy="594360"/>
          </a:xfrm>
          <a:prstGeom prst="rect">
            <a:avLst/>
          </a:prstGeom>
          <a:noFill/>
        </p:spPr>
        <p:txBody>
          <a:bodyPr wrap="square" lIns="0" rIns="0" tIns="0" bIns="0" anchor="t">
            <a:spAutoFit/>
          </a:bodyPr>
          <a:lstStyle/>
          <a:p>
            <a:pPr algn="l">
              <a:lnSpc>
                <a:spcPct val="115000"/>
              </a:lnSpc>
            </a:pPr>
            <a:r>
              <a:rPr sz="3100" b="1" i="0">
                <a:solidFill>
                  <a:srgbClr val="102033"/>
                </a:solidFill>
                <a:latin typeface="Arial"/>
              </a:rPr>
              <a:t>Two tools do the work.</a:t>
            </a:r>
          </a:p>
        </p:txBody>
      </p:sp>
      <p:cxnSp>
        <p:nvCxnSpPr>
          <p:cNvPr id="5" name="Connector 4"/>
          <p:cNvCxnSpPr/>
          <p:nvPr/>
        </p:nvCxnSpPr>
        <p:spPr>
          <a:xfrm>
            <a:off x="685800" y="1444752"/>
            <a:ext cx="10820095" cy="0"/>
          </a:xfrm>
          <a:prstGeom prst="line">
            <a:avLst/>
          </a:prstGeom>
          <a:ln w="12700">
            <a:solidFill>
              <a:srgbClr val="D8E1E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82512"/>
            <a:ext cx="6583680" cy="182880"/>
          </a:xfrm>
          <a:prstGeom prst="rect">
            <a:avLst/>
          </a:prstGeom>
          <a:noFill/>
        </p:spPr>
        <p:txBody>
          <a:bodyPr wrap="square" lIns="0" rIns="0" tIns="0" bIns="0" anchor="t">
            <a:spAutoFit/>
          </a:bodyPr>
          <a:lstStyle/>
          <a:p>
            <a:pPr algn="l">
              <a:lnSpc>
                <a:spcPct val="115000"/>
              </a:lnSpc>
            </a:pPr>
            <a:r>
              <a:rPr sz="850" b="0" i="0">
                <a:solidFill>
                  <a:srgbClr val="5F6C7B"/>
                </a:solidFill>
                <a:latin typeface="Arial"/>
              </a:rPr>
              <a:t>CMP4221 - DWT Encryption - Xu et al. ACM TOMM 2026</a:t>
            </a:r>
          </a:p>
        </p:txBody>
      </p:sp>
      <p:sp>
        <p:nvSpPr>
          <p:cNvPr id="7" name="TextBox 6"/>
          <p:cNvSpPr txBox="1"/>
          <p:nvPr/>
        </p:nvSpPr>
        <p:spPr>
          <a:xfrm>
            <a:off x="8945575" y="6382512"/>
            <a:ext cx="2560320" cy="182880"/>
          </a:xfrm>
          <a:prstGeom prst="rect">
            <a:avLst/>
          </a:prstGeom>
          <a:noFill/>
        </p:spPr>
        <p:txBody>
          <a:bodyPr wrap="square" lIns="0" rIns="0" tIns="0" bIns="0" anchor="t">
            <a:spAutoFit/>
          </a:bodyPr>
          <a:lstStyle/>
          <a:p>
            <a:pPr algn="r">
              <a:lnSpc>
                <a:spcPct val="115000"/>
              </a:lnSpc>
            </a:pPr>
            <a:r>
              <a:rPr sz="850" b="1" i="0">
                <a:solidFill>
                  <a:srgbClr val="5F6C7B"/>
                </a:solidFill>
                <a:latin typeface="Arial"/>
              </a:rPr>
              <a:t>Abdul - 1:05</a:t>
            </a:r>
          </a:p>
        </p:txBody>
      </p:sp>
      <p:sp>
        <p:nvSpPr>
          <p:cNvPr id="8" name="TextBox 7"/>
          <p:cNvSpPr txBox="1"/>
          <p:nvPr/>
        </p:nvSpPr>
        <p:spPr>
          <a:xfrm>
            <a:off x="685800" y="1691640"/>
            <a:ext cx="5158587" cy="365760"/>
          </a:xfrm>
          <a:prstGeom prst="rect">
            <a:avLst/>
          </a:prstGeom>
          <a:noFill/>
        </p:spPr>
        <p:txBody>
          <a:bodyPr wrap="square" lIns="0" rIns="0" tIns="0" bIns="0" anchor="t">
            <a:spAutoFit/>
          </a:bodyPr>
          <a:lstStyle/>
          <a:p>
            <a:pPr algn="l">
              <a:lnSpc>
                <a:spcPct val="115000"/>
              </a:lnSpc>
            </a:pPr>
            <a:r>
              <a:rPr sz="3400" b="1" i="0">
                <a:solidFill>
                  <a:srgbClr val="0B4F4A"/>
                </a:solidFill>
                <a:latin typeface="Arial"/>
              </a:rPr>
              <a:t>DWT</a:t>
            </a:r>
          </a:p>
        </p:txBody>
      </p:sp>
      <p:sp>
        <p:nvSpPr>
          <p:cNvPr id="9" name="TextBox 8"/>
          <p:cNvSpPr txBox="1"/>
          <p:nvPr/>
        </p:nvSpPr>
        <p:spPr>
          <a:xfrm>
            <a:off x="685800" y="2167128"/>
            <a:ext cx="5158587" cy="256032"/>
          </a:xfrm>
          <a:prstGeom prst="rect">
            <a:avLst/>
          </a:prstGeom>
          <a:noFill/>
        </p:spPr>
        <p:txBody>
          <a:bodyPr wrap="square" lIns="0" rIns="0" tIns="0" bIns="0" anchor="t">
            <a:spAutoFit/>
          </a:bodyPr>
          <a:lstStyle/>
          <a:p>
            <a:pPr algn="l">
              <a:lnSpc>
                <a:spcPct val="115000"/>
              </a:lnSpc>
            </a:pPr>
            <a:r>
              <a:rPr sz="1200" b="1" i="0">
                <a:solidFill>
                  <a:srgbClr val="5F6C7B"/>
                </a:solidFill>
                <a:latin typeface="Arial"/>
              </a:rPr>
              <a:t>compression tool</a:t>
            </a:r>
          </a:p>
        </p:txBody>
      </p:sp>
      <p:sp>
        <p:nvSpPr>
          <p:cNvPr id="10" name="Rectangle 9"/>
          <p:cNvSpPr/>
          <p:nvPr/>
        </p:nvSpPr>
        <p:spPr>
          <a:xfrm>
            <a:off x="685800" y="2761488"/>
            <a:ext cx="109728" cy="109728"/>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2651760"/>
            <a:ext cx="4902555" cy="310896"/>
          </a:xfrm>
          <a:prstGeom prst="rect">
            <a:avLst/>
          </a:prstGeom>
          <a:noFill/>
        </p:spPr>
        <p:txBody>
          <a:bodyPr wrap="square" lIns="0" rIns="0" tIns="0" bIns="0" anchor="t">
            <a:spAutoFit/>
          </a:bodyPr>
          <a:lstStyle/>
          <a:p>
            <a:pPr algn="l">
              <a:lnSpc>
                <a:spcPct val="115000"/>
              </a:lnSpc>
            </a:pPr>
            <a:r>
              <a:rPr sz="1900" b="0" i="0">
                <a:solidFill>
                  <a:srgbClr val="102033"/>
                </a:solidFill>
                <a:latin typeface="Arial"/>
              </a:rPr>
              <a:t>Splits channels into four bands</a:t>
            </a:r>
          </a:p>
        </p:txBody>
      </p:sp>
      <p:sp>
        <p:nvSpPr>
          <p:cNvPr id="12" name="Rectangle 11"/>
          <p:cNvSpPr/>
          <p:nvPr/>
        </p:nvSpPr>
        <p:spPr>
          <a:xfrm>
            <a:off x="685800" y="3182112"/>
            <a:ext cx="109728" cy="109728"/>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3072384"/>
            <a:ext cx="4902555" cy="310896"/>
          </a:xfrm>
          <a:prstGeom prst="rect">
            <a:avLst/>
          </a:prstGeom>
          <a:noFill/>
        </p:spPr>
        <p:txBody>
          <a:bodyPr wrap="square" lIns="0" rIns="0" tIns="0" bIns="0" anchor="t">
            <a:spAutoFit/>
          </a:bodyPr>
          <a:lstStyle/>
          <a:p>
            <a:pPr algn="l">
              <a:lnSpc>
                <a:spcPct val="115000"/>
              </a:lnSpc>
            </a:pPr>
            <a:r>
              <a:rPr sz="1900" b="0" i="0">
                <a:solidFill>
                  <a:srgbClr val="102033"/>
                </a:solidFill>
                <a:latin typeface="Arial"/>
              </a:rPr>
              <a:t>LL keeps the visual base</a:t>
            </a:r>
          </a:p>
        </p:txBody>
      </p:sp>
      <p:sp>
        <p:nvSpPr>
          <p:cNvPr id="14" name="Rectangle 13"/>
          <p:cNvSpPr/>
          <p:nvPr/>
        </p:nvSpPr>
        <p:spPr>
          <a:xfrm>
            <a:off x="685800" y="3602736"/>
            <a:ext cx="109728" cy="109728"/>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3493008"/>
            <a:ext cx="4902555" cy="310896"/>
          </a:xfrm>
          <a:prstGeom prst="rect">
            <a:avLst/>
          </a:prstGeom>
          <a:noFill/>
        </p:spPr>
        <p:txBody>
          <a:bodyPr wrap="square" lIns="0" rIns="0" tIns="0" bIns="0" anchor="t">
            <a:spAutoFit/>
          </a:bodyPr>
          <a:lstStyle/>
          <a:p>
            <a:pPr algn="l">
              <a:lnSpc>
                <a:spcPct val="115000"/>
              </a:lnSpc>
            </a:pPr>
            <a:r>
              <a:rPr sz="1900" b="0" i="0">
                <a:solidFill>
                  <a:srgbClr val="102033"/>
                </a:solidFill>
                <a:latin typeface="Arial"/>
              </a:rPr>
              <a:t>LL is one-quarter size</a:t>
            </a:r>
          </a:p>
        </p:txBody>
      </p:sp>
      <p:sp>
        <p:nvSpPr>
          <p:cNvPr id="16" name="Rectangle 15"/>
          <p:cNvSpPr/>
          <p:nvPr/>
        </p:nvSpPr>
        <p:spPr>
          <a:xfrm>
            <a:off x="822960" y="4343400"/>
            <a:ext cx="658368" cy="658368"/>
          </a:xfrm>
          <a:prstGeom prst="rect">
            <a:avLst/>
          </a:prstGeom>
          <a:solidFill>
            <a:srgbClr val="EAF2F6"/>
          </a:solidFill>
          <a:ln w="9525">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4544568"/>
            <a:ext cx="658368" cy="182880"/>
          </a:xfrm>
          <a:prstGeom prst="rect">
            <a:avLst/>
          </a:prstGeom>
          <a:noFill/>
        </p:spPr>
        <p:txBody>
          <a:bodyPr wrap="square" lIns="0" rIns="0" tIns="0" bIns="0" anchor="t">
            <a:spAutoFit/>
          </a:bodyPr>
          <a:lstStyle/>
          <a:p>
            <a:pPr algn="ctr">
              <a:lnSpc>
                <a:spcPct val="115000"/>
              </a:lnSpc>
            </a:pPr>
            <a:r>
              <a:rPr sz="1200" b="1" i="0">
                <a:solidFill>
                  <a:srgbClr val="0B4F4A"/>
                </a:solidFill>
                <a:latin typeface="Arial"/>
              </a:rPr>
              <a:t>LL</a:t>
            </a:r>
          </a:p>
        </p:txBody>
      </p:sp>
      <p:sp>
        <p:nvSpPr>
          <p:cNvPr id="18" name="Rectangle 17"/>
          <p:cNvSpPr/>
          <p:nvPr/>
        </p:nvSpPr>
        <p:spPr>
          <a:xfrm>
            <a:off x="1481328" y="4343400"/>
            <a:ext cx="658368" cy="658368"/>
          </a:xfrm>
          <a:prstGeom prst="rect">
            <a:avLst/>
          </a:prstGeom>
          <a:solidFill>
            <a:srgbClr val="FFFFFF"/>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81328" y="4544568"/>
            <a:ext cx="658368" cy="182880"/>
          </a:xfrm>
          <a:prstGeom prst="rect">
            <a:avLst/>
          </a:prstGeom>
          <a:noFill/>
        </p:spPr>
        <p:txBody>
          <a:bodyPr wrap="square" lIns="0" rIns="0" tIns="0" bIns="0" anchor="t">
            <a:spAutoFit/>
          </a:bodyPr>
          <a:lstStyle/>
          <a:p>
            <a:pPr algn="ctr">
              <a:lnSpc>
                <a:spcPct val="115000"/>
              </a:lnSpc>
            </a:pPr>
            <a:r>
              <a:rPr sz="1200" b="1" i="0">
                <a:solidFill>
                  <a:srgbClr val="5F6C7B"/>
                </a:solidFill>
                <a:latin typeface="Arial"/>
              </a:rPr>
              <a:t>LH</a:t>
            </a:r>
          </a:p>
        </p:txBody>
      </p:sp>
      <p:sp>
        <p:nvSpPr>
          <p:cNvPr id="20" name="Rectangle 19"/>
          <p:cNvSpPr/>
          <p:nvPr/>
        </p:nvSpPr>
        <p:spPr>
          <a:xfrm>
            <a:off x="822960" y="5001768"/>
            <a:ext cx="658368" cy="658368"/>
          </a:xfrm>
          <a:prstGeom prst="rect">
            <a:avLst/>
          </a:prstGeom>
          <a:solidFill>
            <a:srgbClr val="FFFFFF"/>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5202936"/>
            <a:ext cx="658368" cy="182880"/>
          </a:xfrm>
          <a:prstGeom prst="rect">
            <a:avLst/>
          </a:prstGeom>
          <a:noFill/>
        </p:spPr>
        <p:txBody>
          <a:bodyPr wrap="square" lIns="0" rIns="0" tIns="0" bIns="0" anchor="t">
            <a:spAutoFit/>
          </a:bodyPr>
          <a:lstStyle/>
          <a:p>
            <a:pPr algn="ctr">
              <a:lnSpc>
                <a:spcPct val="115000"/>
              </a:lnSpc>
            </a:pPr>
            <a:r>
              <a:rPr sz="1200" b="1" i="0">
                <a:solidFill>
                  <a:srgbClr val="5F6C7B"/>
                </a:solidFill>
                <a:latin typeface="Arial"/>
              </a:rPr>
              <a:t>HL</a:t>
            </a:r>
          </a:p>
        </p:txBody>
      </p:sp>
      <p:sp>
        <p:nvSpPr>
          <p:cNvPr id="22" name="Rectangle 21"/>
          <p:cNvSpPr/>
          <p:nvPr/>
        </p:nvSpPr>
        <p:spPr>
          <a:xfrm>
            <a:off x="1481328" y="5001768"/>
            <a:ext cx="658368" cy="658368"/>
          </a:xfrm>
          <a:prstGeom prst="rect">
            <a:avLst/>
          </a:prstGeom>
          <a:solidFill>
            <a:srgbClr val="FFFFFF"/>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481328" y="5202936"/>
            <a:ext cx="658368" cy="182880"/>
          </a:xfrm>
          <a:prstGeom prst="rect">
            <a:avLst/>
          </a:prstGeom>
          <a:noFill/>
        </p:spPr>
        <p:txBody>
          <a:bodyPr wrap="square" lIns="0" rIns="0" tIns="0" bIns="0" anchor="t">
            <a:spAutoFit/>
          </a:bodyPr>
          <a:lstStyle/>
          <a:p>
            <a:pPr algn="ctr">
              <a:lnSpc>
                <a:spcPct val="115000"/>
              </a:lnSpc>
            </a:pPr>
            <a:r>
              <a:rPr sz="1200" b="1" i="0">
                <a:solidFill>
                  <a:srgbClr val="5F6C7B"/>
                </a:solidFill>
                <a:latin typeface="Arial"/>
              </a:rPr>
              <a:t>HH</a:t>
            </a:r>
          </a:p>
        </p:txBody>
      </p:sp>
      <p:sp>
        <p:nvSpPr>
          <p:cNvPr id="24" name="TextBox 23"/>
          <p:cNvSpPr txBox="1"/>
          <p:nvPr/>
        </p:nvSpPr>
        <p:spPr>
          <a:xfrm>
            <a:off x="6347307" y="1691640"/>
            <a:ext cx="5158587" cy="365760"/>
          </a:xfrm>
          <a:prstGeom prst="rect">
            <a:avLst/>
          </a:prstGeom>
          <a:noFill/>
        </p:spPr>
        <p:txBody>
          <a:bodyPr wrap="square" lIns="0" rIns="0" tIns="0" bIns="0" anchor="t">
            <a:spAutoFit/>
          </a:bodyPr>
          <a:lstStyle/>
          <a:p>
            <a:pPr algn="l">
              <a:lnSpc>
                <a:spcPct val="115000"/>
              </a:lnSpc>
            </a:pPr>
            <a:r>
              <a:rPr sz="3400" b="1" i="0">
                <a:solidFill>
                  <a:srgbClr val="0B4F4A"/>
                </a:solidFill>
                <a:latin typeface="Arial"/>
              </a:rPr>
              <a:t>Chaos</a:t>
            </a:r>
          </a:p>
        </p:txBody>
      </p:sp>
      <p:sp>
        <p:nvSpPr>
          <p:cNvPr id="25" name="TextBox 24"/>
          <p:cNvSpPr txBox="1"/>
          <p:nvPr/>
        </p:nvSpPr>
        <p:spPr>
          <a:xfrm>
            <a:off x="6347307" y="2167128"/>
            <a:ext cx="5158587" cy="256032"/>
          </a:xfrm>
          <a:prstGeom prst="rect">
            <a:avLst/>
          </a:prstGeom>
          <a:noFill/>
        </p:spPr>
        <p:txBody>
          <a:bodyPr wrap="square" lIns="0" rIns="0" tIns="0" bIns="0" anchor="t">
            <a:spAutoFit/>
          </a:bodyPr>
          <a:lstStyle/>
          <a:p>
            <a:pPr algn="l">
              <a:lnSpc>
                <a:spcPct val="115000"/>
              </a:lnSpc>
            </a:pPr>
            <a:r>
              <a:rPr sz="1200" b="1" i="0">
                <a:solidFill>
                  <a:srgbClr val="5F6C7B"/>
                </a:solidFill>
                <a:latin typeface="Arial"/>
              </a:rPr>
              <a:t>encryption stream</a:t>
            </a:r>
          </a:p>
        </p:txBody>
      </p:sp>
      <p:sp>
        <p:nvSpPr>
          <p:cNvPr id="26" name="Rectangle 25"/>
          <p:cNvSpPr/>
          <p:nvPr/>
        </p:nvSpPr>
        <p:spPr>
          <a:xfrm>
            <a:off x="6347307" y="2761488"/>
            <a:ext cx="109728" cy="109728"/>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03339" y="2651760"/>
            <a:ext cx="4902555" cy="310896"/>
          </a:xfrm>
          <a:prstGeom prst="rect">
            <a:avLst/>
          </a:prstGeom>
          <a:noFill/>
        </p:spPr>
        <p:txBody>
          <a:bodyPr wrap="square" lIns="0" rIns="0" tIns="0" bIns="0" anchor="t">
            <a:spAutoFit/>
          </a:bodyPr>
          <a:lstStyle/>
          <a:p>
            <a:pPr algn="l">
              <a:lnSpc>
                <a:spcPct val="115000"/>
              </a:lnSpc>
            </a:pPr>
            <a:r>
              <a:rPr sz="1900" b="0" i="0">
                <a:solidFill>
                  <a:srgbClr val="102033"/>
                </a:solidFill>
                <a:latin typeface="Arial"/>
              </a:rPr>
              <a:t>Same key, same stream</a:t>
            </a:r>
          </a:p>
        </p:txBody>
      </p:sp>
      <p:sp>
        <p:nvSpPr>
          <p:cNvPr id="28" name="Rectangle 27"/>
          <p:cNvSpPr/>
          <p:nvPr/>
        </p:nvSpPr>
        <p:spPr>
          <a:xfrm>
            <a:off x="6347307" y="3182112"/>
            <a:ext cx="109728" cy="109728"/>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03339" y="3072384"/>
            <a:ext cx="4902555" cy="310896"/>
          </a:xfrm>
          <a:prstGeom prst="rect">
            <a:avLst/>
          </a:prstGeom>
          <a:noFill/>
        </p:spPr>
        <p:txBody>
          <a:bodyPr wrap="square" lIns="0" rIns="0" tIns="0" bIns="0" anchor="t">
            <a:spAutoFit/>
          </a:bodyPr>
          <a:lstStyle/>
          <a:p>
            <a:pPr algn="l">
              <a:lnSpc>
                <a:spcPct val="115000"/>
              </a:lnSpc>
            </a:pPr>
            <a:r>
              <a:rPr sz="1900" b="0" i="0">
                <a:solidFill>
                  <a:srgbClr val="102033"/>
                </a:solidFill>
                <a:latin typeface="Arial"/>
              </a:rPr>
              <a:t>Tiny key change breaks it</a:t>
            </a:r>
          </a:p>
        </p:txBody>
      </p:sp>
      <p:sp>
        <p:nvSpPr>
          <p:cNvPr id="30" name="Rectangle 29"/>
          <p:cNvSpPr/>
          <p:nvPr/>
        </p:nvSpPr>
        <p:spPr>
          <a:xfrm>
            <a:off x="6347307" y="3602736"/>
            <a:ext cx="109728" cy="109728"/>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03339" y="3493008"/>
            <a:ext cx="4902555" cy="310896"/>
          </a:xfrm>
          <a:prstGeom prst="rect">
            <a:avLst/>
          </a:prstGeom>
          <a:noFill/>
        </p:spPr>
        <p:txBody>
          <a:bodyPr wrap="square" lIns="0" rIns="0" tIns="0" bIns="0" anchor="t">
            <a:spAutoFit/>
          </a:bodyPr>
          <a:lstStyle/>
          <a:p>
            <a:pPr algn="l">
              <a:lnSpc>
                <a:spcPct val="115000"/>
              </a:lnSpc>
            </a:pPr>
            <a:r>
              <a:rPr sz="1900" b="0" i="0">
                <a:solidFill>
                  <a:srgbClr val="102033"/>
                </a:solidFill>
                <a:latin typeface="Arial"/>
              </a:rPr>
              <a:t>Stream drives pixel scrambling</a:t>
            </a:r>
          </a:p>
        </p:txBody>
      </p:sp>
      <p:sp>
        <p:nvSpPr>
          <p:cNvPr id="32" name="Rectangle 31"/>
          <p:cNvSpPr/>
          <p:nvPr/>
        </p:nvSpPr>
        <p:spPr>
          <a:xfrm>
            <a:off x="6484467" y="4315968"/>
            <a:ext cx="3474720" cy="1143000"/>
          </a:xfrm>
          <a:prstGeom prst="rect">
            <a:avLst/>
          </a:prstGeom>
          <a:solidFill>
            <a:srgbClr val="FFFFFF"/>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6859371" y="5102352"/>
            <a:ext cx="508130" cy="0"/>
          </a:xfrm>
          <a:prstGeom prst="line">
            <a:avLst/>
          </a:prstGeom>
          <a:ln w="12700">
            <a:solidFill>
              <a:srgbClr val="0F766E"/>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115403" y="4663440"/>
            <a:ext cx="685312" cy="0"/>
          </a:xfrm>
          <a:prstGeom prst="line">
            <a:avLst/>
          </a:prstGeom>
          <a:ln w="12700">
            <a:solidFill>
              <a:srgbClr val="0F766E"/>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472019" y="5248656"/>
            <a:ext cx="576145" cy="0"/>
          </a:xfrm>
          <a:prstGeom prst="line">
            <a:avLst/>
          </a:prstGeom>
          <a:ln w="12700">
            <a:solidFill>
              <a:srgbClr val="0F766E"/>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810347" y="4782312"/>
            <a:ext cx="554175" cy="0"/>
          </a:xfrm>
          <a:prstGeom prst="line">
            <a:avLst/>
          </a:prstGeom>
          <a:ln w="12700">
            <a:solidFill>
              <a:srgbClr val="0F766E"/>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249259" y="5120640"/>
            <a:ext cx="642752" cy="0"/>
          </a:xfrm>
          <a:prstGeom prst="line">
            <a:avLst/>
          </a:prstGeom>
          <a:ln w="12700">
            <a:solidFill>
              <a:srgbClr val="0F766E"/>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660739" y="4626864"/>
            <a:ext cx="696926" cy="0"/>
          </a:xfrm>
          <a:prstGeom prst="line">
            <a:avLst/>
          </a:prstGeom>
          <a:ln w="12700">
            <a:solidFill>
              <a:srgbClr val="0F766E"/>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209379" y="5056632"/>
            <a:ext cx="558084" cy="0"/>
          </a:xfrm>
          <a:prstGeom prst="line">
            <a:avLst/>
          </a:prstGeom>
          <a:ln w="12700">
            <a:solidFill>
              <a:srgbClr val="0F766E"/>
            </a:solidFill>
          </a:ln>
        </p:spPr>
        <p:style>
          <a:lnRef idx="2">
            <a:schemeClr val="accent1"/>
          </a:lnRef>
          <a:fillRef idx="0">
            <a:schemeClr val="accent1"/>
          </a:fillRef>
          <a:effectRef idx="1">
            <a:schemeClr val="accent1"/>
          </a:effectRef>
          <a:fontRef idx="minor">
            <a:schemeClr val="tx1"/>
          </a:fontRef>
        </p:style>
      </p:cxnSp>
      <p:sp>
        <p:nvSpPr>
          <p:cNvPr id="40" name="Oval 39"/>
          <p:cNvSpPr/>
          <p:nvPr/>
        </p:nvSpPr>
        <p:spPr>
          <a:xfrm>
            <a:off x="6827367" y="5070348"/>
            <a:ext cx="64008" cy="64008"/>
          </a:xfrm>
          <a:prstGeom prst="ellipse">
            <a:avLst/>
          </a:prstGeom>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7083399" y="4631436"/>
            <a:ext cx="64008" cy="64008"/>
          </a:xfrm>
          <a:prstGeom prst="ellipse">
            <a:avLst/>
          </a:prstGeom>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7440015" y="5216652"/>
            <a:ext cx="64008" cy="64008"/>
          </a:xfrm>
          <a:prstGeom prst="ellipse">
            <a:avLst/>
          </a:prstGeom>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7778343" y="4750307"/>
            <a:ext cx="64008" cy="64008"/>
          </a:xfrm>
          <a:prstGeom prst="ellipse">
            <a:avLst/>
          </a:prstGeom>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8217255" y="5088636"/>
            <a:ext cx="64008" cy="64008"/>
          </a:xfrm>
          <a:prstGeom prst="ellipse">
            <a:avLst/>
          </a:prstGeom>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8628735" y="4594859"/>
            <a:ext cx="64008" cy="64008"/>
          </a:xfrm>
          <a:prstGeom prst="ellipse">
            <a:avLst/>
          </a:prstGeom>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9177375" y="5024628"/>
            <a:ext cx="64008" cy="64008"/>
          </a:xfrm>
          <a:prstGeom prst="ellipse">
            <a:avLst/>
          </a:prstGeom>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9634575" y="4704588"/>
            <a:ext cx="64008" cy="64008"/>
          </a:xfrm>
          <a:prstGeom prst="ellipse">
            <a:avLst/>
          </a:prstGeom>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AFC"/>
        </a:solidFill>
        <a:effectLst/>
      </p:bgPr>
    </p:bg>
    <p:spTree>
      <p:nvGrpSpPr>
        <p:cNvPr id="1" name=""/>
        <p:cNvGrpSpPr/>
        <p:nvPr/>
      </p:nvGrpSpPr>
      <p:grpSpPr/>
      <p:sp>
        <p:nvSpPr>
          <p:cNvPr id="2" name="TextBox 1"/>
          <p:cNvSpPr txBox="1"/>
          <p:nvPr/>
        </p:nvSpPr>
        <p:spPr>
          <a:xfrm>
            <a:off x="685800" y="411480"/>
            <a:ext cx="4114800" cy="228600"/>
          </a:xfrm>
          <a:prstGeom prst="rect">
            <a:avLst/>
          </a:prstGeom>
          <a:noFill/>
        </p:spPr>
        <p:txBody>
          <a:bodyPr wrap="square" lIns="0" rIns="0" tIns="0" bIns="0" anchor="t">
            <a:spAutoFit/>
          </a:bodyPr>
          <a:lstStyle/>
          <a:p>
            <a:pPr algn="l">
              <a:lnSpc>
                <a:spcPct val="115000"/>
              </a:lnSpc>
            </a:pPr>
            <a:r>
              <a:rPr sz="900" b="1" i="0">
                <a:solidFill>
                  <a:srgbClr val="5F6C7B"/>
                </a:solidFill>
                <a:latin typeface="Arial"/>
              </a:rPr>
              <a:t>NOVELTY</a:t>
            </a:r>
          </a:p>
        </p:txBody>
      </p:sp>
      <p:sp>
        <p:nvSpPr>
          <p:cNvPr id="3" name="TextBox 2"/>
          <p:cNvSpPr txBox="1"/>
          <p:nvPr/>
        </p:nvSpPr>
        <p:spPr>
          <a:xfrm>
            <a:off x="10317175" y="411480"/>
            <a:ext cx="1188720" cy="228600"/>
          </a:xfrm>
          <a:prstGeom prst="rect">
            <a:avLst/>
          </a:prstGeom>
          <a:noFill/>
        </p:spPr>
        <p:txBody>
          <a:bodyPr wrap="square" lIns="0" rIns="0" tIns="0" bIns="0" anchor="t">
            <a:spAutoFit/>
          </a:bodyPr>
          <a:lstStyle/>
          <a:p>
            <a:pPr algn="r">
              <a:lnSpc>
                <a:spcPct val="115000"/>
              </a:lnSpc>
            </a:pPr>
            <a:r>
              <a:rPr sz="1000" b="1" i="0">
                <a:solidFill>
                  <a:srgbClr val="5F6C7B"/>
                </a:solidFill>
                <a:latin typeface="Arial"/>
              </a:rPr>
              <a:t>04/10</a:t>
            </a:r>
          </a:p>
        </p:txBody>
      </p:sp>
      <p:sp>
        <p:nvSpPr>
          <p:cNvPr id="4" name="TextBox 3"/>
          <p:cNvSpPr txBox="1"/>
          <p:nvPr/>
        </p:nvSpPr>
        <p:spPr>
          <a:xfrm>
            <a:off x="685800" y="749808"/>
            <a:ext cx="10820095" cy="594360"/>
          </a:xfrm>
          <a:prstGeom prst="rect">
            <a:avLst/>
          </a:prstGeom>
          <a:noFill/>
        </p:spPr>
        <p:txBody>
          <a:bodyPr wrap="square" lIns="0" rIns="0" tIns="0" bIns="0" anchor="t">
            <a:spAutoFit/>
          </a:bodyPr>
          <a:lstStyle/>
          <a:p>
            <a:pPr algn="l">
              <a:lnSpc>
                <a:spcPct val="115000"/>
              </a:lnSpc>
            </a:pPr>
            <a:r>
              <a:rPr sz="3100" b="1" i="0">
                <a:solidFill>
                  <a:srgbClr val="102033"/>
                </a:solidFill>
                <a:latin typeface="Arial"/>
              </a:rPr>
              <a:t>One cube. One encryption pass.</a:t>
            </a:r>
          </a:p>
        </p:txBody>
      </p:sp>
      <p:cxnSp>
        <p:nvCxnSpPr>
          <p:cNvPr id="5" name="Connector 4"/>
          <p:cNvCxnSpPr/>
          <p:nvPr/>
        </p:nvCxnSpPr>
        <p:spPr>
          <a:xfrm>
            <a:off x="685800" y="1444752"/>
            <a:ext cx="10820095" cy="0"/>
          </a:xfrm>
          <a:prstGeom prst="line">
            <a:avLst/>
          </a:prstGeom>
          <a:ln w="12700">
            <a:solidFill>
              <a:srgbClr val="D8E1E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82512"/>
            <a:ext cx="6583680" cy="182880"/>
          </a:xfrm>
          <a:prstGeom prst="rect">
            <a:avLst/>
          </a:prstGeom>
          <a:noFill/>
        </p:spPr>
        <p:txBody>
          <a:bodyPr wrap="square" lIns="0" rIns="0" tIns="0" bIns="0" anchor="t">
            <a:spAutoFit/>
          </a:bodyPr>
          <a:lstStyle/>
          <a:p>
            <a:pPr algn="l">
              <a:lnSpc>
                <a:spcPct val="115000"/>
              </a:lnSpc>
            </a:pPr>
            <a:r>
              <a:rPr sz="850" b="0" i="0">
                <a:solidFill>
                  <a:srgbClr val="5F6C7B"/>
                </a:solidFill>
                <a:latin typeface="Arial"/>
              </a:rPr>
              <a:t>CMP4221 - DWT Encryption - Xu et al. ACM TOMM 2026</a:t>
            </a:r>
          </a:p>
        </p:txBody>
      </p:sp>
      <p:sp>
        <p:nvSpPr>
          <p:cNvPr id="7" name="TextBox 6"/>
          <p:cNvSpPr txBox="1"/>
          <p:nvPr/>
        </p:nvSpPr>
        <p:spPr>
          <a:xfrm>
            <a:off x="8945575" y="6382512"/>
            <a:ext cx="2560320" cy="182880"/>
          </a:xfrm>
          <a:prstGeom prst="rect">
            <a:avLst/>
          </a:prstGeom>
          <a:noFill/>
        </p:spPr>
        <p:txBody>
          <a:bodyPr wrap="square" lIns="0" rIns="0" tIns="0" bIns="0" anchor="t">
            <a:spAutoFit/>
          </a:bodyPr>
          <a:lstStyle/>
          <a:p>
            <a:pPr algn="r">
              <a:lnSpc>
                <a:spcPct val="115000"/>
              </a:lnSpc>
            </a:pPr>
            <a:r>
              <a:rPr sz="850" b="1" i="0">
                <a:solidFill>
                  <a:srgbClr val="5F6C7B"/>
                </a:solidFill>
                <a:latin typeface="Arial"/>
              </a:rPr>
              <a:t>Abdul - 0:55</a:t>
            </a:r>
          </a:p>
        </p:txBody>
      </p:sp>
      <p:sp>
        <p:nvSpPr>
          <p:cNvPr id="8" name="TextBox 7"/>
          <p:cNvSpPr txBox="1"/>
          <p:nvPr/>
        </p:nvSpPr>
        <p:spPr>
          <a:xfrm>
            <a:off x="685800" y="1691640"/>
            <a:ext cx="4389120" cy="530352"/>
          </a:xfrm>
          <a:prstGeom prst="rect">
            <a:avLst/>
          </a:prstGeom>
          <a:noFill/>
        </p:spPr>
        <p:txBody>
          <a:bodyPr wrap="square" lIns="0" rIns="0" tIns="0" bIns="0" anchor="t">
            <a:spAutoFit/>
          </a:bodyPr>
          <a:lstStyle/>
          <a:p>
            <a:pPr algn="l">
              <a:lnSpc>
                <a:spcPct val="115000"/>
              </a:lnSpc>
            </a:pPr>
            <a:r>
              <a:rPr sz="2300" b="1" i="0">
                <a:solidFill>
                  <a:srgbClr val="5F6C7B"/>
                </a:solidFill>
                <a:latin typeface="Arial"/>
              </a:rPr>
              <a:t>Old pattern</a:t>
            </a:r>
          </a:p>
        </p:txBody>
      </p:sp>
      <p:sp>
        <p:nvSpPr>
          <p:cNvPr id="9" name="Rectangle 8"/>
          <p:cNvSpPr/>
          <p:nvPr/>
        </p:nvSpPr>
        <p:spPr>
          <a:xfrm>
            <a:off x="685800" y="2487168"/>
            <a:ext cx="109728" cy="109728"/>
          </a:xfrm>
          <a:prstGeom prst="rect">
            <a:avLst/>
          </a:prstGeom>
          <a:solidFill>
            <a:srgbClr val="5F6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377440"/>
            <a:ext cx="4133087" cy="310896"/>
          </a:xfrm>
          <a:prstGeom prst="rect">
            <a:avLst/>
          </a:prstGeom>
          <a:noFill/>
        </p:spPr>
        <p:txBody>
          <a:bodyPr wrap="square" lIns="0" rIns="0" tIns="0" bIns="0" anchor="t">
            <a:spAutoFit/>
          </a:bodyPr>
          <a:lstStyle/>
          <a:p>
            <a:pPr algn="l">
              <a:lnSpc>
                <a:spcPct val="115000"/>
              </a:lnSpc>
            </a:pPr>
            <a:r>
              <a:rPr sz="1900" b="0" i="0">
                <a:solidFill>
                  <a:srgbClr val="5F6C7B"/>
                </a:solidFill>
                <a:latin typeface="Arial"/>
              </a:rPr>
              <a:t>Compress image 1</a:t>
            </a:r>
          </a:p>
        </p:txBody>
      </p:sp>
      <p:sp>
        <p:nvSpPr>
          <p:cNvPr id="11" name="Rectangle 10"/>
          <p:cNvSpPr/>
          <p:nvPr/>
        </p:nvSpPr>
        <p:spPr>
          <a:xfrm>
            <a:off x="685800" y="2907792"/>
            <a:ext cx="109728" cy="109728"/>
          </a:xfrm>
          <a:prstGeom prst="rect">
            <a:avLst/>
          </a:prstGeom>
          <a:solidFill>
            <a:srgbClr val="5F6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2798064"/>
            <a:ext cx="4133087" cy="310896"/>
          </a:xfrm>
          <a:prstGeom prst="rect">
            <a:avLst/>
          </a:prstGeom>
          <a:noFill/>
        </p:spPr>
        <p:txBody>
          <a:bodyPr wrap="square" lIns="0" rIns="0" tIns="0" bIns="0" anchor="t">
            <a:spAutoFit/>
          </a:bodyPr>
          <a:lstStyle/>
          <a:p>
            <a:pPr algn="l">
              <a:lnSpc>
                <a:spcPct val="115000"/>
              </a:lnSpc>
            </a:pPr>
            <a:r>
              <a:rPr sz="1900" b="0" i="0">
                <a:solidFill>
                  <a:srgbClr val="5F6C7B"/>
                </a:solidFill>
                <a:latin typeface="Arial"/>
              </a:rPr>
              <a:t>Encrypt image 1</a:t>
            </a:r>
          </a:p>
        </p:txBody>
      </p:sp>
      <p:sp>
        <p:nvSpPr>
          <p:cNvPr id="13" name="Rectangle 12"/>
          <p:cNvSpPr/>
          <p:nvPr/>
        </p:nvSpPr>
        <p:spPr>
          <a:xfrm>
            <a:off x="685800" y="3328416"/>
            <a:ext cx="109728" cy="109728"/>
          </a:xfrm>
          <a:prstGeom prst="rect">
            <a:avLst/>
          </a:prstGeom>
          <a:solidFill>
            <a:srgbClr val="5F6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3218688"/>
            <a:ext cx="4133087" cy="310896"/>
          </a:xfrm>
          <a:prstGeom prst="rect">
            <a:avLst/>
          </a:prstGeom>
          <a:noFill/>
        </p:spPr>
        <p:txBody>
          <a:bodyPr wrap="square" lIns="0" rIns="0" tIns="0" bIns="0" anchor="t">
            <a:spAutoFit/>
          </a:bodyPr>
          <a:lstStyle/>
          <a:p>
            <a:pPr algn="l">
              <a:lnSpc>
                <a:spcPct val="115000"/>
              </a:lnSpc>
            </a:pPr>
            <a:r>
              <a:rPr sz="1900" b="0" i="0">
                <a:solidFill>
                  <a:srgbClr val="5F6C7B"/>
                </a:solidFill>
                <a:latin typeface="Arial"/>
              </a:rPr>
              <a:t>Repeat for every image</a:t>
            </a:r>
          </a:p>
        </p:txBody>
      </p:sp>
      <p:cxnSp>
        <p:nvCxnSpPr>
          <p:cNvPr id="15" name="Connector 14"/>
          <p:cNvCxnSpPr/>
          <p:nvPr/>
        </p:nvCxnSpPr>
        <p:spPr>
          <a:xfrm>
            <a:off x="5806440" y="1828800"/>
            <a:ext cx="0" cy="3291840"/>
          </a:xfrm>
          <a:prstGeom prst="line">
            <a:avLst/>
          </a:prstGeom>
          <a:ln w="15240">
            <a:solidFill>
              <a:srgbClr val="D8E1EA"/>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92240" y="1691640"/>
            <a:ext cx="4663440" cy="530352"/>
          </a:xfrm>
          <a:prstGeom prst="rect">
            <a:avLst/>
          </a:prstGeom>
          <a:noFill/>
        </p:spPr>
        <p:txBody>
          <a:bodyPr wrap="square" lIns="0" rIns="0" tIns="0" bIns="0" anchor="t">
            <a:spAutoFit/>
          </a:bodyPr>
          <a:lstStyle/>
          <a:p>
            <a:pPr algn="l">
              <a:lnSpc>
                <a:spcPct val="115000"/>
              </a:lnSpc>
            </a:pPr>
            <a:r>
              <a:rPr sz="2300" b="1" i="0">
                <a:solidFill>
                  <a:srgbClr val="0B4F4A"/>
                </a:solidFill>
                <a:latin typeface="Arial"/>
              </a:rPr>
              <a:t>This paper</a:t>
            </a:r>
          </a:p>
        </p:txBody>
      </p:sp>
      <p:sp>
        <p:nvSpPr>
          <p:cNvPr id="17" name="Rectangle 16"/>
          <p:cNvSpPr/>
          <p:nvPr/>
        </p:nvSpPr>
        <p:spPr>
          <a:xfrm>
            <a:off x="6492240" y="2487168"/>
            <a:ext cx="109728" cy="109728"/>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48272" y="2377440"/>
            <a:ext cx="4407407" cy="310896"/>
          </a:xfrm>
          <a:prstGeom prst="rect">
            <a:avLst/>
          </a:prstGeom>
          <a:noFill/>
        </p:spPr>
        <p:txBody>
          <a:bodyPr wrap="square" lIns="0" rIns="0" tIns="0" bIns="0" anchor="t">
            <a:spAutoFit/>
          </a:bodyPr>
          <a:lstStyle/>
          <a:p>
            <a:pPr algn="l">
              <a:lnSpc>
                <a:spcPct val="115000"/>
              </a:lnSpc>
            </a:pPr>
            <a:r>
              <a:rPr sz="1900" b="0" i="0">
                <a:solidFill>
                  <a:srgbClr val="102033"/>
                </a:solidFill>
                <a:latin typeface="Arial"/>
              </a:rPr>
              <a:t>DWT-compress every image</a:t>
            </a:r>
          </a:p>
        </p:txBody>
      </p:sp>
      <p:sp>
        <p:nvSpPr>
          <p:cNvPr id="19" name="Rectangle 18"/>
          <p:cNvSpPr/>
          <p:nvPr/>
        </p:nvSpPr>
        <p:spPr>
          <a:xfrm>
            <a:off x="6492240" y="2907792"/>
            <a:ext cx="109728" cy="109728"/>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48272" y="2798064"/>
            <a:ext cx="4407407" cy="310896"/>
          </a:xfrm>
          <a:prstGeom prst="rect">
            <a:avLst/>
          </a:prstGeom>
          <a:noFill/>
        </p:spPr>
        <p:txBody>
          <a:bodyPr wrap="square" lIns="0" rIns="0" tIns="0" bIns="0" anchor="t">
            <a:spAutoFit/>
          </a:bodyPr>
          <a:lstStyle/>
          <a:p>
            <a:pPr algn="l">
              <a:lnSpc>
                <a:spcPct val="115000"/>
              </a:lnSpc>
            </a:pPr>
            <a:r>
              <a:rPr sz="1900" b="0" i="0">
                <a:solidFill>
                  <a:srgbClr val="102033"/>
                </a:solidFill>
                <a:latin typeface="Arial"/>
              </a:rPr>
              <a:t>Stack LL bands into cube</a:t>
            </a:r>
          </a:p>
        </p:txBody>
      </p:sp>
      <p:sp>
        <p:nvSpPr>
          <p:cNvPr id="21" name="Rectangle 20"/>
          <p:cNvSpPr/>
          <p:nvPr/>
        </p:nvSpPr>
        <p:spPr>
          <a:xfrm>
            <a:off x="6492240" y="3328416"/>
            <a:ext cx="109728" cy="109728"/>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48272" y="3218688"/>
            <a:ext cx="4407407" cy="310896"/>
          </a:xfrm>
          <a:prstGeom prst="rect">
            <a:avLst/>
          </a:prstGeom>
          <a:noFill/>
        </p:spPr>
        <p:txBody>
          <a:bodyPr wrap="square" lIns="0" rIns="0" tIns="0" bIns="0" anchor="t">
            <a:spAutoFit/>
          </a:bodyPr>
          <a:lstStyle/>
          <a:p>
            <a:pPr algn="l">
              <a:lnSpc>
                <a:spcPct val="115000"/>
              </a:lnSpc>
            </a:pPr>
            <a:r>
              <a:rPr sz="1900" b="0" i="0">
                <a:solidFill>
                  <a:srgbClr val="102033"/>
                </a:solidFill>
                <a:latin typeface="Arial"/>
              </a:rPr>
              <a:t>Encrypt the cube once</a:t>
            </a:r>
          </a:p>
        </p:txBody>
      </p:sp>
      <p:sp>
        <p:nvSpPr>
          <p:cNvPr id="23" name="Rectangle 22"/>
          <p:cNvSpPr/>
          <p:nvPr/>
        </p:nvSpPr>
        <p:spPr>
          <a:xfrm>
            <a:off x="6492240" y="3749040"/>
            <a:ext cx="109728" cy="109728"/>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48272" y="3639312"/>
            <a:ext cx="4407407" cy="310896"/>
          </a:xfrm>
          <a:prstGeom prst="rect">
            <a:avLst/>
          </a:prstGeom>
          <a:noFill/>
        </p:spPr>
        <p:txBody>
          <a:bodyPr wrap="square" lIns="0" rIns="0" tIns="0" bIns="0" anchor="t">
            <a:spAutoFit/>
          </a:bodyPr>
          <a:lstStyle/>
          <a:p>
            <a:pPr algn="l">
              <a:lnSpc>
                <a:spcPct val="115000"/>
              </a:lnSpc>
            </a:pPr>
            <a:r>
              <a:rPr sz="1900" b="0" i="0">
                <a:solidFill>
                  <a:srgbClr val="102033"/>
                </a:solidFill>
                <a:latin typeface="Arial"/>
              </a:rPr>
              <a:t>Pad smaller images with zeros</a:t>
            </a:r>
          </a:p>
        </p:txBody>
      </p:sp>
      <p:sp>
        <p:nvSpPr>
          <p:cNvPr id="25" name="Rectangle 24"/>
          <p:cNvSpPr/>
          <p:nvPr/>
        </p:nvSpPr>
        <p:spPr>
          <a:xfrm>
            <a:off x="2286000" y="4892040"/>
            <a:ext cx="658368" cy="438912"/>
          </a:xfrm>
          <a:prstGeom prst="rect">
            <a:avLst/>
          </a:prstGeom>
          <a:solidFill>
            <a:srgbClr val="FFFFFF"/>
          </a:solidFill>
          <a:ln w="9525">
            <a:solidFill>
              <a:srgbClr val="5F6C7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194560" y="4956048"/>
            <a:ext cx="658368" cy="438912"/>
          </a:xfrm>
          <a:prstGeom prst="rect">
            <a:avLst/>
          </a:prstGeom>
          <a:solidFill>
            <a:srgbClr val="FFFFFF"/>
          </a:solidFill>
          <a:ln w="9525">
            <a:solidFill>
              <a:srgbClr val="5F6C7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103120" y="5020055"/>
            <a:ext cx="658368" cy="438912"/>
          </a:xfrm>
          <a:prstGeom prst="rect">
            <a:avLst/>
          </a:prstGeom>
          <a:solidFill>
            <a:srgbClr val="FFFFFF"/>
          </a:solidFill>
          <a:ln w="9525">
            <a:solidFill>
              <a:srgbClr val="5F6C7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011680" y="5084064"/>
            <a:ext cx="658368" cy="438912"/>
          </a:xfrm>
          <a:prstGeom prst="rect">
            <a:avLst/>
          </a:prstGeom>
          <a:solidFill>
            <a:srgbClr val="FFFFFF"/>
          </a:solidFill>
          <a:ln w="9525">
            <a:solidFill>
              <a:srgbClr val="5F6C7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920240" y="5148072"/>
            <a:ext cx="658368" cy="438912"/>
          </a:xfrm>
          <a:prstGeom prst="rect">
            <a:avLst/>
          </a:prstGeom>
          <a:solidFill>
            <a:srgbClr val="FFFFFF"/>
          </a:solidFill>
          <a:ln w="9525">
            <a:solidFill>
              <a:srgbClr val="5F6C7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28800" y="5742432"/>
            <a:ext cx="1389888" cy="182880"/>
          </a:xfrm>
          <a:prstGeom prst="rect">
            <a:avLst/>
          </a:prstGeom>
          <a:noFill/>
        </p:spPr>
        <p:txBody>
          <a:bodyPr wrap="square" lIns="0" rIns="0" tIns="0" bIns="0" anchor="t">
            <a:spAutoFit/>
          </a:bodyPr>
          <a:lstStyle/>
          <a:p>
            <a:pPr algn="ctr">
              <a:lnSpc>
                <a:spcPct val="115000"/>
              </a:lnSpc>
            </a:pPr>
            <a:r>
              <a:rPr sz="900" b="1" i="0">
                <a:solidFill>
                  <a:srgbClr val="5F6C7B"/>
                </a:solidFill>
                <a:latin typeface="Arial"/>
              </a:rPr>
              <a:t>N IMAGES</a:t>
            </a:r>
          </a:p>
        </p:txBody>
      </p:sp>
      <p:sp>
        <p:nvSpPr>
          <p:cNvPr id="31" name="TextBox 30"/>
          <p:cNvSpPr txBox="1"/>
          <p:nvPr/>
        </p:nvSpPr>
        <p:spPr>
          <a:xfrm>
            <a:off x="3657600" y="5065776"/>
            <a:ext cx="365760" cy="182880"/>
          </a:xfrm>
          <a:prstGeom prst="rect">
            <a:avLst/>
          </a:prstGeom>
          <a:noFill/>
        </p:spPr>
        <p:txBody>
          <a:bodyPr wrap="square" lIns="0" rIns="0" tIns="0" bIns="0" anchor="t">
            <a:spAutoFit/>
          </a:bodyPr>
          <a:lstStyle/>
          <a:p>
            <a:pPr algn="ctr">
              <a:lnSpc>
                <a:spcPct val="115000"/>
              </a:lnSpc>
            </a:pPr>
            <a:r>
              <a:rPr sz="1800" b="1" i="0">
                <a:solidFill>
                  <a:srgbClr val="5F6C7B"/>
                </a:solidFill>
                <a:latin typeface="Arial"/>
              </a:rPr>
              <a:t>&gt;</a:t>
            </a:r>
          </a:p>
        </p:txBody>
      </p:sp>
      <p:sp>
        <p:nvSpPr>
          <p:cNvPr id="32" name="Rectangle 31"/>
          <p:cNvSpPr/>
          <p:nvPr/>
        </p:nvSpPr>
        <p:spPr>
          <a:xfrm>
            <a:off x="4544568" y="4736592"/>
            <a:ext cx="914400" cy="566928"/>
          </a:xfrm>
          <a:prstGeom prst="rect">
            <a:avLst/>
          </a:prstGeom>
          <a:solidFill>
            <a:srgbClr val="FFFFFF"/>
          </a:solidFill>
          <a:ln w="9525">
            <a:solidFill>
              <a:srgbClr val="5F6C7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443984" y="4782312"/>
            <a:ext cx="914400" cy="566928"/>
          </a:xfrm>
          <a:prstGeom prst="rect">
            <a:avLst/>
          </a:prstGeom>
          <a:solidFill>
            <a:srgbClr val="FFFFFF"/>
          </a:solidFill>
          <a:ln w="9525">
            <a:solidFill>
              <a:srgbClr val="5F6C7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343400" y="4828032"/>
            <a:ext cx="914400" cy="566928"/>
          </a:xfrm>
          <a:prstGeom prst="rect">
            <a:avLst/>
          </a:prstGeom>
          <a:solidFill>
            <a:srgbClr val="FFFFFF"/>
          </a:solidFill>
          <a:ln w="15240">
            <a:solidFill>
              <a:srgbClr val="5F6C7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343400" y="5001768"/>
            <a:ext cx="914400" cy="219456"/>
          </a:xfrm>
          <a:prstGeom prst="rect">
            <a:avLst/>
          </a:prstGeom>
          <a:noFill/>
        </p:spPr>
        <p:txBody>
          <a:bodyPr wrap="square" lIns="0" rIns="0" tIns="0" bIns="0" anchor="t">
            <a:spAutoFit/>
          </a:bodyPr>
          <a:lstStyle/>
          <a:p>
            <a:pPr algn="ctr">
              <a:lnSpc>
                <a:spcPct val="115000"/>
              </a:lnSpc>
            </a:pPr>
            <a:r>
              <a:rPr sz="1300" b="1" i="0">
                <a:solidFill>
                  <a:srgbClr val="102033"/>
                </a:solidFill>
                <a:latin typeface="Arial"/>
              </a:rPr>
              <a:t>C</a:t>
            </a:r>
          </a:p>
        </p:txBody>
      </p:sp>
      <p:sp>
        <p:nvSpPr>
          <p:cNvPr id="36" name="TextBox 35"/>
          <p:cNvSpPr txBox="1"/>
          <p:nvPr/>
        </p:nvSpPr>
        <p:spPr>
          <a:xfrm>
            <a:off x="5715000" y="5065776"/>
            <a:ext cx="365760" cy="182880"/>
          </a:xfrm>
          <a:prstGeom prst="rect">
            <a:avLst/>
          </a:prstGeom>
          <a:noFill/>
        </p:spPr>
        <p:txBody>
          <a:bodyPr wrap="square" lIns="0" rIns="0" tIns="0" bIns="0" anchor="t">
            <a:spAutoFit/>
          </a:bodyPr>
          <a:lstStyle/>
          <a:p>
            <a:pPr algn="ctr">
              <a:lnSpc>
                <a:spcPct val="115000"/>
              </a:lnSpc>
            </a:pPr>
            <a:r>
              <a:rPr sz="1800" b="1" i="0">
                <a:solidFill>
                  <a:srgbClr val="5F6C7B"/>
                </a:solidFill>
                <a:latin typeface="Arial"/>
              </a:rPr>
              <a:t>&gt;</a:t>
            </a:r>
          </a:p>
        </p:txBody>
      </p:sp>
      <p:sp>
        <p:nvSpPr>
          <p:cNvPr id="37" name="Rectangle 36"/>
          <p:cNvSpPr/>
          <p:nvPr/>
        </p:nvSpPr>
        <p:spPr>
          <a:xfrm>
            <a:off x="6601968" y="4736592"/>
            <a:ext cx="914400" cy="566928"/>
          </a:xfrm>
          <a:prstGeom prst="rect">
            <a:avLst/>
          </a:prstGeom>
          <a:solidFill>
            <a:srgbClr val="FFFFFF"/>
          </a:solidFill>
          <a:ln w="9525">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501384" y="4782312"/>
            <a:ext cx="914400" cy="566928"/>
          </a:xfrm>
          <a:prstGeom prst="rect">
            <a:avLst/>
          </a:prstGeom>
          <a:solidFill>
            <a:srgbClr val="FFFFFF"/>
          </a:solidFill>
          <a:ln w="9525">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400800" y="4828032"/>
            <a:ext cx="914400" cy="566928"/>
          </a:xfrm>
          <a:prstGeom prst="rect">
            <a:avLst/>
          </a:prstGeom>
          <a:solidFill>
            <a:srgbClr val="FFFFFF"/>
          </a:solidFill>
          <a:ln w="1524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0" y="5001768"/>
            <a:ext cx="914400" cy="219456"/>
          </a:xfrm>
          <a:prstGeom prst="rect">
            <a:avLst/>
          </a:prstGeom>
          <a:noFill/>
        </p:spPr>
        <p:txBody>
          <a:bodyPr wrap="square" lIns="0" rIns="0" tIns="0" bIns="0" anchor="t">
            <a:spAutoFit/>
          </a:bodyPr>
          <a:lstStyle/>
          <a:p>
            <a:pPr algn="ctr">
              <a:lnSpc>
                <a:spcPct val="115000"/>
              </a:lnSpc>
            </a:pPr>
            <a:r>
              <a:rPr sz="1300" b="1" i="0">
                <a:solidFill>
                  <a:srgbClr val="0B4F4A"/>
                </a:solidFill>
                <a:latin typeface="Arial"/>
              </a:rPr>
              <a:t>D</a:t>
            </a:r>
          </a:p>
        </p:txBody>
      </p:sp>
      <p:sp>
        <p:nvSpPr>
          <p:cNvPr id="41" name="TextBox 40"/>
          <p:cNvSpPr txBox="1"/>
          <p:nvPr/>
        </p:nvSpPr>
        <p:spPr>
          <a:xfrm>
            <a:off x="7818120" y="5010912"/>
            <a:ext cx="2743200" cy="292608"/>
          </a:xfrm>
          <a:prstGeom prst="rect">
            <a:avLst/>
          </a:prstGeom>
          <a:noFill/>
        </p:spPr>
        <p:txBody>
          <a:bodyPr wrap="square" lIns="0" rIns="0" tIns="0" bIns="0" anchor="t">
            <a:spAutoFit/>
          </a:bodyPr>
          <a:lstStyle/>
          <a:p>
            <a:pPr algn="l">
              <a:lnSpc>
                <a:spcPct val="115000"/>
              </a:lnSpc>
            </a:pPr>
            <a:r>
              <a:rPr sz="1700" b="1" i="0">
                <a:solidFill>
                  <a:srgbClr val="0B4F4A"/>
                </a:solidFill>
                <a:latin typeface="Arial"/>
              </a:rPr>
              <a:t>Batch handled together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AFC"/>
        </a:solidFill>
        <a:effectLst/>
      </p:bgPr>
    </p:bg>
    <p:spTree>
      <p:nvGrpSpPr>
        <p:cNvPr id="1" name=""/>
        <p:cNvGrpSpPr/>
        <p:nvPr/>
      </p:nvGrpSpPr>
      <p:grpSpPr/>
      <p:sp>
        <p:nvSpPr>
          <p:cNvPr id="2" name="TextBox 1"/>
          <p:cNvSpPr txBox="1"/>
          <p:nvPr/>
        </p:nvSpPr>
        <p:spPr>
          <a:xfrm>
            <a:off x="685800" y="411480"/>
            <a:ext cx="4114800" cy="228600"/>
          </a:xfrm>
          <a:prstGeom prst="rect">
            <a:avLst/>
          </a:prstGeom>
          <a:noFill/>
        </p:spPr>
        <p:txBody>
          <a:bodyPr wrap="square" lIns="0" rIns="0" tIns="0" bIns="0" anchor="t">
            <a:spAutoFit/>
          </a:bodyPr>
          <a:lstStyle/>
          <a:p>
            <a:pPr algn="l">
              <a:lnSpc>
                <a:spcPct val="115000"/>
              </a:lnSpc>
            </a:pPr>
            <a:r>
              <a:rPr sz="900" b="1" i="0">
                <a:solidFill>
                  <a:srgbClr val="5F6C7B"/>
                </a:solidFill>
                <a:latin typeface="Arial"/>
              </a:rPr>
              <a:t>PIPELINE</a:t>
            </a:r>
          </a:p>
        </p:txBody>
      </p:sp>
      <p:sp>
        <p:nvSpPr>
          <p:cNvPr id="3" name="TextBox 2"/>
          <p:cNvSpPr txBox="1"/>
          <p:nvPr/>
        </p:nvSpPr>
        <p:spPr>
          <a:xfrm>
            <a:off x="10317175" y="411480"/>
            <a:ext cx="1188720" cy="228600"/>
          </a:xfrm>
          <a:prstGeom prst="rect">
            <a:avLst/>
          </a:prstGeom>
          <a:noFill/>
        </p:spPr>
        <p:txBody>
          <a:bodyPr wrap="square" lIns="0" rIns="0" tIns="0" bIns="0" anchor="t">
            <a:spAutoFit/>
          </a:bodyPr>
          <a:lstStyle/>
          <a:p>
            <a:pPr algn="r">
              <a:lnSpc>
                <a:spcPct val="115000"/>
              </a:lnSpc>
            </a:pPr>
            <a:r>
              <a:rPr sz="1000" b="1" i="0">
                <a:solidFill>
                  <a:srgbClr val="5F6C7B"/>
                </a:solidFill>
                <a:latin typeface="Arial"/>
              </a:rPr>
              <a:t>05/10</a:t>
            </a:r>
          </a:p>
        </p:txBody>
      </p:sp>
      <p:sp>
        <p:nvSpPr>
          <p:cNvPr id="4" name="TextBox 3"/>
          <p:cNvSpPr txBox="1"/>
          <p:nvPr/>
        </p:nvSpPr>
        <p:spPr>
          <a:xfrm>
            <a:off x="685800" y="749808"/>
            <a:ext cx="10820095" cy="594360"/>
          </a:xfrm>
          <a:prstGeom prst="rect">
            <a:avLst/>
          </a:prstGeom>
          <a:noFill/>
        </p:spPr>
        <p:txBody>
          <a:bodyPr wrap="square" lIns="0" rIns="0" tIns="0" bIns="0" anchor="t">
            <a:spAutoFit/>
          </a:bodyPr>
          <a:lstStyle/>
          <a:p>
            <a:pPr algn="l">
              <a:lnSpc>
                <a:spcPct val="115000"/>
              </a:lnSpc>
            </a:pPr>
            <a:r>
              <a:rPr sz="3100" b="1" i="0">
                <a:solidFill>
                  <a:srgbClr val="102033"/>
                </a:solidFill>
                <a:latin typeface="Arial"/>
              </a:rPr>
              <a:t>DWT, stack, confuse, diffuse.</a:t>
            </a:r>
          </a:p>
        </p:txBody>
      </p:sp>
      <p:cxnSp>
        <p:nvCxnSpPr>
          <p:cNvPr id="5" name="Connector 4"/>
          <p:cNvCxnSpPr/>
          <p:nvPr/>
        </p:nvCxnSpPr>
        <p:spPr>
          <a:xfrm>
            <a:off x="685800" y="1444752"/>
            <a:ext cx="10820095" cy="0"/>
          </a:xfrm>
          <a:prstGeom prst="line">
            <a:avLst/>
          </a:prstGeom>
          <a:ln w="12700">
            <a:solidFill>
              <a:srgbClr val="D8E1E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82512"/>
            <a:ext cx="6583680" cy="182880"/>
          </a:xfrm>
          <a:prstGeom prst="rect">
            <a:avLst/>
          </a:prstGeom>
          <a:noFill/>
        </p:spPr>
        <p:txBody>
          <a:bodyPr wrap="square" lIns="0" rIns="0" tIns="0" bIns="0" anchor="t">
            <a:spAutoFit/>
          </a:bodyPr>
          <a:lstStyle/>
          <a:p>
            <a:pPr algn="l">
              <a:lnSpc>
                <a:spcPct val="115000"/>
              </a:lnSpc>
            </a:pPr>
            <a:r>
              <a:rPr sz="850" b="0" i="0">
                <a:solidFill>
                  <a:srgbClr val="5F6C7B"/>
                </a:solidFill>
                <a:latin typeface="Arial"/>
              </a:rPr>
              <a:t>CMP4221 - DWT Encryption - Xu et al. ACM TOMM 2026</a:t>
            </a:r>
          </a:p>
        </p:txBody>
      </p:sp>
      <p:sp>
        <p:nvSpPr>
          <p:cNvPr id="7" name="TextBox 6"/>
          <p:cNvSpPr txBox="1"/>
          <p:nvPr/>
        </p:nvSpPr>
        <p:spPr>
          <a:xfrm>
            <a:off x="8945575" y="6382512"/>
            <a:ext cx="2560320" cy="182880"/>
          </a:xfrm>
          <a:prstGeom prst="rect">
            <a:avLst/>
          </a:prstGeom>
          <a:noFill/>
        </p:spPr>
        <p:txBody>
          <a:bodyPr wrap="square" lIns="0" rIns="0" tIns="0" bIns="0" anchor="t">
            <a:spAutoFit/>
          </a:bodyPr>
          <a:lstStyle/>
          <a:p>
            <a:pPr algn="r">
              <a:lnSpc>
                <a:spcPct val="115000"/>
              </a:lnSpc>
            </a:pPr>
            <a:r>
              <a:rPr sz="850" b="1" i="0">
                <a:solidFill>
                  <a:srgbClr val="5F6C7B"/>
                </a:solidFill>
                <a:latin typeface="Arial"/>
              </a:rPr>
              <a:t>Abdul - 1:05</a:t>
            </a:r>
          </a:p>
        </p:txBody>
      </p:sp>
      <p:sp>
        <p:nvSpPr>
          <p:cNvPr id="8" name="TextBox 7"/>
          <p:cNvSpPr txBox="1"/>
          <p:nvPr/>
        </p:nvSpPr>
        <p:spPr>
          <a:xfrm>
            <a:off x="685800" y="1783080"/>
            <a:ext cx="2384983" cy="475488"/>
          </a:xfrm>
          <a:prstGeom prst="rect">
            <a:avLst/>
          </a:prstGeom>
          <a:noFill/>
        </p:spPr>
        <p:txBody>
          <a:bodyPr wrap="square" lIns="0" rIns="0" tIns="0" bIns="0" anchor="t">
            <a:spAutoFit/>
          </a:bodyPr>
          <a:lstStyle/>
          <a:p>
            <a:pPr algn="l">
              <a:lnSpc>
                <a:spcPct val="115000"/>
              </a:lnSpc>
            </a:pPr>
            <a:r>
              <a:rPr sz="2800" b="1" i="0">
                <a:solidFill>
                  <a:srgbClr val="0F766E"/>
                </a:solidFill>
                <a:latin typeface="Consolas"/>
              </a:rPr>
              <a:t>01</a:t>
            </a:r>
          </a:p>
        </p:txBody>
      </p:sp>
      <p:cxnSp>
        <p:nvCxnSpPr>
          <p:cNvPr id="9" name="Connector 8"/>
          <p:cNvCxnSpPr/>
          <p:nvPr/>
        </p:nvCxnSpPr>
        <p:spPr>
          <a:xfrm>
            <a:off x="685800" y="2404872"/>
            <a:ext cx="2384983" cy="0"/>
          </a:xfrm>
          <a:prstGeom prst="line">
            <a:avLst/>
          </a:prstGeom>
          <a:ln w="12700">
            <a:solidFill>
              <a:srgbClr val="D8E1EA"/>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651760"/>
            <a:ext cx="2384983" cy="320040"/>
          </a:xfrm>
          <a:prstGeom prst="rect">
            <a:avLst/>
          </a:prstGeom>
          <a:noFill/>
        </p:spPr>
        <p:txBody>
          <a:bodyPr wrap="square" lIns="0" rIns="0" tIns="0" bIns="0" anchor="t">
            <a:spAutoFit/>
          </a:bodyPr>
          <a:lstStyle/>
          <a:p>
            <a:pPr algn="l">
              <a:lnSpc>
                <a:spcPct val="115000"/>
              </a:lnSpc>
            </a:pPr>
            <a:r>
              <a:rPr sz="2200" b="1" i="0">
                <a:solidFill>
                  <a:srgbClr val="102033"/>
                </a:solidFill>
                <a:latin typeface="Arial"/>
              </a:rPr>
              <a:t>DWT</a:t>
            </a:r>
          </a:p>
        </p:txBody>
      </p:sp>
      <p:sp>
        <p:nvSpPr>
          <p:cNvPr id="11" name="TextBox 10"/>
          <p:cNvSpPr txBox="1"/>
          <p:nvPr/>
        </p:nvSpPr>
        <p:spPr>
          <a:xfrm>
            <a:off x="685800" y="3044952"/>
            <a:ext cx="2384983" cy="320040"/>
          </a:xfrm>
          <a:prstGeom prst="rect">
            <a:avLst/>
          </a:prstGeom>
          <a:noFill/>
        </p:spPr>
        <p:txBody>
          <a:bodyPr wrap="square" lIns="0" rIns="0" tIns="0" bIns="0" anchor="t">
            <a:spAutoFit/>
          </a:bodyPr>
          <a:lstStyle/>
          <a:p>
            <a:pPr algn="l">
              <a:lnSpc>
                <a:spcPct val="115000"/>
              </a:lnSpc>
            </a:pPr>
            <a:r>
              <a:rPr sz="1600" b="0" i="0">
                <a:solidFill>
                  <a:srgbClr val="5F6C7B"/>
                </a:solidFill>
                <a:latin typeface="Arial"/>
              </a:rPr>
              <a:t>Keep LL bands</a:t>
            </a:r>
          </a:p>
        </p:txBody>
      </p:sp>
      <p:sp>
        <p:nvSpPr>
          <p:cNvPr id="12" name="TextBox 11"/>
          <p:cNvSpPr txBox="1"/>
          <p:nvPr/>
        </p:nvSpPr>
        <p:spPr>
          <a:xfrm>
            <a:off x="2979343" y="2715768"/>
            <a:ext cx="228600" cy="274320"/>
          </a:xfrm>
          <a:prstGeom prst="rect">
            <a:avLst/>
          </a:prstGeom>
          <a:noFill/>
        </p:spPr>
        <p:txBody>
          <a:bodyPr wrap="square" lIns="0" rIns="0" tIns="0" bIns="0" anchor="t">
            <a:spAutoFit/>
          </a:bodyPr>
          <a:lstStyle/>
          <a:p>
            <a:pPr algn="ctr">
              <a:lnSpc>
                <a:spcPct val="115000"/>
              </a:lnSpc>
            </a:pPr>
            <a:r>
              <a:rPr sz="1800" b="1" i="0">
                <a:solidFill>
                  <a:srgbClr val="0F766E"/>
                </a:solidFill>
                <a:latin typeface="Arial"/>
              </a:rPr>
              <a:t>&gt;</a:t>
            </a:r>
          </a:p>
        </p:txBody>
      </p:sp>
      <p:sp>
        <p:nvSpPr>
          <p:cNvPr id="13" name="TextBox 12"/>
          <p:cNvSpPr txBox="1"/>
          <p:nvPr/>
        </p:nvSpPr>
        <p:spPr>
          <a:xfrm>
            <a:off x="3390823" y="1783080"/>
            <a:ext cx="2384983" cy="475488"/>
          </a:xfrm>
          <a:prstGeom prst="rect">
            <a:avLst/>
          </a:prstGeom>
          <a:noFill/>
        </p:spPr>
        <p:txBody>
          <a:bodyPr wrap="square" lIns="0" rIns="0" tIns="0" bIns="0" anchor="t">
            <a:spAutoFit/>
          </a:bodyPr>
          <a:lstStyle/>
          <a:p>
            <a:pPr algn="l">
              <a:lnSpc>
                <a:spcPct val="115000"/>
              </a:lnSpc>
            </a:pPr>
            <a:r>
              <a:rPr sz="2800" b="1" i="0">
                <a:solidFill>
                  <a:srgbClr val="0F766E"/>
                </a:solidFill>
                <a:latin typeface="Consolas"/>
              </a:rPr>
              <a:t>02</a:t>
            </a:r>
          </a:p>
        </p:txBody>
      </p:sp>
      <p:cxnSp>
        <p:nvCxnSpPr>
          <p:cNvPr id="14" name="Connector 13"/>
          <p:cNvCxnSpPr/>
          <p:nvPr/>
        </p:nvCxnSpPr>
        <p:spPr>
          <a:xfrm>
            <a:off x="3390823" y="2404872"/>
            <a:ext cx="2384984" cy="0"/>
          </a:xfrm>
          <a:prstGeom prst="line">
            <a:avLst/>
          </a:prstGeom>
          <a:ln w="12700">
            <a:solidFill>
              <a:srgbClr val="D8E1EA"/>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390823" y="2651760"/>
            <a:ext cx="2384983" cy="320040"/>
          </a:xfrm>
          <a:prstGeom prst="rect">
            <a:avLst/>
          </a:prstGeom>
          <a:noFill/>
        </p:spPr>
        <p:txBody>
          <a:bodyPr wrap="square" lIns="0" rIns="0" tIns="0" bIns="0" anchor="t">
            <a:spAutoFit/>
          </a:bodyPr>
          <a:lstStyle/>
          <a:p>
            <a:pPr algn="l">
              <a:lnSpc>
                <a:spcPct val="115000"/>
              </a:lnSpc>
            </a:pPr>
            <a:r>
              <a:rPr sz="2200" b="1" i="0">
                <a:solidFill>
                  <a:srgbClr val="102033"/>
                </a:solidFill>
                <a:latin typeface="Arial"/>
              </a:rPr>
              <a:t>Stack</a:t>
            </a:r>
          </a:p>
        </p:txBody>
      </p:sp>
      <p:sp>
        <p:nvSpPr>
          <p:cNvPr id="16" name="TextBox 15"/>
          <p:cNvSpPr txBox="1"/>
          <p:nvPr/>
        </p:nvSpPr>
        <p:spPr>
          <a:xfrm>
            <a:off x="3390823" y="3044952"/>
            <a:ext cx="2384983" cy="320040"/>
          </a:xfrm>
          <a:prstGeom prst="rect">
            <a:avLst/>
          </a:prstGeom>
          <a:noFill/>
        </p:spPr>
        <p:txBody>
          <a:bodyPr wrap="square" lIns="0" rIns="0" tIns="0" bIns="0" anchor="t">
            <a:spAutoFit/>
          </a:bodyPr>
          <a:lstStyle/>
          <a:p>
            <a:pPr algn="l">
              <a:lnSpc>
                <a:spcPct val="115000"/>
              </a:lnSpc>
            </a:pPr>
            <a:r>
              <a:rPr sz="1600" b="0" i="0">
                <a:solidFill>
                  <a:srgbClr val="5F6C7B"/>
                </a:solidFill>
                <a:latin typeface="Arial"/>
              </a:rPr>
              <a:t>Build cube C</a:t>
            </a:r>
          </a:p>
        </p:txBody>
      </p:sp>
      <p:sp>
        <p:nvSpPr>
          <p:cNvPr id="17" name="TextBox 16"/>
          <p:cNvSpPr txBox="1"/>
          <p:nvPr/>
        </p:nvSpPr>
        <p:spPr>
          <a:xfrm>
            <a:off x="5684367" y="2715768"/>
            <a:ext cx="228600" cy="274320"/>
          </a:xfrm>
          <a:prstGeom prst="rect">
            <a:avLst/>
          </a:prstGeom>
          <a:noFill/>
        </p:spPr>
        <p:txBody>
          <a:bodyPr wrap="square" lIns="0" rIns="0" tIns="0" bIns="0" anchor="t">
            <a:spAutoFit/>
          </a:bodyPr>
          <a:lstStyle/>
          <a:p>
            <a:pPr algn="ctr">
              <a:lnSpc>
                <a:spcPct val="115000"/>
              </a:lnSpc>
            </a:pPr>
            <a:r>
              <a:rPr sz="1800" b="1" i="0">
                <a:solidFill>
                  <a:srgbClr val="0F766E"/>
                </a:solidFill>
                <a:latin typeface="Arial"/>
              </a:rPr>
              <a:t>&gt;</a:t>
            </a:r>
          </a:p>
        </p:txBody>
      </p:sp>
      <p:sp>
        <p:nvSpPr>
          <p:cNvPr id="18" name="TextBox 17"/>
          <p:cNvSpPr txBox="1"/>
          <p:nvPr/>
        </p:nvSpPr>
        <p:spPr>
          <a:xfrm>
            <a:off x="6095847" y="1783080"/>
            <a:ext cx="2384983" cy="475488"/>
          </a:xfrm>
          <a:prstGeom prst="rect">
            <a:avLst/>
          </a:prstGeom>
          <a:noFill/>
        </p:spPr>
        <p:txBody>
          <a:bodyPr wrap="square" lIns="0" rIns="0" tIns="0" bIns="0" anchor="t">
            <a:spAutoFit/>
          </a:bodyPr>
          <a:lstStyle/>
          <a:p>
            <a:pPr algn="l">
              <a:lnSpc>
                <a:spcPct val="115000"/>
              </a:lnSpc>
            </a:pPr>
            <a:r>
              <a:rPr sz="2800" b="1" i="0">
                <a:solidFill>
                  <a:srgbClr val="0F766E"/>
                </a:solidFill>
                <a:latin typeface="Consolas"/>
              </a:rPr>
              <a:t>03</a:t>
            </a:r>
          </a:p>
        </p:txBody>
      </p:sp>
      <p:cxnSp>
        <p:nvCxnSpPr>
          <p:cNvPr id="19" name="Connector 18"/>
          <p:cNvCxnSpPr/>
          <p:nvPr/>
        </p:nvCxnSpPr>
        <p:spPr>
          <a:xfrm>
            <a:off x="6095847" y="2404872"/>
            <a:ext cx="2384984" cy="0"/>
          </a:xfrm>
          <a:prstGeom prst="line">
            <a:avLst/>
          </a:prstGeom>
          <a:ln w="12700">
            <a:solidFill>
              <a:srgbClr val="D8E1EA"/>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095847" y="2651760"/>
            <a:ext cx="2384983" cy="320040"/>
          </a:xfrm>
          <a:prstGeom prst="rect">
            <a:avLst/>
          </a:prstGeom>
          <a:noFill/>
        </p:spPr>
        <p:txBody>
          <a:bodyPr wrap="square" lIns="0" rIns="0" tIns="0" bIns="0" anchor="t">
            <a:spAutoFit/>
          </a:bodyPr>
          <a:lstStyle/>
          <a:p>
            <a:pPr algn="l">
              <a:lnSpc>
                <a:spcPct val="115000"/>
              </a:lnSpc>
            </a:pPr>
            <a:r>
              <a:rPr sz="2200" b="1" i="0">
                <a:solidFill>
                  <a:srgbClr val="102033"/>
                </a:solidFill>
                <a:latin typeface="Arial"/>
              </a:rPr>
              <a:t>Confuse</a:t>
            </a:r>
          </a:p>
        </p:txBody>
      </p:sp>
      <p:sp>
        <p:nvSpPr>
          <p:cNvPr id="21" name="TextBox 20"/>
          <p:cNvSpPr txBox="1"/>
          <p:nvPr/>
        </p:nvSpPr>
        <p:spPr>
          <a:xfrm>
            <a:off x="6095847" y="3044952"/>
            <a:ext cx="2384983" cy="320040"/>
          </a:xfrm>
          <a:prstGeom prst="rect">
            <a:avLst/>
          </a:prstGeom>
          <a:noFill/>
        </p:spPr>
        <p:txBody>
          <a:bodyPr wrap="square" lIns="0" rIns="0" tIns="0" bIns="0" anchor="t">
            <a:spAutoFit/>
          </a:bodyPr>
          <a:lstStyle/>
          <a:p>
            <a:pPr algn="l">
              <a:lnSpc>
                <a:spcPct val="115000"/>
              </a:lnSpc>
            </a:pPr>
            <a:r>
              <a:rPr sz="1600" b="0" i="0">
                <a:solidFill>
                  <a:srgbClr val="5F6C7B"/>
                </a:solidFill>
                <a:latin typeface="Arial"/>
              </a:rPr>
              <a:t>Swap positions</a:t>
            </a:r>
          </a:p>
        </p:txBody>
      </p:sp>
      <p:sp>
        <p:nvSpPr>
          <p:cNvPr id="22" name="TextBox 21"/>
          <p:cNvSpPr txBox="1"/>
          <p:nvPr/>
        </p:nvSpPr>
        <p:spPr>
          <a:xfrm>
            <a:off x="8389391" y="2715768"/>
            <a:ext cx="228600" cy="274320"/>
          </a:xfrm>
          <a:prstGeom prst="rect">
            <a:avLst/>
          </a:prstGeom>
          <a:noFill/>
        </p:spPr>
        <p:txBody>
          <a:bodyPr wrap="square" lIns="0" rIns="0" tIns="0" bIns="0" anchor="t">
            <a:spAutoFit/>
          </a:bodyPr>
          <a:lstStyle/>
          <a:p>
            <a:pPr algn="ctr">
              <a:lnSpc>
                <a:spcPct val="115000"/>
              </a:lnSpc>
            </a:pPr>
            <a:r>
              <a:rPr sz="1800" b="1" i="0">
                <a:solidFill>
                  <a:srgbClr val="0F766E"/>
                </a:solidFill>
                <a:latin typeface="Arial"/>
              </a:rPr>
              <a:t>&gt;</a:t>
            </a:r>
          </a:p>
        </p:txBody>
      </p:sp>
      <p:sp>
        <p:nvSpPr>
          <p:cNvPr id="23" name="TextBox 22"/>
          <p:cNvSpPr txBox="1"/>
          <p:nvPr/>
        </p:nvSpPr>
        <p:spPr>
          <a:xfrm>
            <a:off x="8800871" y="1783080"/>
            <a:ext cx="2384983" cy="475488"/>
          </a:xfrm>
          <a:prstGeom prst="rect">
            <a:avLst/>
          </a:prstGeom>
          <a:noFill/>
        </p:spPr>
        <p:txBody>
          <a:bodyPr wrap="square" lIns="0" rIns="0" tIns="0" bIns="0" anchor="t">
            <a:spAutoFit/>
          </a:bodyPr>
          <a:lstStyle/>
          <a:p>
            <a:pPr algn="l">
              <a:lnSpc>
                <a:spcPct val="115000"/>
              </a:lnSpc>
            </a:pPr>
            <a:r>
              <a:rPr sz="2800" b="1" i="0">
                <a:solidFill>
                  <a:srgbClr val="0F766E"/>
                </a:solidFill>
                <a:latin typeface="Consolas"/>
              </a:rPr>
              <a:t>04</a:t>
            </a:r>
          </a:p>
        </p:txBody>
      </p:sp>
      <p:cxnSp>
        <p:nvCxnSpPr>
          <p:cNvPr id="24" name="Connector 23"/>
          <p:cNvCxnSpPr/>
          <p:nvPr/>
        </p:nvCxnSpPr>
        <p:spPr>
          <a:xfrm>
            <a:off x="8800871" y="2404872"/>
            <a:ext cx="2384984" cy="0"/>
          </a:xfrm>
          <a:prstGeom prst="line">
            <a:avLst/>
          </a:prstGeom>
          <a:ln w="12700">
            <a:solidFill>
              <a:srgbClr val="D8E1EA"/>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8800871" y="2651760"/>
            <a:ext cx="2384983" cy="320040"/>
          </a:xfrm>
          <a:prstGeom prst="rect">
            <a:avLst/>
          </a:prstGeom>
          <a:noFill/>
        </p:spPr>
        <p:txBody>
          <a:bodyPr wrap="square" lIns="0" rIns="0" tIns="0" bIns="0" anchor="t">
            <a:spAutoFit/>
          </a:bodyPr>
          <a:lstStyle/>
          <a:p>
            <a:pPr algn="l">
              <a:lnSpc>
                <a:spcPct val="115000"/>
              </a:lnSpc>
            </a:pPr>
            <a:r>
              <a:rPr sz="2200" b="1" i="0">
                <a:solidFill>
                  <a:srgbClr val="102033"/>
                </a:solidFill>
                <a:latin typeface="Arial"/>
              </a:rPr>
              <a:t>Diffuse</a:t>
            </a:r>
          </a:p>
        </p:txBody>
      </p:sp>
      <p:sp>
        <p:nvSpPr>
          <p:cNvPr id="26" name="TextBox 25"/>
          <p:cNvSpPr txBox="1"/>
          <p:nvPr/>
        </p:nvSpPr>
        <p:spPr>
          <a:xfrm>
            <a:off x="8800871" y="3044952"/>
            <a:ext cx="2384983" cy="320040"/>
          </a:xfrm>
          <a:prstGeom prst="rect">
            <a:avLst/>
          </a:prstGeom>
          <a:noFill/>
        </p:spPr>
        <p:txBody>
          <a:bodyPr wrap="square" lIns="0" rIns="0" tIns="0" bIns="0" anchor="t">
            <a:spAutoFit/>
          </a:bodyPr>
          <a:lstStyle/>
          <a:p>
            <a:pPr algn="l">
              <a:lnSpc>
                <a:spcPct val="115000"/>
              </a:lnSpc>
            </a:pPr>
            <a:r>
              <a:rPr sz="1600" b="0" i="0">
                <a:solidFill>
                  <a:srgbClr val="5F6C7B"/>
                </a:solidFill>
                <a:latin typeface="Arial"/>
              </a:rPr>
              <a:t>XOR values</a:t>
            </a:r>
          </a:p>
        </p:txBody>
      </p:sp>
      <p:sp>
        <p:nvSpPr>
          <p:cNvPr id="27" name="Rectangle 26"/>
          <p:cNvSpPr/>
          <p:nvPr/>
        </p:nvSpPr>
        <p:spPr>
          <a:xfrm>
            <a:off x="685800" y="4983480"/>
            <a:ext cx="10820095" cy="713232"/>
          </a:xfrm>
          <a:prstGeom prst="rect">
            <a:avLst/>
          </a:prstGeom>
          <a:solidFill>
            <a:srgbClr val="EAF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41832" y="5138928"/>
            <a:ext cx="2011680" cy="256032"/>
          </a:xfrm>
          <a:prstGeom prst="rect">
            <a:avLst/>
          </a:prstGeom>
          <a:noFill/>
        </p:spPr>
        <p:txBody>
          <a:bodyPr wrap="square" lIns="0" rIns="0" tIns="0" bIns="0" anchor="t">
            <a:spAutoFit/>
          </a:bodyPr>
          <a:lstStyle/>
          <a:p>
            <a:pPr algn="l">
              <a:lnSpc>
                <a:spcPct val="115000"/>
              </a:lnSpc>
            </a:pPr>
            <a:r>
              <a:rPr sz="1200" b="1" i="0">
                <a:solidFill>
                  <a:srgbClr val="0B4F4A"/>
                </a:solidFill>
                <a:latin typeface="Arial"/>
              </a:rPr>
              <a:t>Output</a:t>
            </a:r>
          </a:p>
        </p:txBody>
      </p:sp>
      <p:sp>
        <p:nvSpPr>
          <p:cNvPr id="29" name="TextBox 28"/>
          <p:cNvSpPr txBox="1"/>
          <p:nvPr/>
        </p:nvSpPr>
        <p:spPr>
          <a:xfrm>
            <a:off x="2057400" y="5084064"/>
            <a:ext cx="9219895" cy="329184"/>
          </a:xfrm>
          <a:prstGeom prst="rect">
            <a:avLst/>
          </a:prstGeom>
          <a:noFill/>
        </p:spPr>
        <p:txBody>
          <a:bodyPr wrap="square" lIns="0" rIns="0" tIns="0" bIns="0" anchor="t">
            <a:spAutoFit/>
          </a:bodyPr>
          <a:lstStyle/>
          <a:p>
            <a:pPr algn="l">
              <a:lnSpc>
                <a:spcPct val="115000"/>
              </a:lnSpc>
            </a:pPr>
            <a:r>
              <a:rPr sz="1800" b="1" i="0">
                <a:solidFill>
                  <a:srgbClr val="102033"/>
                </a:solidFill>
                <a:latin typeface="Arial"/>
              </a:rPr>
              <a:t>Cipher cube D is transmitted. Receiver reverses the steps.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AFC"/>
        </a:solidFill>
        <a:effectLst/>
      </p:bgPr>
    </p:bg>
    <p:spTree>
      <p:nvGrpSpPr>
        <p:cNvPr id="1" name=""/>
        <p:cNvGrpSpPr/>
        <p:nvPr/>
      </p:nvGrpSpPr>
      <p:grpSpPr/>
      <p:sp>
        <p:nvSpPr>
          <p:cNvPr id="2" name="TextBox 1"/>
          <p:cNvSpPr txBox="1"/>
          <p:nvPr/>
        </p:nvSpPr>
        <p:spPr>
          <a:xfrm>
            <a:off x="685800" y="411480"/>
            <a:ext cx="4114800" cy="228600"/>
          </a:xfrm>
          <a:prstGeom prst="rect">
            <a:avLst/>
          </a:prstGeom>
          <a:noFill/>
        </p:spPr>
        <p:txBody>
          <a:bodyPr wrap="square" lIns="0" rIns="0" tIns="0" bIns="0" anchor="t">
            <a:spAutoFit/>
          </a:bodyPr>
          <a:lstStyle/>
          <a:p>
            <a:pPr algn="l">
              <a:lnSpc>
                <a:spcPct val="115000"/>
              </a:lnSpc>
            </a:pPr>
            <a:r>
              <a:rPr sz="900" b="1" i="0">
                <a:solidFill>
                  <a:srgbClr val="5F6C7B"/>
                </a:solidFill>
                <a:latin typeface="Arial"/>
              </a:rPr>
              <a:t>ALGORITHM</a:t>
            </a:r>
          </a:p>
        </p:txBody>
      </p:sp>
      <p:sp>
        <p:nvSpPr>
          <p:cNvPr id="3" name="TextBox 2"/>
          <p:cNvSpPr txBox="1"/>
          <p:nvPr/>
        </p:nvSpPr>
        <p:spPr>
          <a:xfrm>
            <a:off x="10317175" y="411480"/>
            <a:ext cx="1188720" cy="228600"/>
          </a:xfrm>
          <a:prstGeom prst="rect">
            <a:avLst/>
          </a:prstGeom>
          <a:noFill/>
        </p:spPr>
        <p:txBody>
          <a:bodyPr wrap="square" lIns="0" rIns="0" tIns="0" bIns="0" anchor="t">
            <a:spAutoFit/>
          </a:bodyPr>
          <a:lstStyle/>
          <a:p>
            <a:pPr algn="r">
              <a:lnSpc>
                <a:spcPct val="115000"/>
              </a:lnSpc>
            </a:pPr>
            <a:r>
              <a:rPr sz="1000" b="1" i="0">
                <a:solidFill>
                  <a:srgbClr val="5F6C7B"/>
                </a:solidFill>
                <a:latin typeface="Arial"/>
              </a:rPr>
              <a:t>06/10</a:t>
            </a:r>
          </a:p>
        </p:txBody>
      </p:sp>
      <p:sp>
        <p:nvSpPr>
          <p:cNvPr id="4" name="TextBox 3"/>
          <p:cNvSpPr txBox="1"/>
          <p:nvPr/>
        </p:nvSpPr>
        <p:spPr>
          <a:xfrm>
            <a:off x="685800" y="749808"/>
            <a:ext cx="10820095" cy="594360"/>
          </a:xfrm>
          <a:prstGeom prst="rect">
            <a:avLst/>
          </a:prstGeom>
          <a:noFill/>
        </p:spPr>
        <p:txBody>
          <a:bodyPr wrap="square" lIns="0" rIns="0" tIns="0" bIns="0" anchor="t">
            <a:spAutoFit/>
          </a:bodyPr>
          <a:lstStyle/>
          <a:p>
            <a:pPr algn="l">
              <a:lnSpc>
                <a:spcPct val="115000"/>
              </a:lnSpc>
            </a:pPr>
            <a:r>
              <a:rPr sz="3100" b="1" i="0">
                <a:solidFill>
                  <a:srgbClr val="102033"/>
                </a:solidFill>
                <a:latin typeface="Arial"/>
              </a:rPr>
              <a:t>Confusion moves positions.</a:t>
            </a:r>
          </a:p>
        </p:txBody>
      </p:sp>
      <p:cxnSp>
        <p:nvCxnSpPr>
          <p:cNvPr id="5" name="Connector 4"/>
          <p:cNvCxnSpPr/>
          <p:nvPr/>
        </p:nvCxnSpPr>
        <p:spPr>
          <a:xfrm>
            <a:off x="685800" y="1444752"/>
            <a:ext cx="10820095" cy="0"/>
          </a:xfrm>
          <a:prstGeom prst="line">
            <a:avLst/>
          </a:prstGeom>
          <a:ln w="12700">
            <a:solidFill>
              <a:srgbClr val="D8E1E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82512"/>
            <a:ext cx="6583680" cy="182880"/>
          </a:xfrm>
          <a:prstGeom prst="rect">
            <a:avLst/>
          </a:prstGeom>
          <a:noFill/>
        </p:spPr>
        <p:txBody>
          <a:bodyPr wrap="square" lIns="0" rIns="0" tIns="0" bIns="0" anchor="t">
            <a:spAutoFit/>
          </a:bodyPr>
          <a:lstStyle/>
          <a:p>
            <a:pPr algn="l">
              <a:lnSpc>
                <a:spcPct val="115000"/>
              </a:lnSpc>
            </a:pPr>
            <a:r>
              <a:rPr sz="850" b="0" i="0">
                <a:solidFill>
                  <a:srgbClr val="5F6C7B"/>
                </a:solidFill>
                <a:latin typeface="Arial"/>
              </a:rPr>
              <a:t>CMP4221 - DWT Encryption - Xu et al. ACM TOMM 2026</a:t>
            </a:r>
          </a:p>
        </p:txBody>
      </p:sp>
      <p:sp>
        <p:nvSpPr>
          <p:cNvPr id="7" name="TextBox 6"/>
          <p:cNvSpPr txBox="1"/>
          <p:nvPr/>
        </p:nvSpPr>
        <p:spPr>
          <a:xfrm>
            <a:off x="8945575" y="6382512"/>
            <a:ext cx="2560320" cy="182880"/>
          </a:xfrm>
          <a:prstGeom prst="rect">
            <a:avLst/>
          </a:prstGeom>
          <a:noFill/>
        </p:spPr>
        <p:txBody>
          <a:bodyPr wrap="square" lIns="0" rIns="0" tIns="0" bIns="0" anchor="t">
            <a:spAutoFit/>
          </a:bodyPr>
          <a:lstStyle/>
          <a:p>
            <a:pPr algn="r">
              <a:lnSpc>
                <a:spcPct val="115000"/>
              </a:lnSpc>
            </a:pPr>
            <a:r>
              <a:rPr sz="850" b="1" i="0">
                <a:solidFill>
                  <a:srgbClr val="5F6C7B"/>
                </a:solidFill>
                <a:latin typeface="Arial"/>
              </a:rPr>
              <a:t>Maria - 1:00</a:t>
            </a:r>
          </a:p>
        </p:txBody>
      </p:sp>
      <p:sp>
        <p:nvSpPr>
          <p:cNvPr id="8" name="Rectangle 7"/>
          <p:cNvSpPr/>
          <p:nvPr/>
        </p:nvSpPr>
        <p:spPr>
          <a:xfrm>
            <a:off x="685800" y="1938528"/>
            <a:ext cx="109728" cy="109728"/>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1832" y="1828800"/>
            <a:ext cx="4224528" cy="310896"/>
          </a:xfrm>
          <a:prstGeom prst="rect">
            <a:avLst/>
          </a:prstGeom>
          <a:noFill/>
        </p:spPr>
        <p:txBody>
          <a:bodyPr wrap="square" lIns="0" rIns="0" tIns="0" bIns="0" anchor="t">
            <a:spAutoFit/>
          </a:bodyPr>
          <a:lstStyle/>
          <a:p>
            <a:pPr algn="l">
              <a:lnSpc>
                <a:spcPct val="115000"/>
              </a:lnSpc>
            </a:pPr>
            <a:r>
              <a:rPr sz="2200" b="0" i="0">
                <a:solidFill>
                  <a:srgbClr val="102033"/>
                </a:solidFill>
                <a:latin typeface="Arial"/>
              </a:rPr>
              <a:t>Positions move</a:t>
            </a:r>
          </a:p>
        </p:txBody>
      </p:sp>
      <p:sp>
        <p:nvSpPr>
          <p:cNvPr id="10" name="Rectangle 9"/>
          <p:cNvSpPr/>
          <p:nvPr/>
        </p:nvSpPr>
        <p:spPr>
          <a:xfrm>
            <a:off x="685800" y="2359152"/>
            <a:ext cx="109728" cy="109728"/>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2249424"/>
            <a:ext cx="4224528" cy="310896"/>
          </a:xfrm>
          <a:prstGeom prst="rect">
            <a:avLst/>
          </a:prstGeom>
          <a:noFill/>
        </p:spPr>
        <p:txBody>
          <a:bodyPr wrap="square" lIns="0" rIns="0" tIns="0" bIns="0" anchor="t">
            <a:spAutoFit/>
          </a:bodyPr>
          <a:lstStyle/>
          <a:p>
            <a:pPr algn="l">
              <a:lnSpc>
                <a:spcPct val="115000"/>
              </a:lnSpc>
            </a:pPr>
            <a:r>
              <a:rPr sz="2200" b="0" i="0">
                <a:solidFill>
                  <a:srgbClr val="102033"/>
                </a:solidFill>
                <a:latin typeface="Arial"/>
              </a:rPr>
              <a:t>Values stay unchanged</a:t>
            </a:r>
          </a:p>
        </p:txBody>
      </p:sp>
      <p:sp>
        <p:nvSpPr>
          <p:cNvPr id="12" name="Rectangle 11"/>
          <p:cNvSpPr/>
          <p:nvPr/>
        </p:nvSpPr>
        <p:spPr>
          <a:xfrm>
            <a:off x="685800" y="2779776"/>
            <a:ext cx="109728" cy="109728"/>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670048"/>
            <a:ext cx="4224528" cy="310896"/>
          </a:xfrm>
          <a:prstGeom prst="rect">
            <a:avLst/>
          </a:prstGeom>
          <a:noFill/>
        </p:spPr>
        <p:txBody>
          <a:bodyPr wrap="square" lIns="0" rIns="0" tIns="0" bIns="0" anchor="t">
            <a:spAutoFit/>
          </a:bodyPr>
          <a:lstStyle/>
          <a:p>
            <a:pPr algn="l">
              <a:lnSpc>
                <a:spcPct val="115000"/>
              </a:lnSpc>
            </a:pPr>
            <a:r>
              <a:rPr sz="2200" b="0" i="0">
                <a:solidFill>
                  <a:srgbClr val="102033"/>
                </a:solidFill>
                <a:latin typeface="Arial"/>
              </a:rPr>
              <a:t>Offsets come from chaos</a:t>
            </a:r>
          </a:p>
        </p:txBody>
      </p:sp>
      <p:sp>
        <p:nvSpPr>
          <p:cNvPr id="14" name="Rectangle 13"/>
          <p:cNvSpPr/>
          <p:nvPr/>
        </p:nvSpPr>
        <p:spPr>
          <a:xfrm>
            <a:off x="685800" y="3200400"/>
            <a:ext cx="109728" cy="109728"/>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3090672"/>
            <a:ext cx="4224528" cy="310896"/>
          </a:xfrm>
          <a:prstGeom prst="rect">
            <a:avLst/>
          </a:prstGeom>
          <a:noFill/>
        </p:spPr>
        <p:txBody>
          <a:bodyPr wrap="square" lIns="0" rIns="0" tIns="0" bIns="0" anchor="t">
            <a:spAutoFit/>
          </a:bodyPr>
          <a:lstStyle/>
          <a:p>
            <a:pPr algn="l">
              <a:lnSpc>
                <a:spcPct val="115000"/>
              </a:lnSpc>
            </a:pPr>
            <a:r>
              <a:rPr sz="2200" b="0" i="0">
                <a:solidFill>
                  <a:srgbClr val="102033"/>
                </a:solidFill>
                <a:latin typeface="Arial"/>
              </a:rPr>
              <a:t>Nine cases choose swaps</a:t>
            </a:r>
          </a:p>
        </p:txBody>
      </p:sp>
      <p:sp>
        <p:nvSpPr>
          <p:cNvPr id="16" name="TextBox 15"/>
          <p:cNvSpPr txBox="1"/>
          <p:nvPr/>
        </p:nvSpPr>
        <p:spPr>
          <a:xfrm>
            <a:off x="5989320" y="1691640"/>
            <a:ext cx="2194560" cy="228600"/>
          </a:xfrm>
          <a:prstGeom prst="rect">
            <a:avLst/>
          </a:prstGeom>
          <a:noFill/>
        </p:spPr>
        <p:txBody>
          <a:bodyPr wrap="square" lIns="0" rIns="0" tIns="0" bIns="0" anchor="t">
            <a:spAutoFit/>
          </a:bodyPr>
          <a:lstStyle/>
          <a:p>
            <a:pPr algn="ctr">
              <a:lnSpc>
                <a:spcPct val="115000"/>
              </a:lnSpc>
            </a:pPr>
            <a:r>
              <a:rPr sz="1300" b="1" i="0">
                <a:solidFill>
                  <a:srgbClr val="5F6C7B"/>
                </a:solidFill>
                <a:latin typeface="Arial"/>
              </a:rPr>
              <a:t>Before</a:t>
            </a:r>
          </a:p>
        </p:txBody>
      </p:sp>
      <p:sp>
        <p:nvSpPr>
          <p:cNvPr id="17" name="TextBox 16"/>
          <p:cNvSpPr txBox="1"/>
          <p:nvPr/>
        </p:nvSpPr>
        <p:spPr>
          <a:xfrm>
            <a:off x="8732520" y="1691640"/>
            <a:ext cx="2194560" cy="228600"/>
          </a:xfrm>
          <a:prstGeom prst="rect">
            <a:avLst/>
          </a:prstGeom>
          <a:noFill/>
        </p:spPr>
        <p:txBody>
          <a:bodyPr wrap="square" lIns="0" rIns="0" tIns="0" bIns="0" anchor="t">
            <a:spAutoFit/>
          </a:bodyPr>
          <a:lstStyle/>
          <a:p>
            <a:pPr algn="ctr">
              <a:lnSpc>
                <a:spcPct val="115000"/>
              </a:lnSpc>
            </a:pPr>
            <a:r>
              <a:rPr sz="1300" b="1" i="0">
                <a:solidFill>
                  <a:srgbClr val="0B4F4A"/>
                </a:solidFill>
                <a:latin typeface="Arial"/>
              </a:rPr>
              <a:t>After</a:t>
            </a:r>
          </a:p>
        </p:txBody>
      </p:sp>
      <p:sp>
        <p:nvSpPr>
          <p:cNvPr id="18" name="Rectangle 17"/>
          <p:cNvSpPr/>
          <p:nvPr/>
        </p:nvSpPr>
        <p:spPr>
          <a:xfrm>
            <a:off x="6291072" y="2286000"/>
            <a:ext cx="292608" cy="292608"/>
          </a:xfrm>
          <a:prstGeom prst="rect">
            <a:avLst/>
          </a:prstGeom>
          <a:solidFill>
            <a:srgbClr val="FFFFFF"/>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0" y="2286000"/>
            <a:ext cx="292608" cy="292608"/>
          </a:xfrm>
          <a:prstGeom prst="rect">
            <a:avLst/>
          </a:prstGeom>
          <a:solidFill>
            <a:srgbClr val="FFFFFF"/>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876288" y="2286000"/>
            <a:ext cx="292608" cy="292608"/>
          </a:xfrm>
          <a:prstGeom prst="rect">
            <a:avLst/>
          </a:prstGeom>
          <a:solidFill>
            <a:srgbClr val="FFFFFF"/>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68896" y="2286000"/>
            <a:ext cx="292608" cy="292608"/>
          </a:xfrm>
          <a:prstGeom prst="rect">
            <a:avLst/>
          </a:prstGeom>
          <a:solidFill>
            <a:srgbClr val="FFFFFF"/>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461504" y="2286000"/>
            <a:ext cx="292608" cy="292608"/>
          </a:xfrm>
          <a:prstGeom prst="rect">
            <a:avLst/>
          </a:prstGeom>
          <a:solidFill>
            <a:srgbClr val="FFFFFF"/>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91072" y="2578608"/>
            <a:ext cx="292608" cy="292608"/>
          </a:xfrm>
          <a:prstGeom prst="rect">
            <a:avLst/>
          </a:prstGeom>
          <a:solidFill>
            <a:srgbClr val="FFFFFF"/>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583680" y="2578608"/>
            <a:ext cx="292608" cy="292608"/>
          </a:xfrm>
          <a:prstGeom prst="rect">
            <a:avLst/>
          </a:prstGeom>
          <a:solidFill>
            <a:srgbClr val="0F766E"/>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0" y="2642616"/>
            <a:ext cx="292608" cy="137160"/>
          </a:xfrm>
          <a:prstGeom prst="rect">
            <a:avLst/>
          </a:prstGeom>
          <a:noFill/>
        </p:spPr>
        <p:txBody>
          <a:bodyPr wrap="square" lIns="0" rIns="0" tIns="0" bIns="0" anchor="t">
            <a:spAutoFit/>
          </a:bodyPr>
          <a:lstStyle/>
          <a:p>
            <a:pPr algn="ctr">
              <a:lnSpc>
                <a:spcPct val="115000"/>
              </a:lnSpc>
            </a:pPr>
            <a:r>
              <a:rPr sz="850" b="1" i="0">
                <a:solidFill>
                  <a:srgbClr val="FFFFFF"/>
                </a:solidFill>
                <a:latin typeface="Arial"/>
              </a:rPr>
              <a:t>A</a:t>
            </a:r>
          </a:p>
        </p:txBody>
      </p:sp>
      <p:sp>
        <p:nvSpPr>
          <p:cNvPr id="26" name="Rectangle 25"/>
          <p:cNvSpPr/>
          <p:nvPr/>
        </p:nvSpPr>
        <p:spPr>
          <a:xfrm>
            <a:off x="6876288" y="2578608"/>
            <a:ext cx="292608" cy="292608"/>
          </a:xfrm>
          <a:prstGeom prst="rect">
            <a:avLst/>
          </a:prstGeom>
          <a:solidFill>
            <a:srgbClr val="FFFFFF"/>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168896" y="2578608"/>
            <a:ext cx="292608" cy="292608"/>
          </a:xfrm>
          <a:prstGeom prst="rect">
            <a:avLst/>
          </a:prstGeom>
          <a:solidFill>
            <a:srgbClr val="FFFFFF"/>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461504" y="2578608"/>
            <a:ext cx="292608" cy="292608"/>
          </a:xfrm>
          <a:prstGeom prst="rect">
            <a:avLst/>
          </a:prstGeom>
          <a:solidFill>
            <a:srgbClr val="FFFFFF"/>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91072" y="2871216"/>
            <a:ext cx="292608" cy="292608"/>
          </a:xfrm>
          <a:prstGeom prst="rect">
            <a:avLst/>
          </a:prstGeom>
          <a:solidFill>
            <a:srgbClr val="FFFFFF"/>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83680" y="2871216"/>
            <a:ext cx="292608" cy="292608"/>
          </a:xfrm>
          <a:prstGeom prst="rect">
            <a:avLst/>
          </a:prstGeom>
          <a:solidFill>
            <a:srgbClr val="FFFFFF"/>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876288" y="2871216"/>
            <a:ext cx="292608" cy="292608"/>
          </a:xfrm>
          <a:prstGeom prst="rect">
            <a:avLst/>
          </a:prstGeom>
          <a:solidFill>
            <a:srgbClr val="FFFFFF"/>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168896" y="2871216"/>
            <a:ext cx="292608" cy="292608"/>
          </a:xfrm>
          <a:prstGeom prst="rect">
            <a:avLst/>
          </a:prstGeom>
          <a:solidFill>
            <a:srgbClr val="FFFFFF"/>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461504" y="2871216"/>
            <a:ext cx="292608" cy="292608"/>
          </a:xfrm>
          <a:prstGeom prst="rect">
            <a:avLst/>
          </a:prstGeom>
          <a:solidFill>
            <a:srgbClr val="FFFFFF"/>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91072" y="3163824"/>
            <a:ext cx="292608" cy="292608"/>
          </a:xfrm>
          <a:prstGeom prst="rect">
            <a:avLst/>
          </a:prstGeom>
          <a:solidFill>
            <a:srgbClr val="FFFFFF"/>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83680" y="3163824"/>
            <a:ext cx="292608" cy="292608"/>
          </a:xfrm>
          <a:prstGeom prst="rect">
            <a:avLst/>
          </a:prstGeom>
          <a:solidFill>
            <a:srgbClr val="FFFFFF"/>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876288" y="3163824"/>
            <a:ext cx="292608" cy="292608"/>
          </a:xfrm>
          <a:prstGeom prst="rect">
            <a:avLst/>
          </a:prstGeom>
          <a:solidFill>
            <a:srgbClr val="FFFFFF"/>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168896" y="3163824"/>
            <a:ext cx="292608" cy="292608"/>
          </a:xfrm>
          <a:prstGeom prst="rect">
            <a:avLst/>
          </a:prstGeom>
          <a:solidFill>
            <a:srgbClr val="0F766E"/>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168896" y="3227832"/>
            <a:ext cx="292608" cy="137160"/>
          </a:xfrm>
          <a:prstGeom prst="rect">
            <a:avLst/>
          </a:prstGeom>
          <a:noFill/>
        </p:spPr>
        <p:txBody>
          <a:bodyPr wrap="square" lIns="0" rIns="0" tIns="0" bIns="0" anchor="t">
            <a:spAutoFit/>
          </a:bodyPr>
          <a:lstStyle/>
          <a:p>
            <a:pPr algn="ctr">
              <a:lnSpc>
                <a:spcPct val="115000"/>
              </a:lnSpc>
            </a:pPr>
            <a:r>
              <a:rPr sz="850" b="1" i="0">
                <a:solidFill>
                  <a:srgbClr val="FFFFFF"/>
                </a:solidFill>
                <a:latin typeface="Arial"/>
              </a:rPr>
              <a:t>B</a:t>
            </a:r>
          </a:p>
        </p:txBody>
      </p:sp>
      <p:sp>
        <p:nvSpPr>
          <p:cNvPr id="39" name="Rectangle 38"/>
          <p:cNvSpPr/>
          <p:nvPr/>
        </p:nvSpPr>
        <p:spPr>
          <a:xfrm>
            <a:off x="7461504" y="3163824"/>
            <a:ext cx="292608" cy="292608"/>
          </a:xfrm>
          <a:prstGeom prst="rect">
            <a:avLst/>
          </a:prstGeom>
          <a:solidFill>
            <a:srgbClr val="FFFFFF"/>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291072" y="3456432"/>
            <a:ext cx="292608" cy="292608"/>
          </a:xfrm>
          <a:prstGeom prst="rect">
            <a:avLst/>
          </a:prstGeom>
          <a:solidFill>
            <a:srgbClr val="FFFFFF"/>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0" y="3456432"/>
            <a:ext cx="292608" cy="292608"/>
          </a:xfrm>
          <a:prstGeom prst="rect">
            <a:avLst/>
          </a:prstGeom>
          <a:solidFill>
            <a:srgbClr val="FFFFFF"/>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876288" y="3456432"/>
            <a:ext cx="292608" cy="292608"/>
          </a:xfrm>
          <a:prstGeom prst="rect">
            <a:avLst/>
          </a:prstGeom>
          <a:solidFill>
            <a:srgbClr val="FFFFFF"/>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168896" y="3456432"/>
            <a:ext cx="292608" cy="292608"/>
          </a:xfrm>
          <a:prstGeom prst="rect">
            <a:avLst/>
          </a:prstGeom>
          <a:solidFill>
            <a:srgbClr val="FFFFFF"/>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461504" y="3456432"/>
            <a:ext cx="292608" cy="292608"/>
          </a:xfrm>
          <a:prstGeom prst="rect">
            <a:avLst/>
          </a:prstGeom>
          <a:solidFill>
            <a:srgbClr val="FFFFFF"/>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034272" y="2286000"/>
            <a:ext cx="292608" cy="292608"/>
          </a:xfrm>
          <a:prstGeom prst="rect">
            <a:avLst/>
          </a:prstGeom>
          <a:solidFill>
            <a:srgbClr val="FFFFFF"/>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326880" y="2286000"/>
            <a:ext cx="292608" cy="292608"/>
          </a:xfrm>
          <a:prstGeom prst="rect">
            <a:avLst/>
          </a:prstGeom>
          <a:solidFill>
            <a:srgbClr val="FFFFFF"/>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619488" y="2286000"/>
            <a:ext cx="292608" cy="292608"/>
          </a:xfrm>
          <a:prstGeom prst="rect">
            <a:avLst/>
          </a:prstGeom>
          <a:solidFill>
            <a:srgbClr val="FFFFFF"/>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9912096" y="2286000"/>
            <a:ext cx="292608" cy="292608"/>
          </a:xfrm>
          <a:prstGeom prst="rect">
            <a:avLst/>
          </a:prstGeom>
          <a:solidFill>
            <a:srgbClr val="FFFFFF"/>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0204704" y="2286000"/>
            <a:ext cx="292608" cy="292608"/>
          </a:xfrm>
          <a:prstGeom prst="rect">
            <a:avLst/>
          </a:prstGeom>
          <a:solidFill>
            <a:srgbClr val="0F766E"/>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204704" y="2350008"/>
            <a:ext cx="292608" cy="137160"/>
          </a:xfrm>
          <a:prstGeom prst="rect">
            <a:avLst/>
          </a:prstGeom>
          <a:noFill/>
        </p:spPr>
        <p:txBody>
          <a:bodyPr wrap="square" lIns="0" rIns="0" tIns="0" bIns="0" anchor="t">
            <a:spAutoFit/>
          </a:bodyPr>
          <a:lstStyle/>
          <a:p>
            <a:pPr algn="ctr">
              <a:lnSpc>
                <a:spcPct val="115000"/>
              </a:lnSpc>
            </a:pPr>
            <a:r>
              <a:rPr sz="850" b="1" i="0">
                <a:solidFill>
                  <a:srgbClr val="FFFFFF"/>
                </a:solidFill>
                <a:latin typeface="Arial"/>
              </a:rPr>
              <a:t>B</a:t>
            </a:r>
          </a:p>
        </p:txBody>
      </p:sp>
      <p:sp>
        <p:nvSpPr>
          <p:cNvPr id="51" name="Rectangle 50"/>
          <p:cNvSpPr/>
          <p:nvPr/>
        </p:nvSpPr>
        <p:spPr>
          <a:xfrm>
            <a:off x="9034272" y="2578608"/>
            <a:ext cx="292608" cy="292608"/>
          </a:xfrm>
          <a:prstGeom prst="rect">
            <a:avLst/>
          </a:prstGeom>
          <a:solidFill>
            <a:srgbClr val="FFFFFF"/>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9326880" y="2578608"/>
            <a:ext cx="292608" cy="292608"/>
          </a:xfrm>
          <a:prstGeom prst="rect">
            <a:avLst/>
          </a:prstGeom>
          <a:solidFill>
            <a:srgbClr val="FFFFFF"/>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9619488" y="2578608"/>
            <a:ext cx="292608" cy="292608"/>
          </a:xfrm>
          <a:prstGeom prst="rect">
            <a:avLst/>
          </a:prstGeom>
          <a:solidFill>
            <a:srgbClr val="FFFFFF"/>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9912096" y="2578608"/>
            <a:ext cx="292608" cy="292608"/>
          </a:xfrm>
          <a:prstGeom prst="rect">
            <a:avLst/>
          </a:prstGeom>
          <a:solidFill>
            <a:srgbClr val="FFFFFF"/>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0204704" y="2578608"/>
            <a:ext cx="292608" cy="292608"/>
          </a:xfrm>
          <a:prstGeom prst="rect">
            <a:avLst/>
          </a:prstGeom>
          <a:solidFill>
            <a:srgbClr val="FFFFFF"/>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034272" y="2871216"/>
            <a:ext cx="292608" cy="292608"/>
          </a:xfrm>
          <a:prstGeom prst="rect">
            <a:avLst/>
          </a:prstGeom>
          <a:solidFill>
            <a:srgbClr val="FFFFFF"/>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9326880" y="2871216"/>
            <a:ext cx="292608" cy="292608"/>
          </a:xfrm>
          <a:prstGeom prst="rect">
            <a:avLst/>
          </a:prstGeom>
          <a:solidFill>
            <a:srgbClr val="FFFFFF"/>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9619488" y="2871216"/>
            <a:ext cx="292608" cy="292608"/>
          </a:xfrm>
          <a:prstGeom prst="rect">
            <a:avLst/>
          </a:prstGeom>
          <a:solidFill>
            <a:srgbClr val="FFFFFF"/>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9912096" y="2871216"/>
            <a:ext cx="292608" cy="292608"/>
          </a:xfrm>
          <a:prstGeom prst="rect">
            <a:avLst/>
          </a:prstGeom>
          <a:solidFill>
            <a:srgbClr val="FFFFFF"/>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10204704" y="2871216"/>
            <a:ext cx="292608" cy="292608"/>
          </a:xfrm>
          <a:prstGeom prst="rect">
            <a:avLst/>
          </a:prstGeom>
          <a:solidFill>
            <a:srgbClr val="FFFFFF"/>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034272" y="3163824"/>
            <a:ext cx="292608" cy="292608"/>
          </a:xfrm>
          <a:prstGeom prst="rect">
            <a:avLst/>
          </a:prstGeom>
          <a:solidFill>
            <a:srgbClr val="0F766E"/>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034272" y="3227832"/>
            <a:ext cx="292608" cy="137160"/>
          </a:xfrm>
          <a:prstGeom prst="rect">
            <a:avLst/>
          </a:prstGeom>
          <a:noFill/>
        </p:spPr>
        <p:txBody>
          <a:bodyPr wrap="square" lIns="0" rIns="0" tIns="0" bIns="0" anchor="t">
            <a:spAutoFit/>
          </a:bodyPr>
          <a:lstStyle/>
          <a:p>
            <a:pPr algn="ctr">
              <a:lnSpc>
                <a:spcPct val="115000"/>
              </a:lnSpc>
            </a:pPr>
            <a:r>
              <a:rPr sz="850" b="1" i="0">
                <a:solidFill>
                  <a:srgbClr val="FFFFFF"/>
                </a:solidFill>
                <a:latin typeface="Arial"/>
              </a:rPr>
              <a:t>A</a:t>
            </a:r>
          </a:p>
        </p:txBody>
      </p:sp>
      <p:sp>
        <p:nvSpPr>
          <p:cNvPr id="63" name="Rectangle 62"/>
          <p:cNvSpPr/>
          <p:nvPr/>
        </p:nvSpPr>
        <p:spPr>
          <a:xfrm>
            <a:off x="9326880" y="3163824"/>
            <a:ext cx="292608" cy="292608"/>
          </a:xfrm>
          <a:prstGeom prst="rect">
            <a:avLst/>
          </a:prstGeom>
          <a:solidFill>
            <a:srgbClr val="FFFFFF"/>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9619488" y="3163824"/>
            <a:ext cx="292608" cy="292608"/>
          </a:xfrm>
          <a:prstGeom prst="rect">
            <a:avLst/>
          </a:prstGeom>
          <a:solidFill>
            <a:srgbClr val="FFFFFF"/>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9912096" y="3163824"/>
            <a:ext cx="292608" cy="292608"/>
          </a:xfrm>
          <a:prstGeom prst="rect">
            <a:avLst/>
          </a:prstGeom>
          <a:solidFill>
            <a:srgbClr val="FFFFFF"/>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10204704" y="3163824"/>
            <a:ext cx="292608" cy="292608"/>
          </a:xfrm>
          <a:prstGeom prst="rect">
            <a:avLst/>
          </a:prstGeom>
          <a:solidFill>
            <a:srgbClr val="FFFFFF"/>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9034272" y="3456432"/>
            <a:ext cx="292608" cy="292608"/>
          </a:xfrm>
          <a:prstGeom prst="rect">
            <a:avLst/>
          </a:prstGeom>
          <a:solidFill>
            <a:srgbClr val="FFFFFF"/>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9326880" y="3456432"/>
            <a:ext cx="292608" cy="292608"/>
          </a:xfrm>
          <a:prstGeom prst="rect">
            <a:avLst/>
          </a:prstGeom>
          <a:solidFill>
            <a:srgbClr val="FFFFFF"/>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9619488" y="3456432"/>
            <a:ext cx="292608" cy="292608"/>
          </a:xfrm>
          <a:prstGeom prst="rect">
            <a:avLst/>
          </a:prstGeom>
          <a:solidFill>
            <a:srgbClr val="FFFFFF"/>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9912096" y="3456432"/>
            <a:ext cx="292608" cy="292608"/>
          </a:xfrm>
          <a:prstGeom prst="rect">
            <a:avLst/>
          </a:prstGeom>
          <a:solidFill>
            <a:srgbClr val="FFFFFF"/>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0204704" y="3456432"/>
            <a:ext cx="292608" cy="292608"/>
          </a:xfrm>
          <a:prstGeom prst="rect">
            <a:avLst/>
          </a:prstGeom>
          <a:solidFill>
            <a:srgbClr val="FFFFFF"/>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092440" y="2907792"/>
            <a:ext cx="411480" cy="228600"/>
          </a:xfrm>
          <a:prstGeom prst="rect">
            <a:avLst/>
          </a:prstGeom>
          <a:noFill/>
        </p:spPr>
        <p:txBody>
          <a:bodyPr wrap="square" lIns="0" rIns="0" tIns="0" bIns="0" anchor="t">
            <a:spAutoFit/>
          </a:bodyPr>
          <a:lstStyle/>
          <a:p>
            <a:pPr algn="ctr">
              <a:lnSpc>
                <a:spcPct val="115000"/>
              </a:lnSpc>
            </a:pPr>
            <a:r>
              <a:rPr sz="2000" b="1" i="0">
                <a:solidFill>
                  <a:srgbClr val="0F766E"/>
                </a:solidFill>
                <a:latin typeface="Arial"/>
              </a:rPr>
              <a:t>&gt;</a:t>
            </a:r>
          </a:p>
        </p:txBody>
      </p:sp>
      <p:sp>
        <p:nvSpPr>
          <p:cNvPr id="73" name="TextBox 72"/>
          <p:cNvSpPr txBox="1"/>
          <p:nvPr/>
        </p:nvSpPr>
        <p:spPr>
          <a:xfrm>
            <a:off x="5989320" y="4709160"/>
            <a:ext cx="5303520" cy="411480"/>
          </a:xfrm>
          <a:prstGeom prst="rect">
            <a:avLst/>
          </a:prstGeom>
          <a:noFill/>
        </p:spPr>
        <p:txBody>
          <a:bodyPr wrap="square" lIns="0" rIns="0" tIns="0" bIns="0" anchor="t">
            <a:spAutoFit/>
          </a:bodyPr>
          <a:lstStyle/>
          <a:p>
            <a:pPr algn="ctr">
              <a:lnSpc>
                <a:spcPct val="115000"/>
              </a:lnSpc>
            </a:pPr>
            <a:r>
              <a:rPr sz="2200" b="1" i="0">
                <a:solidFill>
                  <a:srgbClr val="0B4F4A"/>
                </a:solidFill>
                <a:latin typeface="Arial"/>
              </a:rPr>
              <a:t>Same pixels. Different locations.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AFC"/>
        </a:solidFill>
        <a:effectLst/>
      </p:bgPr>
    </p:bg>
    <p:spTree>
      <p:nvGrpSpPr>
        <p:cNvPr id="1" name=""/>
        <p:cNvGrpSpPr/>
        <p:nvPr/>
      </p:nvGrpSpPr>
      <p:grpSpPr/>
      <p:sp>
        <p:nvSpPr>
          <p:cNvPr id="2" name="TextBox 1"/>
          <p:cNvSpPr txBox="1"/>
          <p:nvPr/>
        </p:nvSpPr>
        <p:spPr>
          <a:xfrm>
            <a:off x="685800" y="411480"/>
            <a:ext cx="4114800" cy="228600"/>
          </a:xfrm>
          <a:prstGeom prst="rect">
            <a:avLst/>
          </a:prstGeom>
          <a:noFill/>
        </p:spPr>
        <p:txBody>
          <a:bodyPr wrap="square" lIns="0" rIns="0" tIns="0" bIns="0" anchor="t">
            <a:spAutoFit/>
          </a:bodyPr>
          <a:lstStyle/>
          <a:p>
            <a:pPr algn="l">
              <a:lnSpc>
                <a:spcPct val="115000"/>
              </a:lnSpc>
            </a:pPr>
            <a:r>
              <a:rPr sz="900" b="1" i="0">
                <a:solidFill>
                  <a:srgbClr val="5F6C7B"/>
                </a:solidFill>
                <a:latin typeface="Arial"/>
              </a:rPr>
              <a:t>ALGORITHM</a:t>
            </a:r>
          </a:p>
        </p:txBody>
      </p:sp>
      <p:sp>
        <p:nvSpPr>
          <p:cNvPr id="3" name="TextBox 2"/>
          <p:cNvSpPr txBox="1"/>
          <p:nvPr/>
        </p:nvSpPr>
        <p:spPr>
          <a:xfrm>
            <a:off x="10317175" y="411480"/>
            <a:ext cx="1188720" cy="228600"/>
          </a:xfrm>
          <a:prstGeom prst="rect">
            <a:avLst/>
          </a:prstGeom>
          <a:noFill/>
        </p:spPr>
        <p:txBody>
          <a:bodyPr wrap="square" lIns="0" rIns="0" tIns="0" bIns="0" anchor="t">
            <a:spAutoFit/>
          </a:bodyPr>
          <a:lstStyle/>
          <a:p>
            <a:pPr algn="r">
              <a:lnSpc>
                <a:spcPct val="115000"/>
              </a:lnSpc>
            </a:pPr>
            <a:r>
              <a:rPr sz="1000" b="1" i="0">
                <a:solidFill>
                  <a:srgbClr val="5F6C7B"/>
                </a:solidFill>
                <a:latin typeface="Arial"/>
              </a:rPr>
              <a:t>07/10</a:t>
            </a:r>
          </a:p>
        </p:txBody>
      </p:sp>
      <p:sp>
        <p:nvSpPr>
          <p:cNvPr id="4" name="TextBox 3"/>
          <p:cNvSpPr txBox="1"/>
          <p:nvPr/>
        </p:nvSpPr>
        <p:spPr>
          <a:xfrm>
            <a:off x="685800" y="749808"/>
            <a:ext cx="10820095" cy="594360"/>
          </a:xfrm>
          <a:prstGeom prst="rect">
            <a:avLst/>
          </a:prstGeom>
          <a:noFill/>
        </p:spPr>
        <p:txBody>
          <a:bodyPr wrap="square" lIns="0" rIns="0" tIns="0" bIns="0" anchor="t">
            <a:spAutoFit/>
          </a:bodyPr>
          <a:lstStyle/>
          <a:p>
            <a:pPr algn="l">
              <a:lnSpc>
                <a:spcPct val="115000"/>
              </a:lnSpc>
            </a:pPr>
            <a:r>
              <a:rPr sz="3100" b="1" i="0">
                <a:solidFill>
                  <a:srgbClr val="102033"/>
                </a:solidFill>
                <a:latin typeface="Arial"/>
              </a:rPr>
              <a:t>Diffusion changes values.</a:t>
            </a:r>
          </a:p>
        </p:txBody>
      </p:sp>
      <p:cxnSp>
        <p:nvCxnSpPr>
          <p:cNvPr id="5" name="Connector 4"/>
          <p:cNvCxnSpPr/>
          <p:nvPr/>
        </p:nvCxnSpPr>
        <p:spPr>
          <a:xfrm>
            <a:off x="685800" y="1444752"/>
            <a:ext cx="10820095" cy="0"/>
          </a:xfrm>
          <a:prstGeom prst="line">
            <a:avLst/>
          </a:prstGeom>
          <a:ln w="12700">
            <a:solidFill>
              <a:srgbClr val="D8E1E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82512"/>
            <a:ext cx="6583680" cy="182880"/>
          </a:xfrm>
          <a:prstGeom prst="rect">
            <a:avLst/>
          </a:prstGeom>
          <a:noFill/>
        </p:spPr>
        <p:txBody>
          <a:bodyPr wrap="square" lIns="0" rIns="0" tIns="0" bIns="0" anchor="t">
            <a:spAutoFit/>
          </a:bodyPr>
          <a:lstStyle/>
          <a:p>
            <a:pPr algn="l">
              <a:lnSpc>
                <a:spcPct val="115000"/>
              </a:lnSpc>
            </a:pPr>
            <a:r>
              <a:rPr sz="850" b="0" i="0">
                <a:solidFill>
                  <a:srgbClr val="5F6C7B"/>
                </a:solidFill>
                <a:latin typeface="Arial"/>
              </a:rPr>
              <a:t>CMP4221 - DWT Encryption - Xu et al. ACM TOMM 2026</a:t>
            </a:r>
          </a:p>
        </p:txBody>
      </p:sp>
      <p:sp>
        <p:nvSpPr>
          <p:cNvPr id="7" name="TextBox 6"/>
          <p:cNvSpPr txBox="1"/>
          <p:nvPr/>
        </p:nvSpPr>
        <p:spPr>
          <a:xfrm>
            <a:off x="8945575" y="6382512"/>
            <a:ext cx="2560320" cy="182880"/>
          </a:xfrm>
          <a:prstGeom prst="rect">
            <a:avLst/>
          </a:prstGeom>
          <a:noFill/>
        </p:spPr>
        <p:txBody>
          <a:bodyPr wrap="square" lIns="0" rIns="0" tIns="0" bIns="0" anchor="t">
            <a:spAutoFit/>
          </a:bodyPr>
          <a:lstStyle/>
          <a:p>
            <a:pPr algn="r">
              <a:lnSpc>
                <a:spcPct val="115000"/>
              </a:lnSpc>
            </a:pPr>
            <a:r>
              <a:rPr sz="850" b="1" i="0">
                <a:solidFill>
                  <a:srgbClr val="5F6C7B"/>
                </a:solidFill>
                <a:latin typeface="Arial"/>
              </a:rPr>
              <a:t>Maria - 1:05</a:t>
            </a:r>
          </a:p>
        </p:txBody>
      </p:sp>
      <p:sp>
        <p:nvSpPr>
          <p:cNvPr id="8" name="Rectangle 7"/>
          <p:cNvSpPr/>
          <p:nvPr/>
        </p:nvSpPr>
        <p:spPr>
          <a:xfrm>
            <a:off x="685800" y="1920240"/>
            <a:ext cx="10820095" cy="960120"/>
          </a:xfrm>
          <a:prstGeom prst="rect">
            <a:avLst/>
          </a:prstGeom>
          <a:solidFill>
            <a:srgbClr val="FFFFFF"/>
          </a:solidFill>
          <a:ln w="9525">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21992"/>
            <a:ext cx="10820095" cy="256032"/>
          </a:xfrm>
          <a:prstGeom prst="rect">
            <a:avLst/>
          </a:prstGeom>
          <a:noFill/>
        </p:spPr>
        <p:txBody>
          <a:bodyPr wrap="square" lIns="0" rIns="0" tIns="0" bIns="0" anchor="t">
            <a:spAutoFit/>
          </a:bodyPr>
          <a:lstStyle/>
          <a:p>
            <a:pPr algn="ctr">
              <a:lnSpc>
                <a:spcPct val="115000"/>
              </a:lnSpc>
            </a:pPr>
            <a:r>
              <a:rPr sz="2500" b="1" i="0">
                <a:solidFill>
                  <a:srgbClr val="102033"/>
                </a:solidFill>
                <a:latin typeface="Consolas"/>
              </a:rPr>
              <a:t>D[k] = V[k] XOR chaos[k mod 3] XOR D[k-1]</a:t>
            </a:r>
          </a:p>
        </p:txBody>
      </p:sp>
      <p:sp>
        <p:nvSpPr>
          <p:cNvPr id="10" name="Rectangle 9"/>
          <p:cNvSpPr/>
          <p:nvPr/>
        </p:nvSpPr>
        <p:spPr>
          <a:xfrm>
            <a:off x="685800" y="3538728"/>
            <a:ext cx="109728" cy="109728"/>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3429000"/>
            <a:ext cx="4590288" cy="310896"/>
          </a:xfrm>
          <a:prstGeom prst="rect">
            <a:avLst/>
          </a:prstGeom>
          <a:noFill/>
        </p:spPr>
        <p:txBody>
          <a:bodyPr wrap="square" lIns="0" rIns="0" tIns="0" bIns="0" anchor="t">
            <a:spAutoFit/>
          </a:bodyPr>
          <a:lstStyle/>
          <a:p>
            <a:pPr algn="l">
              <a:lnSpc>
                <a:spcPct val="115000"/>
              </a:lnSpc>
            </a:pPr>
            <a:r>
              <a:rPr sz="2100" b="0" i="0">
                <a:solidFill>
                  <a:srgbClr val="102033"/>
                </a:solidFill>
                <a:latin typeface="Arial"/>
              </a:rPr>
              <a:t>Flatten cube to vector</a:t>
            </a:r>
          </a:p>
        </p:txBody>
      </p:sp>
      <p:sp>
        <p:nvSpPr>
          <p:cNvPr id="12" name="Rectangle 11"/>
          <p:cNvSpPr/>
          <p:nvPr/>
        </p:nvSpPr>
        <p:spPr>
          <a:xfrm>
            <a:off x="685800" y="3959352"/>
            <a:ext cx="109728" cy="109728"/>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3849624"/>
            <a:ext cx="4590288" cy="310896"/>
          </a:xfrm>
          <a:prstGeom prst="rect">
            <a:avLst/>
          </a:prstGeom>
          <a:noFill/>
        </p:spPr>
        <p:txBody>
          <a:bodyPr wrap="square" lIns="0" rIns="0" tIns="0" bIns="0" anchor="t">
            <a:spAutoFit/>
          </a:bodyPr>
          <a:lstStyle/>
          <a:p>
            <a:pPr algn="l">
              <a:lnSpc>
                <a:spcPct val="115000"/>
              </a:lnSpc>
            </a:pPr>
            <a:r>
              <a:rPr sz="2100" b="0" i="0">
                <a:solidFill>
                  <a:srgbClr val="102033"/>
                </a:solidFill>
                <a:latin typeface="Arial"/>
              </a:rPr>
              <a:t>XOR with chaotic stream</a:t>
            </a:r>
          </a:p>
        </p:txBody>
      </p:sp>
      <p:sp>
        <p:nvSpPr>
          <p:cNvPr id="14" name="Rectangle 13"/>
          <p:cNvSpPr/>
          <p:nvPr/>
        </p:nvSpPr>
        <p:spPr>
          <a:xfrm>
            <a:off x="685800" y="4379976"/>
            <a:ext cx="109728" cy="109728"/>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4270248"/>
            <a:ext cx="4590288" cy="310896"/>
          </a:xfrm>
          <a:prstGeom prst="rect">
            <a:avLst/>
          </a:prstGeom>
          <a:noFill/>
        </p:spPr>
        <p:txBody>
          <a:bodyPr wrap="square" lIns="0" rIns="0" tIns="0" bIns="0" anchor="t">
            <a:spAutoFit/>
          </a:bodyPr>
          <a:lstStyle/>
          <a:p>
            <a:pPr algn="l">
              <a:lnSpc>
                <a:spcPct val="115000"/>
              </a:lnSpc>
            </a:pPr>
            <a:r>
              <a:rPr sz="2100" b="0" i="0">
                <a:solidFill>
                  <a:srgbClr val="102033"/>
                </a:solidFill>
                <a:latin typeface="Arial"/>
              </a:rPr>
              <a:t>Reuse previous cipher pixel</a:t>
            </a:r>
          </a:p>
        </p:txBody>
      </p:sp>
      <p:sp>
        <p:nvSpPr>
          <p:cNvPr id="16" name="Rectangle 15"/>
          <p:cNvSpPr/>
          <p:nvPr/>
        </p:nvSpPr>
        <p:spPr>
          <a:xfrm>
            <a:off x="685800" y="4800600"/>
            <a:ext cx="109728" cy="109728"/>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41832" y="4690872"/>
            <a:ext cx="4590288" cy="310896"/>
          </a:xfrm>
          <a:prstGeom prst="rect">
            <a:avLst/>
          </a:prstGeom>
          <a:noFill/>
        </p:spPr>
        <p:txBody>
          <a:bodyPr wrap="square" lIns="0" rIns="0" tIns="0" bIns="0" anchor="t">
            <a:spAutoFit/>
          </a:bodyPr>
          <a:lstStyle/>
          <a:p>
            <a:pPr algn="l">
              <a:lnSpc>
                <a:spcPct val="115000"/>
              </a:lnSpc>
            </a:pPr>
            <a:r>
              <a:rPr sz="2100" b="0" i="0">
                <a:solidFill>
                  <a:srgbClr val="102033"/>
                </a:solidFill>
                <a:latin typeface="Arial"/>
              </a:rPr>
              <a:t>One bit change spreads forward</a:t>
            </a:r>
          </a:p>
        </p:txBody>
      </p:sp>
      <p:sp>
        <p:nvSpPr>
          <p:cNvPr id="18" name="TextBox 17"/>
          <p:cNvSpPr txBox="1"/>
          <p:nvPr/>
        </p:nvSpPr>
        <p:spPr>
          <a:xfrm>
            <a:off x="6766560" y="3520440"/>
            <a:ext cx="3840480" cy="320040"/>
          </a:xfrm>
          <a:prstGeom prst="rect">
            <a:avLst/>
          </a:prstGeom>
          <a:noFill/>
        </p:spPr>
        <p:txBody>
          <a:bodyPr wrap="square" lIns="0" rIns="0" tIns="0" bIns="0" anchor="t">
            <a:spAutoFit/>
          </a:bodyPr>
          <a:lstStyle/>
          <a:p>
            <a:pPr algn="ctr">
              <a:lnSpc>
                <a:spcPct val="115000"/>
              </a:lnSpc>
            </a:pPr>
            <a:r>
              <a:rPr sz="2500" b="1" i="0">
                <a:solidFill>
                  <a:srgbClr val="0B4F4A"/>
                </a:solidFill>
                <a:latin typeface="Arial"/>
              </a:rPr>
              <a:t>Avalanche effect</a:t>
            </a:r>
          </a:p>
        </p:txBody>
      </p:sp>
      <p:sp>
        <p:nvSpPr>
          <p:cNvPr id="19" name="Rectangle 18"/>
          <p:cNvSpPr/>
          <p:nvPr/>
        </p:nvSpPr>
        <p:spPr>
          <a:xfrm>
            <a:off x="6766560" y="4206240"/>
            <a:ext cx="384048" cy="384048"/>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68896" y="4279392"/>
            <a:ext cx="164592" cy="164592"/>
          </a:xfrm>
          <a:prstGeom prst="rect">
            <a:avLst/>
          </a:prstGeom>
          <a:noFill/>
        </p:spPr>
        <p:txBody>
          <a:bodyPr wrap="square" lIns="0" rIns="0" tIns="0" bIns="0" anchor="t">
            <a:spAutoFit/>
          </a:bodyPr>
          <a:lstStyle/>
          <a:p>
            <a:pPr algn="l">
              <a:lnSpc>
                <a:spcPct val="115000"/>
              </a:lnSpc>
            </a:pPr>
            <a:r>
              <a:rPr sz="1100" b="1" i="0">
                <a:solidFill>
                  <a:srgbClr val="5F6C7B"/>
                </a:solidFill>
                <a:latin typeface="Arial"/>
              </a:rPr>
              <a:t>&gt;</a:t>
            </a:r>
          </a:p>
        </p:txBody>
      </p:sp>
      <p:sp>
        <p:nvSpPr>
          <p:cNvPr id="21" name="Rectangle 20"/>
          <p:cNvSpPr/>
          <p:nvPr/>
        </p:nvSpPr>
        <p:spPr>
          <a:xfrm>
            <a:off x="7333488" y="4206240"/>
            <a:ext cx="384048" cy="384048"/>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35823" y="4279392"/>
            <a:ext cx="164592" cy="164592"/>
          </a:xfrm>
          <a:prstGeom prst="rect">
            <a:avLst/>
          </a:prstGeom>
          <a:noFill/>
        </p:spPr>
        <p:txBody>
          <a:bodyPr wrap="square" lIns="0" rIns="0" tIns="0" bIns="0" anchor="t">
            <a:spAutoFit/>
          </a:bodyPr>
          <a:lstStyle/>
          <a:p>
            <a:pPr algn="l">
              <a:lnSpc>
                <a:spcPct val="115000"/>
              </a:lnSpc>
            </a:pPr>
            <a:r>
              <a:rPr sz="1100" b="1" i="0">
                <a:solidFill>
                  <a:srgbClr val="5F6C7B"/>
                </a:solidFill>
                <a:latin typeface="Arial"/>
              </a:rPr>
              <a:t>&gt;</a:t>
            </a:r>
          </a:p>
        </p:txBody>
      </p:sp>
      <p:sp>
        <p:nvSpPr>
          <p:cNvPr id="23" name="Rectangle 22"/>
          <p:cNvSpPr/>
          <p:nvPr/>
        </p:nvSpPr>
        <p:spPr>
          <a:xfrm>
            <a:off x="7900416" y="4206240"/>
            <a:ext cx="384048" cy="384048"/>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02752" y="4279392"/>
            <a:ext cx="164592" cy="164592"/>
          </a:xfrm>
          <a:prstGeom prst="rect">
            <a:avLst/>
          </a:prstGeom>
          <a:noFill/>
        </p:spPr>
        <p:txBody>
          <a:bodyPr wrap="square" lIns="0" rIns="0" tIns="0" bIns="0" anchor="t">
            <a:spAutoFit/>
          </a:bodyPr>
          <a:lstStyle/>
          <a:p>
            <a:pPr algn="l">
              <a:lnSpc>
                <a:spcPct val="115000"/>
              </a:lnSpc>
            </a:pPr>
            <a:r>
              <a:rPr sz="1100" b="1" i="0">
                <a:solidFill>
                  <a:srgbClr val="5F6C7B"/>
                </a:solidFill>
                <a:latin typeface="Arial"/>
              </a:rPr>
              <a:t>&gt;</a:t>
            </a:r>
          </a:p>
        </p:txBody>
      </p:sp>
      <p:sp>
        <p:nvSpPr>
          <p:cNvPr id="25" name="Rectangle 24"/>
          <p:cNvSpPr/>
          <p:nvPr/>
        </p:nvSpPr>
        <p:spPr>
          <a:xfrm>
            <a:off x="8467344" y="4206240"/>
            <a:ext cx="384048" cy="384048"/>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69680" y="4279392"/>
            <a:ext cx="164592" cy="164592"/>
          </a:xfrm>
          <a:prstGeom prst="rect">
            <a:avLst/>
          </a:prstGeom>
          <a:noFill/>
        </p:spPr>
        <p:txBody>
          <a:bodyPr wrap="square" lIns="0" rIns="0" tIns="0" bIns="0" anchor="t">
            <a:spAutoFit/>
          </a:bodyPr>
          <a:lstStyle/>
          <a:p>
            <a:pPr algn="l">
              <a:lnSpc>
                <a:spcPct val="115000"/>
              </a:lnSpc>
            </a:pPr>
            <a:r>
              <a:rPr sz="1100" b="1" i="0">
                <a:solidFill>
                  <a:srgbClr val="5F6C7B"/>
                </a:solidFill>
                <a:latin typeface="Arial"/>
              </a:rPr>
              <a:t>&gt;</a:t>
            </a:r>
          </a:p>
        </p:txBody>
      </p:sp>
      <p:sp>
        <p:nvSpPr>
          <p:cNvPr id="27" name="Rectangle 26"/>
          <p:cNvSpPr/>
          <p:nvPr/>
        </p:nvSpPr>
        <p:spPr>
          <a:xfrm>
            <a:off x="9034272" y="4206240"/>
            <a:ext cx="384048" cy="384048"/>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436608" y="4279392"/>
            <a:ext cx="164592" cy="164592"/>
          </a:xfrm>
          <a:prstGeom prst="rect">
            <a:avLst/>
          </a:prstGeom>
          <a:noFill/>
        </p:spPr>
        <p:txBody>
          <a:bodyPr wrap="square" lIns="0" rIns="0" tIns="0" bIns="0" anchor="t">
            <a:spAutoFit/>
          </a:bodyPr>
          <a:lstStyle/>
          <a:p>
            <a:pPr algn="l">
              <a:lnSpc>
                <a:spcPct val="115000"/>
              </a:lnSpc>
            </a:pPr>
            <a:r>
              <a:rPr sz="1100" b="1" i="0">
                <a:solidFill>
                  <a:srgbClr val="5F6C7B"/>
                </a:solidFill>
                <a:latin typeface="Arial"/>
              </a:rPr>
              <a:t>&gt;</a:t>
            </a:r>
          </a:p>
        </p:txBody>
      </p:sp>
      <p:sp>
        <p:nvSpPr>
          <p:cNvPr id="29" name="Rectangle 28"/>
          <p:cNvSpPr/>
          <p:nvPr/>
        </p:nvSpPr>
        <p:spPr>
          <a:xfrm>
            <a:off x="9601200" y="4206240"/>
            <a:ext cx="384048" cy="384048"/>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0" y="4864607"/>
            <a:ext cx="4663440" cy="502920"/>
          </a:xfrm>
          <a:prstGeom prst="rect">
            <a:avLst/>
          </a:prstGeom>
          <a:noFill/>
        </p:spPr>
        <p:txBody>
          <a:bodyPr wrap="square" lIns="0" rIns="0" tIns="0" bIns="0" anchor="t">
            <a:spAutoFit/>
          </a:bodyPr>
          <a:lstStyle/>
          <a:p>
            <a:pPr algn="ctr">
              <a:lnSpc>
                <a:spcPct val="115000"/>
              </a:lnSpc>
            </a:pPr>
            <a:r>
              <a:rPr sz="1500" b="0" i="0">
                <a:solidFill>
                  <a:srgbClr val="5F6C7B"/>
                </a:solidFill>
                <a:latin typeface="Arial"/>
              </a:rPr>
              <a:t>A tiny input change contaminates later output.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AFC"/>
        </a:solidFill>
        <a:effectLst/>
      </p:bgPr>
    </p:bg>
    <p:spTree>
      <p:nvGrpSpPr>
        <p:cNvPr id="1" name=""/>
        <p:cNvGrpSpPr/>
        <p:nvPr/>
      </p:nvGrpSpPr>
      <p:grpSpPr/>
      <p:sp>
        <p:nvSpPr>
          <p:cNvPr id="2" name="TextBox 1"/>
          <p:cNvSpPr txBox="1"/>
          <p:nvPr/>
        </p:nvSpPr>
        <p:spPr>
          <a:xfrm>
            <a:off x="685800" y="411480"/>
            <a:ext cx="4114800" cy="228600"/>
          </a:xfrm>
          <a:prstGeom prst="rect">
            <a:avLst/>
          </a:prstGeom>
          <a:noFill/>
        </p:spPr>
        <p:txBody>
          <a:bodyPr wrap="square" lIns="0" rIns="0" tIns="0" bIns="0" anchor="t">
            <a:spAutoFit/>
          </a:bodyPr>
          <a:lstStyle/>
          <a:p>
            <a:pPr algn="l">
              <a:lnSpc>
                <a:spcPct val="115000"/>
              </a:lnSpc>
            </a:pPr>
            <a:r>
              <a:rPr sz="900" b="1" i="0">
                <a:solidFill>
                  <a:srgbClr val="5F6C7B"/>
                </a:solidFill>
                <a:latin typeface="Arial"/>
              </a:rPr>
              <a:t>FINDINGS</a:t>
            </a:r>
          </a:p>
        </p:txBody>
      </p:sp>
      <p:sp>
        <p:nvSpPr>
          <p:cNvPr id="3" name="TextBox 2"/>
          <p:cNvSpPr txBox="1"/>
          <p:nvPr/>
        </p:nvSpPr>
        <p:spPr>
          <a:xfrm>
            <a:off x="10317175" y="411480"/>
            <a:ext cx="1188720" cy="228600"/>
          </a:xfrm>
          <a:prstGeom prst="rect">
            <a:avLst/>
          </a:prstGeom>
          <a:noFill/>
        </p:spPr>
        <p:txBody>
          <a:bodyPr wrap="square" lIns="0" rIns="0" tIns="0" bIns="0" anchor="t">
            <a:spAutoFit/>
          </a:bodyPr>
          <a:lstStyle/>
          <a:p>
            <a:pPr algn="r">
              <a:lnSpc>
                <a:spcPct val="115000"/>
              </a:lnSpc>
            </a:pPr>
            <a:r>
              <a:rPr sz="1000" b="1" i="0">
                <a:solidFill>
                  <a:srgbClr val="5F6C7B"/>
                </a:solidFill>
                <a:latin typeface="Arial"/>
              </a:rPr>
              <a:t>08/10</a:t>
            </a:r>
          </a:p>
        </p:txBody>
      </p:sp>
      <p:sp>
        <p:nvSpPr>
          <p:cNvPr id="4" name="TextBox 3"/>
          <p:cNvSpPr txBox="1"/>
          <p:nvPr/>
        </p:nvSpPr>
        <p:spPr>
          <a:xfrm>
            <a:off x="685800" y="749808"/>
            <a:ext cx="10820095" cy="594360"/>
          </a:xfrm>
          <a:prstGeom prst="rect">
            <a:avLst/>
          </a:prstGeom>
          <a:noFill/>
        </p:spPr>
        <p:txBody>
          <a:bodyPr wrap="square" lIns="0" rIns="0" tIns="0" bIns="0" anchor="t">
            <a:spAutoFit/>
          </a:bodyPr>
          <a:lstStyle/>
          <a:p>
            <a:pPr algn="l">
              <a:lnSpc>
                <a:spcPct val="115000"/>
              </a:lnSpc>
            </a:pPr>
            <a:r>
              <a:rPr sz="3100" b="1" i="0">
                <a:solidFill>
                  <a:srgbClr val="102033"/>
                </a:solidFill>
                <a:latin typeface="Arial"/>
              </a:rPr>
              <a:t>Recovered images stay usable.</a:t>
            </a:r>
          </a:p>
        </p:txBody>
      </p:sp>
      <p:cxnSp>
        <p:nvCxnSpPr>
          <p:cNvPr id="5" name="Connector 4"/>
          <p:cNvCxnSpPr/>
          <p:nvPr/>
        </p:nvCxnSpPr>
        <p:spPr>
          <a:xfrm>
            <a:off x="685800" y="1444752"/>
            <a:ext cx="10820095" cy="0"/>
          </a:xfrm>
          <a:prstGeom prst="line">
            <a:avLst/>
          </a:prstGeom>
          <a:ln w="12700">
            <a:solidFill>
              <a:srgbClr val="D8E1E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82512"/>
            <a:ext cx="6583680" cy="182880"/>
          </a:xfrm>
          <a:prstGeom prst="rect">
            <a:avLst/>
          </a:prstGeom>
          <a:noFill/>
        </p:spPr>
        <p:txBody>
          <a:bodyPr wrap="square" lIns="0" rIns="0" tIns="0" bIns="0" anchor="t">
            <a:spAutoFit/>
          </a:bodyPr>
          <a:lstStyle/>
          <a:p>
            <a:pPr algn="l">
              <a:lnSpc>
                <a:spcPct val="115000"/>
              </a:lnSpc>
            </a:pPr>
            <a:r>
              <a:rPr sz="850" b="0" i="0">
                <a:solidFill>
                  <a:srgbClr val="5F6C7B"/>
                </a:solidFill>
                <a:latin typeface="Arial"/>
              </a:rPr>
              <a:t>CMP4221 - DWT Encryption - Xu et al. ACM TOMM 2026</a:t>
            </a:r>
          </a:p>
        </p:txBody>
      </p:sp>
      <p:sp>
        <p:nvSpPr>
          <p:cNvPr id="7" name="TextBox 6"/>
          <p:cNvSpPr txBox="1"/>
          <p:nvPr/>
        </p:nvSpPr>
        <p:spPr>
          <a:xfrm>
            <a:off x="8945575" y="6382512"/>
            <a:ext cx="2560320" cy="182880"/>
          </a:xfrm>
          <a:prstGeom prst="rect">
            <a:avLst/>
          </a:prstGeom>
          <a:noFill/>
        </p:spPr>
        <p:txBody>
          <a:bodyPr wrap="square" lIns="0" rIns="0" tIns="0" bIns="0" anchor="t">
            <a:spAutoFit/>
          </a:bodyPr>
          <a:lstStyle/>
          <a:p>
            <a:pPr algn="r">
              <a:lnSpc>
                <a:spcPct val="115000"/>
              </a:lnSpc>
            </a:pPr>
            <a:r>
              <a:rPr sz="850" b="1" i="0">
                <a:solidFill>
                  <a:srgbClr val="5F6C7B"/>
                </a:solidFill>
                <a:latin typeface="Arial"/>
              </a:rPr>
              <a:t>Maria - 1:00</a:t>
            </a:r>
          </a:p>
        </p:txBody>
      </p:sp>
      <p:sp>
        <p:nvSpPr>
          <p:cNvPr id="8" name="TextBox 7"/>
          <p:cNvSpPr txBox="1"/>
          <p:nvPr/>
        </p:nvSpPr>
        <p:spPr>
          <a:xfrm>
            <a:off x="685800" y="1737360"/>
            <a:ext cx="3840480" cy="274320"/>
          </a:xfrm>
          <a:prstGeom prst="rect">
            <a:avLst/>
          </a:prstGeom>
          <a:noFill/>
        </p:spPr>
        <p:txBody>
          <a:bodyPr wrap="square" lIns="0" rIns="0" tIns="0" bIns="0" anchor="t">
            <a:spAutoFit/>
          </a:bodyPr>
          <a:lstStyle/>
          <a:p>
            <a:pPr algn="l">
              <a:lnSpc>
                <a:spcPct val="115000"/>
              </a:lnSpc>
            </a:pPr>
            <a:r>
              <a:rPr sz="1300" b="1" i="0">
                <a:solidFill>
                  <a:srgbClr val="5F6C7B"/>
                </a:solidFill>
                <a:latin typeface="Arial"/>
              </a:rPr>
              <a:t>Reconstruction PSNR</a:t>
            </a:r>
          </a:p>
        </p:txBody>
      </p:sp>
      <p:sp>
        <p:nvSpPr>
          <p:cNvPr id="9" name="TextBox 8"/>
          <p:cNvSpPr txBox="1"/>
          <p:nvPr/>
        </p:nvSpPr>
        <p:spPr>
          <a:xfrm>
            <a:off x="685800" y="2075688"/>
            <a:ext cx="3840480" cy="914400"/>
          </a:xfrm>
          <a:prstGeom prst="rect">
            <a:avLst/>
          </a:prstGeom>
          <a:noFill/>
        </p:spPr>
        <p:txBody>
          <a:bodyPr wrap="square" lIns="0" rIns="0" tIns="0" bIns="0" anchor="t">
            <a:spAutoFit/>
          </a:bodyPr>
          <a:lstStyle/>
          <a:p>
            <a:pPr algn="l">
              <a:lnSpc>
                <a:spcPct val="115000"/>
              </a:lnSpc>
            </a:pPr>
            <a:r>
              <a:rPr sz="6200" b="1" i="0">
                <a:solidFill>
                  <a:srgbClr val="102033"/>
                </a:solidFill>
                <a:latin typeface="Consolas"/>
              </a:rPr>
              <a:t>32.06</a:t>
            </a:r>
          </a:p>
        </p:txBody>
      </p:sp>
      <p:sp>
        <p:nvSpPr>
          <p:cNvPr id="10" name="TextBox 9"/>
          <p:cNvSpPr txBox="1"/>
          <p:nvPr/>
        </p:nvSpPr>
        <p:spPr>
          <a:xfrm>
            <a:off x="685800" y="2926080"/>
            <a:ext cx="3840480" cy="320040"/>
          </a:xfrm>
          <a:prstGeom prst="rect">
            <a:avLst/>
          </a:prstGeom>
          <a:noFill/>
        </p:spPr>
        <p:txBody>
          <a:bodyPr wrap="square" lIns="0" rIns="0" tIns="0" bIns="0" anchor="t">
            <a:spAutoFit/>
          </a:bodyPr>
          <a:lstStyle/>
          <a:p>
            <a:pPr algn="l">
              <a:lnSpc>
                <a:spcPct val="115000"/>
              </a:lnSpc>
            </a:pPr>
            <a:r>
              <a:rPr sz="1600" b="1" i="0">
                <a:solidFill>
                  <a:srgbClr val="0B4F4A"/>
                </a:solidFill>
                <a:latin typeface="Arial"/>
              </a:rPr>
              <a:t>dB after round trip</a:t>
            </a:r>
          </a:p>
        </p:txBody>
      </p:sp>
      <p:sp>
        <p:nvSpPr>
          <p:cNvPr id="11" name="Rectangle 10"/>
          <p:cNvSpPr/>
          <p:nvPr/>
        </p:nvSpPr>
        <p:spPr>
          <a:xfrm>
            <a:off x="685800" y="3767328"/>
            <a:ext cx="109728" cy="109728"/>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3657600"/>
            <a:ext cx="4133087" cy="310896"/>
          </a:xfrm>
          <a:prstGeom prst="rect">
            <a:avLst/>
          </a:prstGeom>
          <a:noFill/>
        </p:spPr>
        <p:txBody>
          <a:bodyPr wrap="square" lIns="0" rIns="0" tIns="0" bIns="0" anchor="t">
            <a:spAutoFit/>
          </a:bodyPr>
          <a:lstStyle/>
          <a:p>
            <a:pPr algn="l">
              <a:lnSpc>
                <a:spcPct val="115000"/>
              </a:lnSpc>
            </a:pPr>
            <a:r>
              <a:rPr sz="1900" b="0" i="0">
                <a:solidFill>
                  <a:srgbClr val="102033"/>
                </a:solidFill>
                <a:latin typeface="Arial"/>
              </a:rPr>
              <a:t>Prior work: 26-27 dB</a:t>
            </a:r>
          </a:p>
        </p:txBody>
      </p:sp>
      <p:sp>
        <p:nvSpPr>
          <p:cNvPr id="13" name="Rectangle 12"/>
          <p:cNvSpPr/>
          <p:nvPr/>
        </p:nvSpPr>
        <p:spPr>
          <a:xfrm>
            <a:off x="685800" y="4187952"/>
            <a:ext cx="109728" cy="109728"/>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4078224"/>
            <a:ext cx="4133087" cy="310896"/>
          </a:xfrm>
          <a:prstGeom prst="rect">
            <a:avLst/>
          </a:prstGeom>
          <a:noFill/>
        </p:spPr>
        <p:txBody>
          <a:bodyPr wrap="square" lIns="0" rIns="0" tIns="0" bIns="0" anchor="t">
            <a:spAutoFit/>
          </a:bodyPr>
          <a:lstStyle/>
          <a:p>
            <a:pPr algn="l">
              <a:lnSpc>
                <a:spcPct val="115000"/>
              </a:lnSpc>
            </a:pPr>
            <a:r>
              <a:rPr sz="1900" b="0" i="0">
                <a:solidFill>
                  <a:srgbClr val="102033"/>
                </a:solidFill>
                <a:latin typeface="Arial"/>
              </a:rPr>
              <a:t>Above 30 dB threshold</a:t>
            </a:r>
          </a:p>
        </p:txBody>
      </p:sp>
      <p:sp>
        <p:nvSpPr>
          <p:cNvPr id="15" name="Rectangle 14"/>
          <p:cNvSpPr/>
          <p:nvPr/>
        </p:nvSpPr>
        <p:spPr>
          <a:xfrm>
            <a:off x="685800" y="4608576"/>
            <a:ext cx="109728" cy="109728"/>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1832" y="4498848"/>
            <a:ext cx="4133087" cy="310896"/>
          </a:xfrm>
          <a:prstGeom prst="rect">
            <a:avLst/>
          </a:prstGeom>
          <a:noFill/>
        </p:spPr>
        <p:txBody>
          <a:bodyPr wrap="square" lIns="0" rIns="0" tIns="0" bIns="0" anchor="t">
            <a:spAutoFit/>
          </a:bodyPr>
          <a:lstStyle/>
          <a:p>
            <a:pPr algn="l">
              <a:lnSpc>
                <a:spcPct val="115000"/>
              </a:lnSpc>
            </a:pPr>
            <a:r>
              <a:rPr sz="1900" b="0" i="0">
                <a:solidFill>
                  <a:srgbClr val="102033"/>
                </a:solidFill>
                <a:latin typeface="Arial"/>
              </a:rPr>
              <a:t>Compression kept image quality</a:t>
            </a:r>
          </a:p>
        </p:txBody>
      </p:sp>
      <p:sp>
        <p:nvSpPr>
          <p:cNvPr id="17" name="TextBox 16"/>
          <p:cNvSpPr txBox="1"/>
          <p:nvPr/>
        </p:nvSpPr>
        <p:spPr>
          <a:xfrm>
            <a:off x="5669280" y="1965960"/>
            <a:ext cx="1143000" cy="201168"/>
          </a:xfrm>
          <a:prstGeom prst="rect">
            <a:avLst/>
          </a:prstGeom>
          <a:noFill/>
        </p:spPr>
        <p:txBody>
          <a:bodyPr wrap="square" lIns="0" rIns="0" tIns="0" bIns="0" anchor="t">
            <a:spAutoFit/>
          </a:bodyPr>
          <a:lstStyle/>
          <a:p>
            <a:pPr algn="r">
              <a:lnSpc>
                <a:spcPct val="115000"/>
              </a:lnSpc>
            </a:pPr>
            <a:r>
              <a:rPr sz="1100" b="1" i="0">
                <a:solidFill>
                  <a:srgbClr val="102033"/>
                </a:solidFill>
                <a:latin typeface="Arial"/>
              </a:rPr>
              <a:t>This paper</a:t>
            </a:r>
          </a:p>
        </p:txBody>
      </p:sp>
      <p:sp>
        <p:nvSpPr>
          <p:cNvPr id="18" name="Rectangle 17"/>
          <p:cNvSpPr/>
          <p:nvPr/>
        </p:nvSpPr>
        <p:spPr>
          <a:xfrm>
            <a:off x="6995160" y="1920240"/>
            <a:ext cx="4606747" cy="292608"/>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693347" y="1965960"/>
            <a:ext cx="685800" cy="182880"/>
          </a:xfrm>
          <a:prstGeom prst="rect">
            <a:avLst/>
          </a:prstGeom>
          <a:noFill/>
        </p:spPr>
        <p:txBody>
          <a:bodyPr wrap="square" lIns="0" rIns="0" tIns="0" bIns="0" anchor="t">
            <a:spAutoFit/>
          </a:bodyPr>
          <a:lstStyle/>
          <a:p>
            <a:pPr algn="l">
              <a:lnSpc>
                <a:spcPct val="115000"/>
              </a:lnSpc>
            </a:pPr>
            <a:r>
              <a:rPr sz="1000" b="0" i="0">
                <a:solidFill>
                  <a:srgbClr val="102033"/>
                </a:solidFill>
                <a:latin typeface="Consolas"/>
              </a:rPr>
              <a:t>32.06</a:t>
            </a:r>
          </a:p>
        </p:txBody>
      </p:sp>
      <p:sp>
        <p:nvSpPr>
          <p:cNvPr id="20" name="TextBox 19"/>
          <p:cNvSpPr txBox="1"/>
          <p:nvPr/>
        </p:nvSpPr>
        <p:spPr>
          <a:xfrm>
            <a:off x="5669280" y="2587752"/>
            <a:ext cx="1143000" cy="201168"/>
          </a:xfrm>
          <a:prstGeom prst="rect">
            <a:avLst/>
          </a:prstGeom>
          <a:noFill/>
        </p:spPr>
        <p:txBody>
          <a:bodyPr wrap="square" lIns="0" rIns="0" tIns="0" bIns="0" anchor="t">
            <a:spAutoFit/>
          </a:bodyPr>
          <a:lstStyle/>
          <a:p>
            <a:pPr algn="r">
              <a:lnSpc>
                <a:spcPct val="115000"/>
              </a:lnSpc>
            </a:pPr>
            <a:r>
              <a:rPr sz="1100" b="0" i="0">
                <a:solidFill>
                  <a:srgbClr val="5F6C7B"/>
                </a:solidFill>
                <a:latin typeface="Arial"/>
              </a:rPr>
              <a:t>Ref. 22</a:t>
            </a:r>
          </a:p>
        </p:txBody>
      </p:sp>
      <p:sp>
        <p:nvSpPr>
          <p:cNvPr id="21" name="Rectangle 20"/>
          <p:cNvSpPr/>
          <p:nvPr/>
        </p:nvSpPr>
        <p:spPr>
          <a:xfrm>
            <a:off x="6995160" y="2542032"/>
            <a:ext cx="3978815" cy="292608"/>
          </a:xfrm>
          <a:prstGeom prst="rect">
            <a:avLst/>
          </a:prstGeom>
          <a:solidFill>
            <a:srgbClr val="5F6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065415" y="2587752"/>
            <a:ext cx="685800" cy="182880"/>
          </a:xfrm>
          <a:prstGeom prst="rect">
            <a:avLst/>
          </a:prstGeom>
          <a:noFill/>
        </p:spPr>
        <p:txBody>
          <a:bodyPr wrap="square" lIns="0" rIns="0" tIns="0" bIns="0" anchor="t">
            <a:spAutoFit/>
          </a:bodyPr>
          <a:lstStyle/>
          <a:p>
            <a:pPr algn="l">
              <a:lnSpc>
                <a:spcPct val="115000"/>
              </a:lnSpc>
            </a:pPr>
            <a:r>
              <a:rPr sz="1000" b="0" i="0">
                <a:solidFill>
                  <a:srgbClr val="102033"/>
                </a:solidFill>
                <a:latin typeface="Consolas"/>
              </a:rPr>
              <a:t>27.69</a:t>
            </a:r>
          </a:p>
        </p:txBody>
      </p:sp>
      <p:sp>
        <p:nvSpPr>
          <p:cNvPr id="23" name="TextBox 22"/>
          <p:cNvSpPr txBox="1"/>
          <p:nvPr/>
        </p:nvSpPr>
        <p:spPr>
          <a:xfrm>
            <a:off x="5669280" y="3209544"/>
            <a:ext cx="1143000" cy="201168"/>
          </a:xfrm>
          <a:prstGeom prst="rect">
            <a:avLst/>
          </a:prstGeom>
          <a:noFill/>
        </p:spPr>
        <p:txBody>
          <a:bodyPr wrap="square" lIns="0" rIns="0" tIns="0" bIns="0" anchor="t">
            <a:spAutoFit/>
          </a:bodyPr>
          <a:lstStyle/>
          <a:p>
            <a:pPr algn="r">
              <a:lnSpc>
                <a:spcPct val="115000"/>
              </a:lnSpc>
            </a:pPr>
            <a:r>
              <a:rPr sz="1100" b="0" i="0">
                <a:solidFill>
                  <a:srgbClr val="5F6C7B"/>
                </a:solidFill>
                <a:latin typeface="Arial"/>
              </a:rPr>
              <a:t>Ref. 19</a:t>
            </a:r>
          </a:p>
        </p:txBody>
      </p:sp>
      <p:sp>
        <p:nvSpPr>
          <p:cNvPr id="24" name="Rectangle 23"/>
          <p:cNvSpPr/>
          <p:nvPr/>
        </p:nvSpPr>
        <p:spPr>
          <a:xfrm>
            <a:off x="6995160" y="3163824"/>
            <a:ext cx="3950077" cy="292608"/>
          </a:xfrm>
          <a:prstGeom prst="rect">
            <a:avLst/>
          </a:prstGeom>
          <a:solidFill>
            <a:srgbClr val="5F6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036677" y="3209544"/>
            <a:ext cx="685800" cy="182880"/>
          </a:xfrm>
          <a:prstGeom prst="rect">
            <a:avLst/>
          </a:prstGeom>
          <a:noFill/>
        </p:spPr>
        <p:txBody>
          <a:bodyPr wrap="square" lIns="0" rIns="0" tIns="0" bIns="0" anchor="t">
            <a:spAutoFit/>
          </a:bodyPr>
          <a:lstStyle/>
          <a:p>
            <a:pPr algn="l">
              <a:lnSpc>
                <a:spcPct val="115000"/>
              </a:lnSpc>
            </a:pPr>
            <a:r>
              <a:rPr sz="1000" b="0" i="0">
                <a:solidFill>
                  <a:srgbClr val="102033"/>
                </a:solidFill>
                <a:latin typeface="Consolas"/>
              </a:rPr>
              <a:t>27.49</a:t>
            </a:r>
          </a:p>
        </p:txBody>
      </p:sp>
      <p:sp>
        <p:nvSpPr>
          <p:cNvPr id="26" name="TextBox 25"/>
          <p:cNvSpPr txBox="1"/>
          <p:nvPr/>
        </p:nvSpPr>
        <p:spPr>
          <a:xfrm>
            <a:off x="5669280" y="3831336"/>
            <a:ext cx="1143000" cy="201168"/>
          </a:xfrm>
          <a:prstGeom prst="rect">
            <a:avLst/>
          </a:prstGeom>
          <a:noFill/>
        </p:spPr>
        <p:txBody>
          <a:bodyPr wrap="square" lIns="0" rIns="0" tIns="0" bIns="0" anchor="t">
            <a:spAutoFit/>
          </a:bodyPr>
          <a:lstStyle/>
          <a:p>
            <a:pPr algn="r">
              <a:lnSpc>
                <a:spcPct val="115000"/>
              </a:lnSpc>
            </a:pPr>
            <a:r>
              <a:rPr sz="1100" b="0" i="0">
                <a:solidFill>
                  <a:srgbClr val="5F6C7B"/>
                </a:solidFill>
                <a:latin typeface="Arial"/>
              </a:rPr>
              <a:t>Ref. 46</a:t>
            </a:r>
          </a:p>
        </p:txBody>
      </p:sp>
      <p:sp>
        <p:nvSpPr>
          <p:cNvPr id="27" name="Rectangle 26"/>
          <p:cNvSpPr/>
          <p:nvPr/>
        </p:nvSpPr>
        <p:spPr>
          <a:xfrm>
            <a:off x="6995160" y="3785616"/>
            <a:ext cx="3928523" cy="292608"/>
          </a:xfrm>
          <a:prstGeom prst="rect">
            <a:avLst/>
          </a:prstGeom>
          <a:solidFill>
            <a:srgbClr val="5F6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1015123" y="3831336"/>
            <a:ext cx="685800" cy="182880"/>
          </a:xfrm>
          <a:prstGeom prst="rect">
            <a:avLst/>
          </a:prstGeom>
          <a:noFill/>
        </p:spPr>
        <p:txBody>
          <a:bodyPr wrap="square" lIns="0" rIns="0" tIns="0" bIns="0" anchor="t">
            <a:spAutoFit/>
          </a:bodyPr>
          <a:lstStyle/>
          <a:p>
            <a:pPr algn="l">
              <a:lnSpc>
                <a:spcPct val="115000"/>
              </a:lnSpc>
            </a:pPr>
            <a:r>
              <a:rPr sz="1000" b="0" i="0">
                <a:solidFill>
                  <a:srgbClr val="102033"/>
                </a:solidFill>
                <a:latin typeface="Consolas"/>
              </a:rPr>
              <a:t>27.34</a:t>
            </a:r>
          </a:p>
        </p:txBody>
      </p:sp>
      <p:sp>
        <p:nvSpPr>
          <p:cNvPr id="29" name="TextBox 28"/>
          <p:cNvSpPr txBox="1"/>
          <p:nvPr/>
        </p:nvSpPr>
        <p:spPr>
          <a:xfrm>
            <a:off x="5669280" y="4453128"/>
            <a:ext cx="1143000" cy="201168"/>
          </a:xfrm>
          <a:prstGeom prst="rect">
            <a:avLst/>
          </a:prstGeom>
          <a:noFill/>
        </p:spPr>
        <p:txBody>
          <a:bodyPr wrap="square" lIns="0" rIns="0" tIns="0" bIns="0" anchor="t">
            <a:spAutoFit/>
          </a:bodyPr>
          <a:lstStyle/>
          <a:p>
            <a:pPr algn="r">
              <a:lnSpc>
                <a:spcPct val="115000"/>
              </a:lnSpc>
            </a:pPr>
            <a:r>
              <a:rPr sz="1100" b="0" i="0">
                <a:solidFill>
                  <a:srgbClr val="5F6C7B"/>
                </a:solidFill>
                <a:latin typeface="Arial"/>
              </a:rPr>
              <a:t>Ref. 8</a:t>
            </a:r>
          </a:p>
        </p:txBody>
      </p:sp>
      <p:sp>
        <p:nvSpPr>
          <p:cNvPr id="30" name="Rectangle 29"/>
          <p:cNvSpPr/>
          <p:nvPr/>
        </p:nvSpPr>
        <p:spPr>
          <a:xfrm>
            <a:off x="6995160" y="4407408"/>
            <a:ext cx="3777647" cy="292608"/>
          </a:xfrm>
          <a:prstGeom prst="rect">
            <a:avLst/>
          </a:prstGeom>
          <a:solidFill>
            <a:srgbClr val="5F6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864247" y="4453128"/>
            <a:ext cx="685800" cy="182880"/>
          </a:xfrm>
          <a:prstGeom prst="rect">
            <a:avLst/>
          </a:prstGeom>
          <a:noFill/>
        </p:spPr>
        <p:txBody>
          <a:bodyPr wrap="square" lIns="0" rIns="0" tIns="0" bIns="0" anchor="t">
            <a:spAutoFit/>
          </a:bodyPr>
          <a:lstStyle/>
          <a:p>
            <a:pPr algn="l">
              <a:lnSpc>
                <a:spcPct val="115000"/>
              </a:lnSpc>
            </a:pPr>
            <a:r>
              <a:rPr sz="1000" b="0" i="0">
                <a:solidFill>
                  <a:srgbClr val="102033"/>
                </a:solidFill>
                <a:latin typeface="Consolas"/>
              </a:rPr>
              <a:t>26.29</a:t>
            </a:r>
          </a:p>
        </p:txBody>
      </p:sp>
      <p:cxnSp>
        <p:nvCxnSpPr>
          <p:cNvPr id="32" name="Connector 31"/>
          <p:cNvCxnSpPr/>
          <p:nvPr/>
        </p:nvCxnSpPr>
        <p:spPr>
          <a:xfrm>
            <a:off x="11305902" y="1810512"/>
            <a:ext cx="0" cy="2880360"/>
          </a:xfrm>
          <a:prstGeom prst="line">
            <a:avLst/>
          </a:prstGeom>
          <a:ln w="15240">
            <a:solidFill>
              <a:srgbClr val="D97706"/>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10940142" y="4754880"/>
            <a:ext cx="731520" cy="201168"/>
          </a:xfrm>
          <a:prstGeom prst="rect">
            <a:avLst/>
          </a:prstGeom>
          <a:noFill/>
        </p:spPr>
        <p:txBody>
          <a:bodyPr wrap="square" lIns="0" rIns="0" tIns="0" bIns="0" anchor="t">
            <a:spAutoFit/>
          </a:bodyPr>
          <a:lstStyle/>
          <a:p>
            <a:pPr algn="ctr">
              <a:lnSpc>
                <a:spcPct val="115000"/>
              </a:lnSpc>
            </a:pPr>
            <a:r>
              <a:rPr sz="900" b="1" i="0">
                <a:solidFill>
                  <a:srgbClr val="D97706"/>
                </a:solidFill>
                <a:latin typeface="Arial"/>
              </a:rPr>
              <a:t>30 dB</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AFC"/>
        </a:solidFill>
        <a:effectLst/>
      </p:bgPr>
    </p:bg>
    <p:spTree>
      <p:nvGrpSpPr>
        <p:cNvPr id="1" name=""/>
        <p:cNvGrpSpPr/>
        <p:nvPr/>
      </p:nvGrpSpPr>
      <p:grpSpPr/>
      <p:sp>
        <p:nvSpPr>
          <p:cNvPr id="2" name="TextBox 1"/>
          <p:cNvSpPr txBox="1"/>
          <p:nvPr/>
        </p:nvSpPr>
        <p:spPr>
          <a:xfrm>
            <a:off x="685800" y="411480"/>
            <a:ext cx="4114800" cy="228600"/>
          </a:xfrm>
          <a:prstGeom prst="rect">
            <a:avLst/>
          </a:prstGeom>
          <a:noFill/>
        </p:spPr>
        <p:txBody>
          <a:bodyPr wrap="square" lIns="0" rIns="0" tIns="0" bIns="0" anchor="t">
            <a:spAutoFit/>
          </a:bodyPr>
          <a:lstStyle/>
          <a:p>
            <a:pPr algn="l">
              <a:lnSpc>
                <a:spcPct val="115000"/>
              </a:lnSpc>
            </a:pPr>
            <a:r>
              <a:rPr sz="900" b="1" i="0">
                <a:solidFill>
                  <a:srgbClr val="5F6C7B"/>
                </a:solidFill>
                <a:latin typeface="Arial"/>
              </a:rPr>
              <a:t>SECURITY</a:t>
            </a:r>
          </a:p>
        </p:txBody>
      </p:sp>
      <p:sp>
        <p:nvSpPr>
          <p:cNvPr id="3" name="TextBox 2"/>
          <p:cNvSpPr txBox="1"/>
          <p:nvPr/>
        </p:nvSpPr>
        <p:spPr>
          <a:xfrm>
            <a:off x="10317175" y="411480"/>
            <a:ext cx="1188720" cy="228600"/>
          </a:xfrm>
          <a:prstGeom prst="rect">
            <a:avLst/>
          </a:prstGeom>
          <a:noFill/>
        </p:spPr>
        <p:txBody>
          <a:bodyPr wrap="square" lIns="0" rIns="0" tIns="0" bIns="0" anchor="t">
            <a:spAutoFit/>
          </a:bodyPr>
          <a:lstStyle/>
          <a:p>
            <a:pPr algn="r">
              <a:lnSpc>
                <a:spcPct val="115000"/>
              </a:lnSpc>
            </a:pPr>
            <a:r>
              <a:rPr sz="1000" b="1" i="0">
                <a:solidFill>
                  <a:srgbClr val="5F6C7B"/>
                </a:solidFill>
                <a:latin typeface="Arial"/>
              </a:rPr>
              <a:t>09/10</a:t>
            </a:r>
          </a:p>
        </p:txBody>
      </p:sp>
      <p:sp>
        <p:nvSpPr>
          <p:cNvPr id="4" name="TextBox 3"/>
          <p:cNvSpPr txBox="1"/>
          <p:nvPr/>
        </p:nvSpPr>
        <p:spPr>
          <a:xfrm>
            <a:off x="685800" y="749808"/>
            <a:ext cx="10820095" cy="594360"/>
          </a:xfrm>
          <a:prstGeom prst="rect">
            <a:avLst/>
          </a:prstGeom>
          <a:noFill/>
        </p:spPr>
        <p:txBody>
          <a:bodyPr wrap="square" lIns="0" rIns="0" tIns="0" bIns="0" anchor="t">
            <a:spAutoFit/>
          </a:bodyPr>
          <a:lstStyle/>
          <a:p>
            <a:pPr algn="l">
              <a:lnSpc>
                <a:spcPct val="115000"/>
              </a:lnSpc>
            </a:pPr>
            <a:r>
              <a:rPr sz="3100" b="1" i="0">
                <a:solidFill>
                  <a:srgbClr val="102033"/>
                </a:solidFill>
                <a:latin typeface="Arial"/>
              </a:rPr>
              <a:t>The cipher behaves like noise.</a:t>
            </a:r>
          </a:p>
        </p:txBody>
      </p:sp>
      <p:cxnSp>
        <p:nvCxnSpPr>
          <p:cNvPr id="5" name="Connector 4"/>
          <p:cNvCxnSpPr/>
          <p:nvPr/>
        </p:nvCxnSpPr>
        <p:spPr>
          <a:xfrm>
            <a:off x="685800" y="1444752"/>
            <a:ext cx="10820095" cy="0"/>
          </a:xfrm>
          <a:prstGeom prst="line">
            <a:avLst/>
          </a:prstGeom>
          <a:ln w="12700">
            <a:solidFill>
              <a:srgbClr val="D8E1E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82512"/>
            <a:ext cx="6583680" cy="182880"/>
          </a:xfrm>
          <a:prstGeom prst="rect">
            <a:avLst/>
          </a:prstGeom>
          <a:noFill/>
        </p:spPr>
        <p:txBody>
          <a:bodyPr wrap="square" lIns="0" rIns="0" tIns="0" bIns="0" anchor="t">
            <a:spAutoFit/>
          </a:bodyPr>
          <a:lstStyle/>
          <a:p>
            <a:pPr algn="l">
              <a:lnSpc>
                <a:spcPct val="115000"/>
              </a:lnSpc>
            </a:pPr>
            <a:r>
              <a:rPr sz="850" b="0" i="0">
                <a:solidFill>
                  <a:srgbClr val="5F6C7B"/>
                </a:solidFill>
                <a:latin typeface="Arial"/>
              </a:rPr>
              <a:t>CMP4221 - DWT Encryption - Xu et al. ACM TOMM 2026</a:t>
            </a:r>
          </a:p>
        </p:txBody>
      </p:sp>
      <p:sp>
        <p:nvSpPr>
          <p:cNvPr id="7" name="TextBox 6"/>
          <p:cNvSpPr txBox="1"/>
          <p:nvPr/>
        </p:nvSpPr>
        <p:spPr>
          <a:xfrm>
            <a:off x="8945575" y="6382512"/>
            <a:ext cx="2560320" cy="182880"/>
          </a:xfrm>
          <a:prstGeom prst="rect">
            <a:avLst/>
          </a:prstGeom>
          <a:noFill/>
        </p:spPr>
        <p:txBody>
          <a:bodyPr wrap="square" lIns="0" rIns="0" tIns="0" bIns="0" anchor="t">
            <a:spAutoFit/>
          </a:bodyPr>
          <a:lstStyle/>
          <a:p>
            <a:pPr algn="r">
              <a:lnSpc>
                <a:spcPct val="115000"/>
              </a:lnSpc>
            </a:pPr>
            <a:r>
              <a:rPr sz="850" b="1" i="0">
                <a:solidFill>
                  <a:srgbClr val="5F6C7B"/>
                </a:solidFill>
                <a:latin typeface="Arial"/>
              </a:rPr>
              <a:t>Maria - 1:05</a:t>
            </a:r>
          </a:p>
        </p:txBody>
      </p:sp>
      <p:sp>
        <p:nvSpPr>
          <p:cNvPr id="8" name="TextBox 7"/>
          <p:cNvSpPr txBox="1"/>
          <p:nvPr/>
        </p:nvSpPr>
        <p:spPr>
          <a:xfrm>
            <a:off x="685800" y="1920240"/>
            <a:ext cx="1463040" cy="320040"/>
          </a:xfrm>
          <a:prstGeom prst="rect">
            <a:avLst/>
          </a:prstGeom>
          <a:noFill/>
        </p:spPr>
        <p:txBody>
          <a:bodyPr wrap="square" lIns="0" rIns="0" tIns="0" bIns="0" anchor="t">
            <a:spAutoFit/>
          </a:bodyPr>
          <a:lstStyle/>
          <a:p>
            <a:pPr algn="l">
              <a:lnSpc>
                <a:spcPct val="115000"/>
              </a:lnSpc>
            </a:pPr>
            <a:r>
              <a:rPr sz="2100" b="1" i="0">
                <a:solidFill>
                  <a:srgbClr val="0B4F4A"/>
                </a:solidFill>
                <a:latin typeface="Arial"/>
              </a:rPr>
              <a:t>NIST</a:t>
            </a:r>
          </a:p>
        </p:txBody>
      </p:sp>
      <p:sp>
        <p:nvSpPr>
          <p:cNvPr id="9" name="TextBox 8"/>
          <p:cNvSpPr txBox="1"/>
          <p:nvPr/>
        </p:nvSpPr>
        <p:spPr>
          <a:xfrm>
            <a:off x="2514600" y="1920240"/>
            <a:ext cx="2194560" cy="320040"/>
          </a:xfrm>
          <a:prstGeom prst="rect">
            <a:avLst/>
          </a:prstGeom>
          <a:noFill/>
        </p:spPr>
        <p:txBody>
          <a:bodyPr wrap="square" lIns="0" rIns="0" tIns="0" bIns="0" anchor="t">
            <a:spAutoFit/>
          </a:bodyPr>
          <a:lstStyle/>
          <a:p>
            <a:pPr algn="l">
              <a:lnSpc>
                <a:spcPct val="115000"/>
              </a:lnSpc>
            </a:pPr>
            <a:r>
              <a:rPr sz="2100" b="1" i="0">
                <a:solidFill>
                  <a:srgbClr val="102033"/>
                </a:solidFill>
                <a:latin typeface="Consolas"/>
              </a:rPr>
              <a:t>15/15 passed</a:t>
            </a:r>
          </a:p>
        </p:txBody>
      </p:sp>
      <p:sp>
        <p:nvSpPr>
          <p:cNvPr id="10" name="TextBox 9"/>
          <p:cNvSpPr txBox="1"/>
          <p:nvPr/>
        </p:nvSpPr>
        <p:spPr>
          <a:xfrm>
            <a:off x="5120640" y="1947672"/>
            <a:ext cx="3657600" cy="256032"/>
          </a:xfrm>
          <a:prstGeom prst="rect">
            <a:avLst/>
          </a:prstGeom>
          <a:noFill/>
        </p:spPr>
        <p:txBody>
          <a:bodyPr wrap="square" lIns="0" rIns="0" tIns="0" bIns="0" anchor="t">
            <a:spAutoFit/>
          </a:bodyPr>
          <a:lstStyle/>
          <a:p>
            <a:pPr algn="l">
              <a:lnSpc>
                <a:spcPct val="115000"/>
              </a:lnSpc>
            </a:pPr>
            <a:r>
              <a:rPr sz="1600" b="0" i="0">
                <a:solidFill>
                  <a:srgbClr val="5F6C7B"/>
                </a:solidFill>
                <a:latin typeface="Arial"/>
              </a:rPr>
              <a:t>randomness</a:t>
            </a:r>
          </a:p>
        </p:txBody>
      </p:sp>
      <p:cxnSp>
        <p:nvCxnSpPr>
          <p:cNvPr id="11" name="Connector 10"/>
          <p:cNvCxnSpPr/>
          <p:nvPr/>
        </p:nvCxnSpPr>
        <p:spPr>
          <a:xfrm>
            <a:off x="685800" y="2395728"/>
            <a:ext cx="10820095" cy="0"/>
          </a:xfrm>
          <a:prstGeom prst="line">
            <a:avLst/>
          </a:prstGeom>
          <a:ln w="10160">
            <a:solidFill>
              <a:srgbClr val="D8E1EA"/>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670048"/>
            <a:ext cx="1463040" cy="320040"/>
          </a:xfrm>
          <a:prstGeom prst="rect">
            <a:avLst/>
          </a:prstGeom>
          <a:noFill/>
        </p:spPr>
        <p:txBody>
          <a:bodyPr wrap="square" lIns="0" rIns="0" tIns="0" bIns="0" anchor="t">
            <a:spAutoFit/>
          </a:bodyPr>
          <a:lstStyle/>
          <a:p>
            <a:pPr algn="l">
              <a:lnSpc>
                <a:spcPct val="115000"/>
              </a:lnSpc>
            </a:pPr>
            <a:r>
              <a:rPr sz="2100" b="1" i="0">
                <a:solidFill>
                  <a:srgbClr val="0B4F4A"/>
                </a:solidFill>
                <a:latin typeface="Arial"/>
              </a:rPr>
              <a:t>NPCR</a:t>
            </a:r>
          </a:p>
        </p:txBody>
      </p:sp>
      <p:sp>
        <p:nvSpPr>
          <p:cNvPr id="13" name="TextBox 12"/>
          <p:cNvSpPr txBox="1"/>
          <p:nvPr/>
        </p:nvSpPr>
        <p:spPr>
          <a:xfrm>
            <a:off x="2514600" y="2670048"/>
            <a:ext cx="2194560" cy="320040"/>
          </a:xfrm>
          <a:prstGeom prst="rect">
            <a:avLst/>
          </a:prstGeom>
          <a:noFill/>
        </p:spPr>
        <p:txBody>
          <a:bodyPr wrap="square" lIns="0" rIns="0" tIns="0" bIns="0" anchor="t">
            <a:spAutoFit/>
          </a:bodyPr>
          <a:lstStyle/>
          <a:p>
            <a:pPr algn="l">
              <a:lnSpc>
                <a:spcPct val="115000"/>
              </a:lnSpc>
            </a:pPr>
            <a:r>
              <a:rPr sz="2100" b="1" i="0">
                <a:solidFill>
                  <a:srgbClr val="102033"/>
                </a:solidFill>
                <a:latin typeface="Consolas"/>
              </a:rPr>
              <a:t>99.6533%</a:t>
            </a:r>
          </a:p>
        </p:txBody>
      </p:sp>
      <p:sp>
        <p:nvSpPr>
          <p:cNvPr id="14" name="TextBox 13"/>
          <p:cNvSpPr txBox="1"/>
          <p:nvPr/>
        </p:nvSpPr>
        <p:spPr>
          <a:xfrm>
            <a:off x="5120640" y="2697479"/>
            <a:ext cx="3657600" cy="256032"/>
          </a:xfrm>
          <a:prstGeom prst="rect">
            <a:avLst/>
          </a:prstGeom>
          <a:noFill/>
        </p:spPr>
        <p:txBody>
          <a:bodyPr wrap="square" lIns="0" rIns="0" tIns="0" bIns="0" anchor="t">
            <a:spAutoFit/>
          </a:bodyPr>
          <a:lstStyle/>
          <a:p>
            <a:pPr algn="l">
              <a:lnSpc>
                <a:spcPct val="115000"/>
              </a:lnSpc>
            </a:pPr>
            <a:r>
              <a:rPr sz="1600" b="0" i="0">
                <a:solidFill>
                  <a:srgbClr val="5F6C7B"/>
                </a:solidFill>
                <a:latin typeface="Arial"/>
              </a:rPr>
              <a:t>pixel changes</a:t>
            </a:r>
          </a:p>
        </p:txBody>
      </p:sp>
      <p:cxnSp>
        <p:nvCxnSpPr>
          <p:cNvPr id="15" name="Connector 14"/>
          <p:cNvCxnSpPr/>
          <p:nvPr/>
        </p:nvCxnSpPr>
        <p:spPr>
          <a:xfrm>
            <a:off x="685800" y="3145536"/>
            <a:ext cx="10820095" cy="0"/>
          </a:xfrm>
          <a:prstGeom prst="line">
            <a:avLst/>
          </a:prstGeom>
          <a:ln w="10160">
            <a:solidFill>
              <a:srgbClr val="D8E1EA"/>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419856"/>
            <a:ext cx="1463040" cy="320040"/>
          </a:xfrm>
          <a:prstGeom prst="rect">
            <a:avLst/>
          </a:prstGeom>
          <a:noFill/>
        </p:spPr>
        <p:txBody>
          <a:bodyPr wrap="square" lIns="0" rIns="0" tIns="0" bIns="0" anchor="t">
            <a:spAutoFit/>
          </a:bodyPr>
          <a:lstStyle/>
          <a:p>
            <a:pPr algn="l">
              <a:lnSpc>
                <a:spcPct val="115000"/>
              </a:lnSpc>
            </a:pPr>
            <a:r>
              <a:rPr sz="2100" b="1" i="0">
                <a:solidFill>
                  <a:srgbClr val="0B4F4A"/>
                </a:solidFill>
                <a:latin typeface="Arial"/>
              </a:rPr>
              <a:t>UACI</a:t>
            </a:r>
          </a:p>
        </p:txBody>
      </p:sp>
      <p:sp>
        <p:nvSpPr>
          <p:cNvPr id="17" name="TextBox 16"/>
          <p:cNvSpPr txBox="1"/>
          <p:nvPr/>
        </p:nvSpPr>
        <p:spPr>
          <a:xfrm>
            <a:off x="2514600" y="3419856"/>
            <a:ext cx="2194560" cy="320040"/>
          </a:xfrm>
          <a:prstGeom prst="rect">
            <a:avLst/>
          </a:prstGeom>
          <a:noFill/>
        </p:spPr>
        <p:txBody>
          <a:bodyPr wrap="square" lIns="0" rIns="0" tIns="0" bIns="0" anchor="t">
            <a:spAutoFit/>
          </a:bodyPr>
          <a:lstStyle/>
          <a:p>
            <a:pPr algn="l">
              <a:lnSpc>
                <a:spcPct val="115000"/>
              </a:lnSpc>
            </a:pPr>
            <a:r>
              <a:rPr sz="2100" b="1" i="0">
                <a:solidFill>
                  <a:srgbClr val="102033"/>
                </a:solidFill>
                <a:latin typeface="Consolas"/>
              </a:rPr>
              <a:t>33.4887%</a:t>
            </a:r>
          </a:p>
        </p:txBody>
      </p:sp>
      <p:sp>
        <p:nvSpPr>
          <p:cNvPr id="18" name="TextBox 17"/>
          <p:cNvSpPr txBox="1"/>
          <p:nvPr/>
        </p:nvSpPr>
        <p:spPr>
          <a:xfrm>
            <a:off x="5120640" y="3447288"/>
            <a:ext cx="3657600" cy="256032"/>
          </a:xfrm>
          <a:prstGeom prst="rect">
            <a:avLst/>
          </a:prstGeom>
          <a:noFill/>
        </p:spPr>
        <p:txBody>
          <a:bodyPr wrap="square" lIns="0" rIns="0" tIns="0" bIns="0" anchor="t">
            <a:spAutoFit/>
          </a:bodyPr>
          <a:lstStyle/>
          <a:p>
            <a:pPr algn="l">
              <a:lnSpc>
                <a:spcPct val="115000"/>
              </a:lnSpc>
            </a:pPr>
            <a:r>
              <a:rPr sz="1600" b="0" i="0">
                <a:solidFill>
                  <a:srgbClr val="5F6C7B"/>
                </a:solidFill>
                <a:latin typeface="Arial"/>
              </a:rPr>
              <a:t>intensity changes</a:t>
            </a:r>
          </a:p>
        </p:txBody>
      </p:sp>
      <p:cxnSp>
        <p:nvCxnSpPr>
          <p:cNvPr id="19" name="Connector 18"/>
          <p:cNvCxnSpPr/>
          <p:nvPr/>
        </p:nvCxnSpPr>
        <p:spPr>
          <a:xfrm>
            <a:off x="685800" y="3895344"/>
            <a:ext cx="10820095" cy="0"/>
          </a:xfrm>
          <a:prstGeom prst="line">
            <a:avLst/>
          </a:prstGeom>
          <a:ln w="10160">
            <a:solidFill>
              <a:srgbClr val="D8E1EA"/>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5800" y="4169664"/>
            <a:ext cx="1463040" cy="320040"/>
          </a:xfrm>
          <a:prstGeom prst="rect">
            <a:avLst/>
          </a:prstGeom>
          <a:noFill/>
        </p:spPr>
        <p:txBody>
          <a:bodyPr wrap="square" lIns="0" rIns="0" tIns="0" bIns="0" anchor="t">
            <a:spAutoFit/>
          </a:bodyPr>
          <a:lstStyle/>
          <a:p>
            <a:pPr algn="l">
              <a:lnSpc>
                <a:spcPct val="115000"/>
              </a:lnSpc>
            </a:pPr>
            <a:r>
              <a:rPr sz="2100" b="1" i="0">
                <a:solidFill>
                  <a:srgbClr val="0B4F4A"/>
                </a:solidFill>
                <a:latin typeface="Arial"/>
              </a:rPr>
              <a:t>Entropy</a:t>
            </a:r>
          </a:p>
        </p:txBody>
      </p:sp>
      <p:sp>
        <p:nvSpPr>
          <p:cNvPr id="21" name="TextBox 20"/>
          <p:cNvSpPr txBox="1"/>
          <p:nvPr/>
        </p:nvSpPr>
        <p:spPr>
          <a:xfrm>
            <a:off x="2514600" y="4169664"/>
            <a:ext cx="2194560" cy="320040"/>
          </a:xfrm>
          <a:prstGeom prst="rect">
            <a:avLst/>
          </a:prstGeom>
          <a:noFill/>
        </p:spPr>
        <p:txBody>
          <a:bodyPr wrap="square" lIns="0" rIns="0" tIns="0" bIns="0" anchor="t">
            <a:spAutoFit/>
          </a:bodyPr>
          <a:lstStyle/>
          <a:p>
            <a:pPr algn="l">
              <a:lnSpc>
                <a:spcPct val="115000"/>
              </a:lnSpc>
            </a:pPr>
            <a:r>
              <a:rPr sz="2100" b="1" i="0">
                <a:solidFill>
                  <a:srgbClr val="102033"/>
                </a:solidFill>
                <a:latin typeface="Consolas"/>
              </a:rPr>
              <a:t>7.9994/8</a:t>
            </a:r>
          </a:p>
        </p:txBody>
      </p:sp>
      <p:sp>
        <p:nvSpPr>
          <p:cNvPr id="22" name="TextBox 21"/>
          <p:cNvSpPr txBox="1"/>
          <p:nvPr/>
        </p:nvSpPr>
        <p:spPr>
          <a:xfrm>
            <a:off x="5120640" y="4197096"/>
            <a:ext cx="3657600" cy="256032"/>
          </a:xfrm>
          <a:prstGeom prst="rect">
            <a:avLst/>
          </a:prstGeom>
          <a:noFill/>
        </p:spPr>
        <p:txBody>
          <a:bodyPr wrap="square" lIns="0" rIns="0" tIns="0" bIns="0" anchor="t">
            <a:spAutoFit/>
          </a:bodyPr>
          <a:lstStyle/>
          <a:p>
            <a:pPr algn="l">
              <a:lnSpc>
                <a:spcPct val="115000"/>
              </a:lnSpc>
            </a:pPr>
            <a:r>
              <a:rPr sz="1600" b="0" i="0">
                <a:solidFill>
                  <a:srgbClr val="5F6C7B"/>
                </a:solidFill>
                <a:latin typeface="Arial"/>
              </a:rPr>
              <a:t>uniform histogram</a:t>
            </a:r>
          </a:p>
        </p:txBody>
      </p:sp>
      <p:cxnSp>
        <p:nvCxnSpPr>
          <p:cNvPr id="23" name="Connector 22"/>
          <p:cNvCxnSpPr/>
          <p:nvPr/>
        </p:nvCxnSpPr>
        <p:spPr>
          <a:xfrm>
            <a:off x="685800" y="4645152"/>
            <a:ext cx="10820095" cy="0"/>
          </a:xfrm>
          <a:prstGeom prst="line">
            <a:avLst/>
          </a:prstGeom>
          <a:ln w="10160">
            <a:solidFill>
              <a:srgbClr val="D8E1EA"/>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685800" y="5257800"/>
            <a:ext cx="10820095" cy="502920"/>
          </a:xfrm>
          <a:prstGeom prst="rect">
            <a:avLst/>
          </a:prstGeom>
          <a:solidFill>
            <a:srgbClr val="EAF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394960"/>
            <a:ext cx="10362895" cy="201168"/>
          </a:xfrm>
          <a:prstGeom prst="rect">
            <a:avLst/>
          </a:prstGeom>
          <a:noFill/>
        </p:spPr>
        <p:txBody>
          <a:bodyPr wrap="square" lIns="0" rIns="0" tIns="0" bIns="0" anchor="t">
            <a:spAutoFit/>
          </a:bodyPr>
          <a:lstStyle/>
          <a:p>
            <a:pPr algn="l">
              <a:lnSpc>
                <a:spcPct val="115000"/>
              </a:lnSpc>
            </a:pPr>
            <a:r>
              <a:rPr sz="1500" b="1" i="0">
                <a:solidFill>
                  <a:srgbClr val="0B4F4A"/>
                </a:solidFill>
                <a:latin typeface="Arial"/>
              </a:rPr>
              <a:t>Say this carefully: statistical tests are not a formal proof.</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AFC"/>
        </a:solidFill>
        <a:effectLst/>
      </p:bgPr>
    </p:bg>
    <p:spTree>
      <p:nvGrpSpPr>
        <p:cNvPr id="1" name=""/>
        <p:cNvGrpSpPr/>
        <p:nvPr/>
      </p:nvGrpSpPr>
      <p:grpSpPr/>
      <p:sp>
        <p:nvSpPr>
          <p:cNvPr id="2" name="TextBox 1"/>
          <p:cNvSpPr txBox="1"/>
          <p:nvPr/>
        </p:nvSpPr>
        <p:spPr>
          <a:xfrm>
            <a:off x="685800" y="411480"/>
            <a:ext cx="4114800" cy="228600"/>
          </a:xfrm>
          <a:prstGeom prst="rect">
            <a:avLst/>
          </a:prstGeom>
          <a:noFill/>
        </p:spPr>
        <p:txBody>
          <a:bodyPr wrap="square" lIns="0" rIns="0" tIns="0" bIns="0" anchor="t">
            <a:spAutoFit/>
          </a:bodyPr>
          <a:lstStyle/>
          <a:p>
            <a:pPr algn="l">
              <a:lnSpc>
                <a:spcPct val="115000"/>
              </a:lnSpc>
            </a:pPr>
            <a:r>
              <a:rPr sz="900" b="1" i="0">
                <a:solidFill>
                  <a:srgbClr val="5F6C7B"/>
                </a:solidFill>
                <a:latin typeface="Arial"/>
              </a:rPr>
              <a:t>CLOSE</a:t>
            </a:r>
          </a:p>
        </p:txBody>
      </p:sp>
      <p:sp>
        <p:nvSpPr>
          <p:cNvPr id="3" name="TextBox 2"/>
          <p:cNvSpPr txBox="1"/>
          <p:nvPr/>
        </p:nvSpPr>
        <p:spPr>
          <a:xfrm>
            <a:off x="10317175" y="411480"/>
            <a:ext cx="1188720" cy="228600"/>
          </a:xfrm>
          <a:prstGeom prst="rect">
            <a:avLst/>
          </a:prstGeom>
          <a:noFill/>
        </p:spPr>
        <p:txBody>
          <a:bodyPr wrap="square" lIns="0" rIns="0" tIns="0" bIns="0" anchor="t">
            <a:spAutoFit/>
          </a:bodyPr>
          <a:lstStyle/>
          <a:p>
            <a:pPr algn="r">
              <a:lnSpc>
                <a:spcPct val="115000"/>
              </a:lnSpc>
            </a:pPr>
            <a:r>
              <a:rPr sz="1000" b="1" i="0">
                <a:solidFill>
                  <a:srgbClr val="5F6C7B"/>
                </a:solidFill>
                <a:latin typeface="Arial"/>
              </a:rPr>
              <a:t>10/10</a:t>
            </a:r>
          </a:p>
        </p:txBody>
      </p:sp>
      <p:sp>
        <p:nvSpPr>
          <p:cNvPr id="4" name="TextBox 3"/>
          <p:cNvSpPr txBox="1"/>
          <p:nvPr/>
        </p:nvSpPr>
        <p:spPr>
          <a:xfrm>
            <a:off x="685800" y="749808"/>
            <a:ext cx="10820095" cy="594360"/>
          </a:xfrm>
          <a:prstGeom prst="rect">
            <a:avLst/>
          </a:prstGeom>
          <a:noFill/>
        </p:spPr>
        <p:txBody>
          <a:bodyPr wrap="square" lIns="0" rIns="0" tIns="0" bIns="0" anchor="t">
            <a:spAutoFit/>
          </a:bodyPr>
          <a:lstStyle/>
          <a:p>
            <a:pPr algn="l">
              <a:lnSpc>
                <a:spcPct val="115000"/>
              </a:lnSpc>
            </a:pPr>
            <a:r>
              <a:rPr sz="3100" b="1" i="0">
                <a:solidFill>
                  <a:srgbClr val="102033"/>
                </a:solidFill>
                <a:latin typeface="Arial"/>
              </a:rPr>
              <a:t>Strong result, one real limitation.</a:t>
            </a:r>
          </a:p>
        </p:txBody>
      </p:sp>
      <p:cxnSp>
        <p:nvCxnSpPr>
          <p:cNvPr id="5" name="Connector 4"/>
          <p:cNvCxnSpPr/>
          <p:nvPr/>
        </p:nvCxnSpPr>
        <p:spPr>
          <a:xfrm>
            <a:off x="685800" y="1444752"/>
            <a:ext cx="10820095" cy="0"/>
          </a:xfrm>
          <a:prstGeom prst="line">
            <a:avLst/>
          </a:prstGeom>
          <a:ln w="12700">
            <a:solidFill>
              <a:srgbClr val="D8E1E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82512"/>
            <a:ext cx="6583680" cy="182880"/>
          </a:xfrm>
          <a:prstGeom prst="rect">
            <a:avLst/>
          </a:prstGeom>
          <a:noFill/>
        </p:spPr>
        <p:txBody>
          <a:bodyPr wrap="square" lIns="0" rIns="0" tIns="0" bIns="0" anchor="t">
            <a:spAutoFit/>
          </a:bodyPr>
          <a:lstStyle/>
          <a:p>
            <a:pPr algn="l">
              <a:lnSpc>
                <a:spcPct val="115000"/>
              </a:lnSpc>
            </a:pPr>
            <a:r>
              <a:rPr sz="850" b="0" i="0">
                <a:solidFill>
                  <a:srgbClr val="5F6C7B"/>
                </a:solidFill>
                <a:latin typeface="Arial"/>
              </a:rPr>
              <a:t>CMP4221 - DWT Encryption - Xu et al. ACM TOMM 2026</a:t>
            </a:r>
          </a:p>
        </p:txBody>
      </p:sp>
      <p:sp>
        <p:nvSpPr>
          <p:cNvPr id="7" name="TextBox 6"/>
          <p:cNvSpPr txBox="1"/>
          <p:nvPr/>
        </p:nvSpPr>
        <p:spPr>
          <a:xfrm>
            <a:off x="8945575" y="6382512"/>
            <a:ext cx="2560320" cy="182880"/>
          </a:xfrm>
          <a:prstGeom prst="rect">
            <a:avLst/>
          </a:prstGeom>
          <a:noFill/>
        </p:spPr>
        <p:txBody>
          <a:bodyPr wrap="square" lIns="0" rIns="0" tIns="0" bIns="0" anchor="t">
            <a:spAutoFit/>
          </a:bodyPr>
          <a:lstStyle/>
          <a:p>
            <a:pPr algn="r">
              <a:lnSpc>
                <a:spcPct val="115000"/>
              </a:lnSpc>
            </a:pPr>
            <a:r>
              <a:rPr sz="850" b="1" i="0">
                <a:solidFill>
                  <a:srgbClr val="5F6C7B"/>
                </a:solidFill>
                <a:latin typeface="Arial"/>
              </a:rPr>
              <a:t>Maria - 0:55</a:t>
            </a:r>
          </a:p>
        </p:txBody>
      </p:sp>
      <p:sp>
        <p:nvSpPr>
          <p:cNvPr id="8" name="TextBox 7"/>
          <p:cNvSpPr txBox="1"/>
          <p:nvPr/>
        </p:nvSpPr>
        <p:spPr>
          <a:xfrm>
            <a:off x="685800" y="1737360"/>
            <a:ext cx="3378098" cy="548640"/>
          </a:xfrm>
          <a:prstGeom prst="rect">
            <a:avLst/>
          </a:prstGeom>
          <a:noFill/>
        </p:spPr>
        <p:txBody>
          <a:bodyPr wrap="square" lIns="0" rIns="0" tIns="0" bIns="0" anchor="t">
            <a:spAutoFit/>
          </a:bodyPr>
          <a:lstStyle/>
          <a:p>
            <a:pPr algn="ctr">
              <a:lnSpc>
                <a:spcPct val="115000"/>
              </a:lnSpc>
            </a:pPr>
            <a:r>
              <a:rPr sz="4200" b="1" i="0">
                <a:solidFill>
                  <a:srgbClr val="102033"/>
                </a:solidFill>
                <a:latin typeface="Consolas"/>
              </a:rPr>
              <a:t>32 dB</a:t>
            </a:r>
          </a:p>
        </p:txBody>
      </p:sp>
      <p:sp>
        <p:nvSpPr>
          <p:cNvPr id="9" name="TextBox 8"/>
          <p:cNvSpPr txBox="1"/>
          <p:nvPr/>
        </p:nvSpPr>
        <p:spPr>
          <a:xfrm>
            <a:off x="685800" y="2404872"/>
            <a:ext cx="3378098" cy="228600"/>
          </a:xfrm>
          <a:prstGeom prst="rect">
            <a:avLst/>
          </a:prstGeom>
          <a:noFill/>
        </p:spPr>
        <p:txBody>
          <a:bodyPr wrap="square" lIns="0" rIns="0" tIns="0" bIns="0" anchor="t">
            <a:spAutoFit/>
          </a:bodyPr>
          <a:lstStyle/>
          <a:p>
            <a:pPr algn="ctr">
              <a:lnSpc>
                <a:spcPct val="115000"/>
              </a:lnSpc>
            </a:pPr>
            <a:r>
              <a:rPr sz="1200" b="1" i="0">
                <a:solidFill>
                  <a:srgbClr val="0B4F4A"/>
                </a:solidFill>
                <a:latin typeface="Arial"/>
              </a:rPr>
              <a:t>PSNR</a:t>
            </a:r>
          </a:p>
        </p:txBody>
      </p:sp>
      <p:sp>
        <p:nvSpPr>
          <p:cNvPr id="10" name="TextBox 9"/>
          <p:cNvSpPr txBox="1"/>
          <p:nvPr/>
        </p:nvSpPr>
        <p:spPr>
          <a:xfrm>
            <a:off x="4292498" y="1737360"/>
            <a:ext cx="3378098" cy="548640"/>
          </a:xfrm>
          <a:prstGeom prst="rect">
            <a:avLst/>
          </a:prstGeom>
          <a:noFill/>
        </p:spPr>
        <p:txBody>
          <a:bodyPr wrap="square" lIns="0" rIns="0" tIns="0" bIns="0" anchor="t">
            <a:spAutoFit/>
          </a:bodyPr>
          <a:lstStyle/>
          <a:p>
            <a:pPr algn="ctr">
              <a:lnSpc>
                <a:spcPct val="115000"/>
              </a:lnSpc>
            </a:pPr>
            <a:r>
              <a:rPr sz="4200" b="1" i="0">
                <a:solidFill>
                  <a:srgbClr val="102033"/>
                </a:solidFill>
                <a:latin typeface="Consolas"/>
              </a:rPr>
              <a:t>7.9994</a:t>
            </a:r>
          </a:p>
        </p:txBody>
      </p:sp>
      <p:sp>
        <p:nvSpPr>
          <p:cNvPr id="11" name="TextBox 10"/>
          <p:cNvSpPr txBox="1"/>
          <p:nvPr/>
        </p:nvSpPr>
        <p:spPr>
          <a:xfrm>
            <a:off x="4292498" y="2404872"/>
            <a:ext cx="3378098" cy="228600"/>
          </a:xfrm>
          <a:prstGeom prst="rect">
            <a:avLst/>
          </a:prstGeom>
          <a:noFill/>
        </p:spPr>
        <p:txBody>
          <a:bodyPr wrap="square" lIns="0" rIns="0" tIns="0" bIns="0" anchor="t">
            <a:spAutoFit/>
          </a:bodyPr>
          <a:lstStyle/>
          <a:p>
            <a:pPr algn="ctr">
              <a:lnSpc>
                <a:spcPct val="115000"/>
              </a:lnSpc>
            </a:pPr>
            <a:r>
              <a:rPr sz="1200" b="1" i="0">
                <a:solidFill>
                  <a:srgbClr val="0B4F4A"/>
                </a:solidFill>
                <a:latin typeface="Arial"/>
              </a:rPr>
              <a:t>entropy</a:t>
            </a:r>
          </a:p>
        </p:txBody>
      </p:sp>
      <p:sp>
        <p:nvSpPr>
          <p:cNvPr id="12" name="TextBox 11"/>
          <p:cNvSpPr txBox="1"/>
          <p:nvPr/>
        </p:nvSpPr>
        <p:spPr>
          <a:xfrm>
            <a:off x="7899196" y="1737360"/>
            <a:ext cx="3378098" cy="548640"/>
          </a:xfrm>
          <a:prstGeom prst="rect">
            <a:avLst/>
          </a:prstGeom>
          <a:noFill/>
        </p:spPr>
        <p:txBody>
          <a:bodyPr wrap="square" lIns="0" rIns="0" tIns="0" bIns="0" anchor="t">
            <a:spAutoFit/>
          </a:bodyPr>
          <a:lstStyle/>
          <a:p>
            <a:pPr algn="ctr">
              <a:lnSpc>
                <a:spcPct val="115000"/>
              </a:lnSpc>
            </a:pPr>
            <a:r>
              <a:rPr sz="4200" b="1" i="0">
                <a:solidFill>
                  <a:srgbClr val="102033"/>
                </a:solidFill>
                <a:latin typeface="Consolas"/>
              </a:rPr>
              <a:t>99.65%</a:t>
            </a:r>
          </a:p>
        </p:txBody>
      </p:sp>
      <p:sp>
        <p:nvSpPr>
          <p:cNvPr id="13" name="TextBox 12"/>
          <p:cNvSpPr txBox="1"/>
          <p:nvPr/>
        </p:nvSpPr>
        <p:spPr>
          <a:xfrm>
            <a:off x="7899196" y="2404872"/>
            <a:ext cx="3378098" cy="228600"/>
          </a:xfrm>
          <a:prstGeom prst="rect">
            <a:avLst/>
          </a:prstGeom>
          <a:noFill/>
        </p:spPr>
        <p:txBody>
          <a:bodyPr wrap="square" lIns="0" rIns="0" tIns="0" bIns="0" anchor="t">
            <a:spAutoFit/>
          </a:bodyPr>
          <a:lstStyle/>
          <a:p>
            <a:pPr algn="ctr">
              <a:lnSpc>
                <a:spcPct val="115000"/>
              </a:lnSpc>
            </a:pPr>
            <a:r>
              <a:rPr sz="1200" b="1" i="0">
                <a:solidFill>
                  <a:srgbClr val="0B4F4A"/>
                </a:solidFill>
                <a:latin typeface="Arial"/>
              </a:rPr>
              <a:t>NPCR</a:t>
            </a:r>
          </a:p>
        </p:txBody>
      </p:sp>
      <p:cxnSp>
        <p:nvCxnSpPr>
          <p:cNvPr id="14" name="Connector 13"/>
          <p:cNvCxnSpPr/>
          <p:nvPr/>
        </p:nvCxnSpPr>
        <p:spPr>
          <a:xfrm>
            <a:off x="685800" y="3017520"/>
            <a:ext cx="10820095" cy="0"/>
          </a:xfrm>
          <a:prstGeom prst="line">
            <a:avLst/>
          </a:prstGeom>
          <a:ln w="12700">
            <a:solidFill>
              <a:srgbClr val="D8E1EA"/>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383280"/>
            <a:ext cx="4937760" cy="329184"/>
          </a:xfrm>
          <a:prstGeom prst="rect">
            <a:avLst/>
          </a:prstGeom>
          <a:noFill/>
        </p:spPr>
        <p:txBody>
          <a:bodyPr wrap="square" lIns="0" rIns="0" tIns="0" bIns="0" anchor="t">
            <a:spAutoFit/>
          </a:bodyPr>
          <a:lstStyle/>
          <a:p>
            <a:pPr algn="l">
              <a:lnSpc>
                <a:spcPct val="115000"/>
              </a:lnSpc>
            </a:pPr>
            <a:r>
              <a:rPr sz="2000" b="1" i="0">
                <a:solidFill>
                  <a:srgbClr val="D97706"/>
                </a:solidFill>
                <a:latin typeface="Arial"/>
              </a:rPr>
              <a:t>Limitation</a:t>
            </a:r>
          </a:p>
        </p:txBody>
      </p:sp>
      <p:sp>
        <p:nvSpPr>
          <p:cNvPr id="16" name="Rectangle 15"/>
          <p:cNvSpPr/>
          <p:nvPr/>
        </p:nvSpPr>
        <p:spPr>
          <a:xfrm>
            <a:off x="685800" y="3950208"/>
            <a:ext cx="109728" cy="109728"/>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41832" y="3840480"/>
            <a:ext cx="4681728" cy="310896"/>
          </a:xfrm>
          <a:prstGeom prst="rect">
            <a:avLst/>
          </a:prstGeom>
          <a:noFill/>
        </p:spPr>
        <p:txBody>
          <a:bodyPr wrap="square" lIns="0" rIns="0" tIns="0" bIns="0" anchor="t">
            <a:spAutoFit/>
          </a:bodyPr>
          <a:lstStyle/>
          <a:p>
            <a:pPr algn="l">
              <a:lnSpc>
                <a:spcPct val="115000"/>
              </a:lnSpc>
            </a:pPr>
            <a:r>
              <a:rPr sz="1900" b="0" i="0">
                <a:solidFill>
                  <a:srgbClr val="102033"/>
                </a:solidFill>
                <a:latin typeface="Arial"/>
              </a:rPr>
              <a:t>Zero-padding wastes cube space</a:t>
            </a:r>
          </a:p>
        </p:txBody>
      </p:sp>
      <p:sp>
        <p:nvSpPr>
          <p:cNvPr id="18" name="Rectangle 17"/>
          <p:cNvSpPr/>
          <p:nvPr/>
        </p:nvSpPr>
        <p:spPr>
          <a:xfrm>
            <a:off x="685800" y="4370832"/>
            <a:ext cx="109728" cy="109728"/>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4261104"/>
            <a:ext cx="4681728" cy="310896"/>
          </a:xfrm>
          <a:prstGeom prst="rect">
            <a:avLst/>
          </a:prstGeom>
          <a:noFill/>
        </p:spPr>
        <p:txBody>
          <a:bodyPr wrap="square" lIns="0" rIns="0" tIns="0" bIns="0" anchor="t">
            <a:spAutoFit/>
          </a:bodyPr>
          <a:lstStyle/>
          <a:p>
            <a:pPr algn="l">
              <a:lnSpc>
                <a:spcPct val="115000"/>
              </a:lnSpc>
            </a:pPr>
            <a:r>
              <a:rPr sz="1900" b="0" i="0">
                <a:solidFill>
                  <a:srgbClr val="102033"/>
                </a:solidFill>
                <a:latin typeface="Arial"/>
              </a:rPr>
              <a:t>Worst for mixed sizes</a:t>
            </a:r>
          </a:p>
        </p:txBody>
      </p:sp>
      <p:sp>
        <p:nvSpPr>
          <p:cNvPr id="20" name="TextBox 19"/>
          <p:cNvSpPr txBox="1"/>
          <p:nvPr/>
        </p:nvSpPr>
        <p:spPr>
          <a:xfrm>
            <a:off x="6400800" y="3383280"/>
            <a:ext cx="4754880" cy="329184"/>
          </a:xfrm>
          <a:prstGeom prst="rect">
            <a:avLst/>
          </a:prstGeom>
          <a:noFill/>
        </p:spPr>
        <p:txBody>
          <a:bodyPr wrap="square" lIns="0" rIns="0" tIns="0" bIns="0" anchor="t">
            <a:spAutoFit/>
          </a:bodyPr>
          <a:lstStyle/>
          <a:p>
            <a:pPr algn="l">
              <a:lnSpc>
                <a:spcPct val="115000"/>
              </a:lnSpc>
            </a:pPr>
            <a:r>
              <a:rPr sz="2000" b="1" i="0">
                <a:solidFill>
                  <a:srgbClr val="0B4F4A"/>
                </a:solidFill>
                <a:latin typeface="Arial"/>
              </a:rPr>
              <a:t>Take-home</a:t>
            </a:r>
          </a:p>
        </p:txBody>
      </p:sp>
      <p:sp>
        <p:nvSpPr>
          <p:cNvPr id="21" name="Rectangle 20"/>
          <p:cNvSpPr/>
          <p:nvPr/>
        </p:nvSpPr>
        <p:spPr>
          <a:xfrm>
            <a:off x="6400800" y="3950208"/>
            <a:ext cx="109728" cy="109728"/>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56832" y="3840480"/>
            <a:ext cx="4498848" cy="310896"/>
          </a:xfrm>
          <a:prstGeom prst="rect">
            <a:avLst/>
          </a:prstGeom>
          <a:noFill/>
        </p:spPr>
        <p:txBody>
          <a:bodyPr wrap="square" lIns="0" rIns="0" tIns="0" bIns="0" anchor="t">
            <a:spAutoFit/>
          </a:bodyPr>
          <a:lstStyle/>
          <a:p>
            <a:pPr algn="l">
              <a:lnSpc>
                <a:spcPct val="115000"/>
              </a:lnSpc>
            </a:pPr>
            <a:r>
              <a:rPr sz="1900" b="0" i="0">
                <a:solidFill>
                  <a:srgbClr val="102033"/>
                </a:solidFill>
                <a:latin typeface="Arial"/>
              </a:rPr>
              <a:t>DWT handles size</a:t>
            </a:r>
          </a:p>
        </p:txBody>
      </p:sp>
      <p:sp>
        <p:nvSpPr>
          <p:cNvPr id="23" name="Rectangle 22"/>
          <p:cNvSpPr/>
          <p:nvPr/>
        </p:nvSpPr>
        <p:spPr>
          <a:xfrm>
            <a:off x="6400800" y="4370832"/>
            <a:ext cx="109728" cy="109728"/>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56832" y="4261104"/>
            <a:ext cx="4498848" cy="310896"/>
          </a:xfrm>
          <a:prstGeom prst="rect">
            <a:avLst/>
          </a:prstGeom>
          <a:noFill/>
        </p:spPr>
        <p:txBody>
          <a:bodyPr wrap="square" lIns="0" rIns="0" tIns="0" bIns="0" anchor="t">
            <a:spAutoFit/>
          </a:bodyPr>
          <a:lstStyle/>
          <a:p>
            <a:pPr algn="l">
              <a:lnSpc>
                <a:spcPct val="115000"/>
              </a:lnSpc>
            </a:pPr>
            <a:r>
              <a:rPr sz="1900" b="0" i="0">
                <a:solidFill>
                  <a:srgbClr val="102033"/>
                </a:solidFill>
                <a:latin typeface="Arial"/>
              </a:rPr>
              <a:t>Chaos handles secrecy</a:t>
            </a:r>
          </a:p>
        </p:txBody>
      </p:sp>
      <p:sp>
        <p:nvSpPr>
          <p:cNvPr id="25" name="Rectangle 24"/>
          <p:cNvSpPr/>
          <p:nvPr/>
        </p:nvSpPr>
        <p:spPr>
          <a:xfrm>
            <a:off x="6400800" y="4791456"/>
            <a:ext cx="109728" cy="109728"/>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56832" y="4681728"/>
            <a:ext cx="4498848" cy="310896"/>
          </a:xfrm>
          <a:prstGeom prst="rect">
            <a:avLst/>
          </a:prstGeom>
          <a:noFill/>
        </p:spPr>
        <p:txBody>
          <a:bodyPr wrap="square" lIns="0" rIns="0" tIns="0" bIns="0" anchor="t">
            <a:spAutoFit/>
          </a:bodyPr>
          <a:lstStyle/>
          <a:p>
            <a:pPr algn="l">
              <a:lnSpc>
                <a:spcPct val="115000"/>
              </a:lnSpc>
            </a:pPr>
            <a:r>
              <a:rPr sz="1900" b="0" i="0">
                <a:solidFill>
                  <a:srgbClr val="102033"/>
                </a:solidFill>
                <a:latin typeface="Arial"/>
              </a:rPr>
              <a:t>Cube handles batches</a:t>
            </a:r>
          </a:p>
        </p:txBody>
      </p:sp>
      <p:sp>
        <p:nvSpPr>
          <p:cNvPr id="27" name="TextBox 26"/>
          <p:cNvSpPr txBox="1"/>
          <p:nvPr/>
        </p:nvSpPr>
        <p:spPr>
          <a:xfrm>
            <a:off x="685800" y="5303520"/>
            <a:ext cx="10820095" cy="594360"/>
          </a:xfrm>
          <a:prstGeom prst="rect">
            <a:avLst/>
          </a:prstGeom>
          <a:noFill/>
        </p:spPr>
        <p:txBody>
          <a:bodyPr wrap="square" lIns="0" rIns="0" tIns="0" bIns="0" anchor="t">
            <a:spAutoFit/>
          </a:bodyPr>
          <a:lstStyle/>
          <a:p>
            <a:pPr algn="ctr">
              <a:lnSpc>
                <a:spcPct val="115000"/>
              </a:lnSpc>
            </a:pPr>
            <a:r>
              <a:rPr sz="4200" b="1" i="0">
                <a:solidFill>
                  <a:srgbClr val="102033"/>
                </a:solidFill>
                <a:latin typeface="Arial"/>
              </a:rPr>
              <a:t>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CMP4221 - DWT Encryption Presentation</dc:title>
  <dc:subject/>
  <dc:creator>Abdul Rahman Malak; Maria Alftaih</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