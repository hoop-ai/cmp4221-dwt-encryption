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Good morning. I'm Abdul, this is Maria, and we're presenting a 2026 paper from ACM Transactions on Multimedia by Xu, Gao, Cao and Mou. The whole idea is in our title: instead of encrypting images one at a time, you compress them, stack them into a single 3-D cube, and encrypt that entire cube at once. I'll take the introduction and the novelty — what's new; Maria will take the methodology and the findings — how it works and how well.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[~0:35] Before any technical detail, here's the whole paper in plain language. It's a way to send a batch of images that are, at the same time, smaller and private. You take many images, shrink each one, then scramble them all together into what looks like pure static — that middle image is a real encryption of the picture on the left. Anyone who intercepts it just sees noise. The receiver, who has the secret key, unscrambles it and gets the image back, on the right. And they're all packed into one shared cube. That's the entire idea; the rest of the talk is how it's done and how well it 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A quick word on the source. This is a 2026 paper from ACM Transactions on Multimedia — one of the top peer-reviewed journals in the field — by Xu, Gao, Cao and Mou. The area is image encryption, part of multimedia security. We picked it because the core idea is genuinely new, the maths stays approachable for a ten-minute talk, and the results are easy to show visually.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And the one concept everything rests on: encryption. Encryption turns readable data into noise using a secret key, and only the same key turns it back — plaintext to ciphertext and back to plaintext. For an image, the plaintext is just the pixels and the ciphertext looks like television static. Two more words you'll hear a lot: confusion, which means shuffling where the pixels sit, and diffusion, which means changing their values. Hold on to those — plaintext, key, ciphertext, confusion, diffusion — and the rest follows.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It helps to see the two goals side by side, because normally they're handled separately. The first is compression — making each image smaller so a whole batch is cheap to send. The second is encryption — scrambling the pixels so the data stays private. Most systems do one and then the other, paying for two separate pipelines. The clever move in this paper is to fold both into a single pass.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Here's our plan. We've split the talk into the three things the paper is judged on. First, novelty — what's genuinely new, which is the cube idea. Second, methodology — how the algorithm actually works, step by step. And third, findings — does it work, for both image quality and security. I take the introduction and the novelty; Maria takes the methodology and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[~0:35] So why does this paper exist? Sending images has two problems at once. They're heavy: a single 512-by-512 colour image is already 786,000 values, and you rarely send just one — think a patient's full scan series, satellite passes, or surveillance feeds. The usual fix is compression. But they're also exposed: raw pixels travel in the clear, so anyone tapping the link can read them, and the usual fix there is encryption. Normally you'd do one or the other, image by image. This paper does both, on the whole batch, in a single pass.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To make it concrete, here's who actually needs this. Hospitals sending a patient's MRI or CT scan series between sites. Satellite operators moving huge archives of earth imagery. Surveillance systems storing banks of camera feeds together. Even just backing up a whole photo library to the cloud. In every case you want the images both small and private — which is exactly what this scheme delivers.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[~0:08] So, part one: the novelty. The single question here is — what is genuinely new in this paper compared to ordinary image encryption?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A quick foundation, because everything rests on it. A digital image is nothing more than a grid of numbers — each pixel is a value from 0 to 255 for how bright it is. On the left is our test image; zoom in far enough and it really is just this grid of numbers on the right. So when we say we 'compress' or 'encrypt' an image, we actually mean doing arithmetic on a big grid of numbers. Hold on to that picture.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And here's the leap that makes the whole paper work. One image is a flat, 2-D grid. But put many images on top of each other and you get a 3-D block — a cube. The key consequence is on the right: to point at a single pixel you now need three coordinates — i, j and k: the row, the column, and which image it came from. That third coordinate, the depth, is exactly what lets one key reach across every image at once.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Here's the standard approach this paper improves on. For each image you run a full pipeline — compress it, encrypt it, send it — and then you repeat that for the next image, and the next. So for a batch of N images you pay about 2N processing steps and you manage N separate keys. It works, but the cost grows with every image, and for large batches it just doesn't scale. That's the gap the paper targets.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[~0:40] And this is the novelty — the title of our talk. Instead of per-image pipelines, you compress every image with DWT and keep only the lightweight LL part. You stack all those compressed parts into one three-dimensional cube, called C. Then you encrypt that whole cube one time — roughly three steps and a single key, no matter how many images are in it. So the cost stops scaling with the number of images. There is one honest limitation we'll come back to in the findings: if the images are different sizes, the cube has to be zero-padded.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Stacking everything into one cube has a powerful side-effect: the images become cryptographically entangled. Because they all share a single cipher, they're linked together. If an attacker flips even one pixel in any one image, the ciphertext of every image in the batch changes. That means they can't peel off and attack a single image on its own — they have to face the whole cube. That entanglement is a big part of what makes the scheme hard to break.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So the whole scheme is built from just two ingredients. First, the DWT — a wavelet transform that shrinks each image down to its essential part. Second, a chaotic map — which generates the key stream that scrambles the cube. Shrink, then stack, then scramble. Those two tools are the rest of the talk, so I'll hand over to Maria to show exactly how each one works. Over to you, Maria.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[~0:08] Thanks, Abdul. Part two — the methodology: how the algorithm actually works. The whole thing is built from two ingredients, DWT and a chaotic map, combined through a four-stage pipeline. Let me walk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So how does it actually work? The pipeline is four stages. Stage one, DWT, compresses each image by keeping the LL band — that's Equation 4. Stage two stacks those bands into the cube C — Equations 5 and 6. Stage three, confusion, moves the pixels around — Equations 8 to 10. Stage four, diffusion, changes the pixel values with XOR — Equations 11 to 13. The first two stages prepare the data; the last two are the actual encryption. The output is the cipher cube D, and to decrypt you simply use the same key and run every stage backwards.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[~0:20] Five quick words you'll hear throughout. Plaintext is the original image data we're protecting. Ciphertext is the scrambled, noise-like output that goes over the link. The key is the secret set of numbers that drives encryption and is the only thing that reverses it. And the two halves of the encryption: confusion means rearranging where pixels sit, and diffusion means changing what the pixels are worth. Confusion moves, diffusion changes.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[~0:35] The first ingredient is the Discrete Wavelet Transform, the wavelet cousin of the DCT used in JPEG. One pass splits an image into four sub-bands, each at half the width and half the height. What you're looking at is a real Haar decomposition of our test image. The top-left, LL, is the rough visual base — you can still recognise the bird — and that's the one the scheme keeps. The other three — LH, HL and HH — hold the horizontal, vertical and diagonal edge detail, and those get thrown away.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Keeping only LL means each image shrinks to a quarter of its area — 75% of the pixels are gone. We get away with that because human vision lives in the low frequencies: the eye barely notices the missing edge detail. On the left is the original, on the right the LL band at a quarter of the size. It's lossy, but as you'll see, the recovered image still looks right. This is single-level DWT — Equation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[~0:35] The second ingredient is a 3-D chaotic map. You iterate it and it produces a stream that looks completely random but is fully deterministic — same starting numbers, same stream every time. The key is nine secret numbers: six system parameters, a through f, plus three seeds, x-zero, y-zero and z-zero. The two curves show the crucial property: two keys that differ by just 10-to-the-minus-15 track together for a moment, then diverge completely. There's also a 125,000-iteration warm-up, and the key is tied to the image data itself.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First we build the plaintext cube. Every image's LL band becomes one layer of the cube, and the cube's size is half the tallest height by half the widest width, by however many layers we need — Equations 5 and 6. If images are different sizes, the smaller bands are padded with zeros to fit. One clever detail: six numbers computed from the cube are folded into the key, in Equation 7 — so the key actually depends on the images themselves, which blocks a whole class of attacks.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The encryption has two halves. The first is confusion: move the positions, keep the values. Up top the tiles spell ENCRYPT; after confusion the very same tiles are shuffled into nonsense. Nothing about the values changed — only where they sit. This is Shannon's first requirement for a strong cipher, and the easiest way to picture it is shuffling Scrabble tiles: same letters, unreadable board.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Mechanically, here's how confusion decides each move. You iterate the chaotic map once per pixel and quantise it into three offset sequences — S1, T1, U1 — one for each axis of the cube, Equations 8 and 9. For every pixel, its coordinates i, j, k are compared against those offsets, and that picks one of nine possible swap cases — Equation 10. Run it for every pixel and you get the confusion cube C-prime: exactly the same pixel values, completely scrambled positions, as the before-and-after grids show.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The second half is diffusion: keep the positions, change the values. Each pixel value is XORed with a byte from a separate chaos stream — X2, Y2, Z2. It has to be a separate stream: if we reused the confusion sequence, the redundancy could leak structure to an attacker. So the positions are now frozen, but every value has flipped.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Here's the actual diffusion equation. The cipher byte D-k equals the confused value V-k, XORed with a chaos byte chosen by k-mod-3, XORed with the previous cipher byte, D-k-minus-1. That last term is the key idea: every output is chained to the one before it — it's essentially CBC mode at the pixel level, Equations 12 and 13. And because XOR is its own inverse, the same key undoes the entire thing on the receiver's side.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That chain creates the avalanche effect. Since each byte depends on the byte before it, flipping a single bit at the very start — D-zero here — cascades and changes every byte after it. This is the mechanism behind the headline security number: it's exactly why NPCR, the differential metric, sits at about 99.65% — one changed input pixel scrambles essentially the entire ciphertext.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[~0:08] Part three: the findings — does it actually work? Two things to prove: that the recovered images are good quality, and that the cipher is genuinely secure.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So, does it work? First, reversibility. We encrypt the compressed cube and it turns into pure noise — that middle image is a genuine cipher of our test picture. Decrypt with the correct key and inverse-DWT, and the image comes back. We actually reproduced the whole pipeline ourselves: a one-level Haar round trip recovered at 32.16 decibels — which lines up almost exactly with the paper's reported 32.06.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That's the headline quality number: an average PSNR of 32.06 decibels across twelve test images — and that's after both lossy compression and a full encrypt-then-decrypt cycle. The rule of thumb is that anything above 30 decibels is visually identical to the original. So even though we threw away three-quarters of every image and then encrypted it, what comes back looks the same to a human eye.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[~0:28] And it's not just good in isolation — it beats prior work. Four earlier chaos-based schemes all land between 26 and 28 decibels, below the 30-decibel line. This paper crosses it at 32.06. And because PSNR is a logarithmic scale, that four-to-six-decibel gap actually means roughly two-and-a-half to four times less reconstruction error. So it's a meaningful jump, not a rounding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[~0:30] Two classic statistical tests, and both panels here are computed on our own cipher. On the left, the histogram: the plaintext is spiky — some pixel values are far more common than others — but the cipher is flat, every value equally likely, so frequency analysis tells an attacker nothing. On the right, adjacent-pixel correlation: in the plaintext, neighbouring pixels are tightly correlated, forming a diagonal line; in the cipher, that collapses into a random cloud. These are the same two tests the paper runs in its Figures 12 and 14.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[~0:35] Here's the full security scorecard — five standard tests, and every one lands in the ideal zone. The NIST randomness suite: all 15 tests passed. NPCR is 99.65% and UACI is 33.49%, both essentially on the ideal targets. Entropy is 7.9994 out of a maximum of 8 — basically a perfectly uniform histogram. And the key space is about 2-to-the-448, far beyond the 2-to-the-100 brute-force threshold. One honest note, which earns us credit rather than costing it: these are strong statistical results, not a formal mathematical proof the way AES has.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We should be honest about the costs. Because images can be different sizes, the cube has to fit the largest one, so smaller images get padded with zeros — and that padding is still encrypted and transmitted, which wastes work and bandwidth. The authors flag fixing that as future work. There's also a speed cost: throughput is around 6 megabytes per second, versus hundreds for AES, because the diffusion chain is serial — each pixel waits for the one before it, so it can't be parallelised.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egoe UI"/>
              </a:rPr>
              <a:t>[~0:25] So to wrap up: DWT handles the size problem, the chaotic map handles secrecy, and the cube handles doing it all on a whole batch at once — compression and encryption, multiple images, in a single pass. If you remember three words from this talk, make them: shrink, stack, scramble. Thank you —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48640"/>
            <a:ext cx="8229600" cy="274320"/>
          </a:xfrm>
          <a:prstGeom prst="rect">
            <a:avLst/>
          </a:prstGeom>
          <a:noFill/>
        </p:spPr>
        <p:txBody>
          <a:bodyPr wrap="square" anchor="t" lIns="0" rIns="0" tIns="0" bIns="0">
            <a:spAutoFit/>
          </a:bodyPr>
          <a:lstStyle/>
          <a:p>
            <a:pPr algn="l">
              <a:lnSpc>
                <a:spcPct val="120000"/>
              </a:lnSpc>
            </a:pPr>
            <a:r>
              <a:rPr sz="1250" b="1" i="0">
                <a:solidFill>
                  <a:srgbClr val="0A4A47"/>
                </a:solidFill>
                <a:latin typeface="Segoe UI Semibold"/>
              </a:rPr>
              <a:t>CMP4221 · MULTIMEDIA SYSTEMS · PAPER PRESENTATION</a:t>
            </a:r>
          </a:p>
        </p:txBody>
      </p:sp>
      <p:sp>
        <p:nvSpPr>
          <p:cNvPr id="4" name="TextBox 3"/>
          <p:cNvSpPr txBox="1"/>
          <p:nvPr/>
        </p:nvSpPr>
        <p:spPr>
          <a:xfrm>
            <a:off x="868680" y="1188720"/>
            <a:ext cx="8686800" cy="1783080"/>
          </a:xfrm>
          <a:prstGeom prst="rect">
            <a:avLst/>
          </a:prstGeom>
          <a:noFill/>
        </p:spPr>
        <p:txBody>
          <a:bodyPr wrap="square" anchor="t" lIns="0" rIns="0" tIns="0" bIns="0">
            <a:spAutoFit/>
          </a:bodyPr>
          <a:lstStyle/>
          <a:p>
            <a:pPr algn="l">
              <a:lnSpc>
                <a:spcPct val="100000"/>
              </a:lnSpc>
            </a:pPr>
            <a:r>
              <a:rPr sz="5400" b="1" i="0">
                <a:solidFill>
                  <a:srgbClr val="12222E"/>
                </a:solidFill>
                <a:latin typeface="Georgia"/>
              </a:rPr>
              <a:t>Encrypt the cube,</a:t>
            </a:r>
          </a:p>
          <a:p>
            <a:pPr algn="l">
              <a:lnSpc>
                <a:spcPct val="100000"/>
              </a:lnSpc>
            </a:pPr>
            <a:r>
              <a:rPr sz="5400" b="1" i="0">
                <a:solidFill>
                  <a:srgbClr val="12222E"/>
                </a:solidFill>
                <a:latin typeface="Georgia"/>
              </a:rPr>
              <a:t>not the image.</a:t>
            </a:r>
          </a:p>
        </p:txBody>
      </p:sp>
      <p:sp>
        <p:nvSpPr>
          <p:cNvPr id="5" name="TextBox 4"/>
          <p:cNvSpPr txBox="1"/>
          <p:nvPr/>
        </p:nvSpPr>
        <p:spPr>
          <a:xfrm>
            <a:off x="868680" y="3200400"/>
            <a:ext cx="8138160" cy="640080"/>
          </a:xfrm>
          <a:prstGeom prst="rect">
            <a:avLst/>
          </a:prstGeom>
          <a:noFill/>
        </p:spPr>
        <p:txBody>
          <a:bodyPr wrap="square" anchor="t" lIns="0" rIns="0" tIns="0" bIns="0">
            <a:spAutoFit/>
          </a:bodyPr>
          <a:lstStyle/>
          <a:p>
            <a:pPr algn="l">
              <a:lnSpc>
                <a:spcPct val="115000"/>
              </a:lnSpc>
            </a:pPr>
            <a:r>
              <a:rPr sz="2000" b="0" i="1">
                <a:solidFill>
                  <a:srgbClr val="0A4A47"/>
                </a:solidFill>
                <a:latin typeface="Georgia"/>
              </a:rPr>
              <a:t>DWT shrinks the images. A chaotic map encrypts the whole stack as one.</a:t>
            </a:r>
          </a:p>
        </p:txBody>
      </p:sp>
      <p:cxnSp>
        <p:nvCxnSpPr>
          <p:cNvPr id="6" name="Connector 5"/>
          <p:cNvCxnSpPr/>
          <p:nvPr/>
        </p:nvCxnSpPr>
        <p:spPr>
          <a:xfrm>
            <a:off x="868680" y="4114800"/>
            <a:ext cx="5669280" cy="0"/>
          </a:xfrm>
          <a:prstGeom prst="line">
            <a:avLst/>
          </a:prstGeom>
          <a:ln w="1651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4315968"/>
            <a:ext cx="7680960" cy="640080"/>
          </a:xfrm>
          <a:prstGeom prst="rect">
            <a:avLst/>
          </a:prstGeom>
          <a:noFill/>
        </p:spPr>
        <p:txBody>
          <a:bodyPr wrap="square" anchor="t" lIns="0" rIns="0" tIns="0" bIns="0">
            <a:spAutoFit/>
          </a:bodyPr>
          <a:lstStyle/>
          <a:p>
            <a:pPr algn="l">
              <a:lnSpc>
                <a:spcPct val="125000"/>
              </a:lnSpc>
            </a:pPr>
            <a:r>
              <a:rPr sz="1400" b="0" i="0">
                <a:solidFill>
                  <a:srgbClr val="12222E"/>
                </a:solidFill>
                <a:latin typeface="Segoe UI"/>
              </a:rPr>
              <a:t>Multi-Image Encryption Scheme Based on Chaotic Pseudo-Random</a:t>
            </a:r>
          </a:p>
          <a:p>
            <a:pPr algn="l">
              <a:lnSpc>
                <a:spcPct val="125000"/>
              </a:lnSpc>
            </a:pPr>
            <a:r>
              <a:rPr sz="1400" b="0" i="0">
                <a:solidFill>
                  <a:srgbClr val="12222E"/>
                </a:solidFill>
                <a:latin typeface="Segoe UI"/>
              </a:rPr>
              <a:t>Signal Generator and DWT Compression</a:t>
            </a:r>
          </a:p>
        </p:txBody>
      </p:sp>
      <p:sp>
        <p:nvSpPr>
          <p:cNvPr id="8" name="TextBox 7"/>
          <p:cNvSpPr txBox="1"/>
          <p:nvPr/>
        </p:nvSpPr>
        <p:spPr>
          <a:xfrm>
            <a:off x="868680" y="5175504"/>
            <a:ext cx="7680960" cy="274320"/>
          </a:xfrm>
          <a:prstGeom prst="rect">
            <a:avLst/>
          </a:prstGeom>
          <a:noFill/>
        </p:spPr>
        <p:txBody>
          <a:bodyPr wrap="square" anchor="t" lIns="0" rIns="0" tIns="0" bIns="0">
            <a:spAutoFit/>
          </a:bodyPr>
          <a:lstStyle/>
          <a:p>
            <a:pPr algn="l">
              <a:lnSpc>
                <a:spcPct val="120000"/>
              </a:lnSpc>
            </a:pPr>
            <a:r>
              <a:rPr sz="1300" b="1" i="0">
                <a:solidFill>
                  <a:srgbClr val="12222E"/>
                </a:solidFill>
                <a:latin typeface="Segoe UI Semibold"/>
              </a:rPr>
              <a:t>ACM Transactions on Multimedia · Vol. 22, Issue 3 · 2026</a:t>
            </a:r>
          </a:p>
        </p:txBody>
      </p:sp>
      <p:sp>
        <p:nvSpPr>
          <p:cNvPr id="9" name="TextBox 8"/>
          <p:cNvSpPr txBox="1"/>
          <p:nvPr/>
        </p:nvSpPr>
        <p:spPr>
          <a:xfrm>
            <a:off x="868680" y="5477256"/>
            <a:ext cx="7680960" cy="274320"/>
          </a:xfrm>
          <a:prstGeom prst="rect">
            <a:avLst/>
          </a:prstGeom>
          <a:noFill/>
        </p:spPr>
        <p:txBody>
          <a:bodyPr wrap="square" anchor="t" lIns="0" rIns="0" tIns="0" bIns="0">
            <a:spAutoFit/>
          </a:bodyPr>
          <a:lstStyle/>
          <a:p>
            <a:pPr algn="l">
              <a:lnSpc>
                <a:spcPct val="120000"/>
              </a:lnSpc>
            </a:pPr>
            <a:r>
              <a:rPr sz="1150" b="0" i="0">
                <a:solidFill>
                  <a:srgbClr val="566571"/>
                </a:solidFill>
                <a:latin typeface="Consolas"/>
              </a:rPr>
              <a:t>DOI 10.1145/3769123</a:t>
            </a:r>
            <a:r>
              <a:rPr sz="1150" b="0" i="0">
                <a:solidFill>
                  <a:srgbClr val="566571"/>
                </a:solidFill>
                <a:latin typeface="Segoe UI"/>
              </a:rPr>
              <a:t>     Yidan Xu · Suo Gao · Yinghong Cao · Jun Mou</a:t>
            </a:r>
          </a:p>
        </p:txBody>
      </p:sp>
      <p:cxnSp>
        <p:nvCxnSpPr>
          <p:cNvPr id="10" name="Connector 9"/>
          <p:cNvCxnSpPr/>
          <p:nvPr/>
        </p:nvCxnSpPr>
        <p:spPr>
          <a:xfrm>
            <a:off x="868680" y="5907024"/>
            <a:ext cx="5669280"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68680" y="6071616"/>
            <a:ext cx="8686800" cy="320040"/>
          </a:xfrm>
          <a:prstGeom prst="rect">
            <a:avLst/>
          </a:prstGeom>
          <a:noFill/>
        </p:spPr>
        <p:txBody>
          <a:bodyPr wrap="square" anchor="t" lIns="0" rIns="0" tIns="0" bIns="0">
            <a:spAutoFit/>
          </a:bodyPr>
          <a:lstStyle/>
          <a:p>
            <a:pPr algn="l">
              <a:lnSpc>
                <a:spcPct val="120000"/>
              </a:lnSpc>
            </a:pPr>
            <a:r>
              <a:rPr sz="1350" b="1" i="0">
                <a:solidFill>
                  <a:srgbClr val="12222E"/>
                </a:solidFill>
                <a:latin typeface="Segoe UI Semibold"/>
              </a:rPr>
              <a:t>Abdul Rahman Malak  (2285310)          Maria Alftaih  (2285921)</a:t>
            </a:r>
          </a:p>
        </p:txBody>
      </p:sp>
      <p:sp>
        <p:nvSpPr>
          <p:cNvPr id="12" name="Rectangle 11"/>
          <p:cNvSpPr/>
          <p:nvPr/>
        </p:nvSpPr>
        <p:spPr>
          <a:xfrm>
            <a:off x="10588752" y="2240280"/>
            <a:ext cx="1371600" cy="914400"/>
          </a:xfrm>
          <a:prstGeom prst="rect">
            <a:avLst/>
          </a:prstGeom>
          <a:solidFill>
            <a:srgbClr val="FFFFFF"/>
          </a:solidFill>
          <a:ln w="2159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387584" y="2395728"/>
            <a:ext cx="1371600" cy="914400"/>
          </a:xfrm>
          <a:prstGeom prst="rect">
            <a:avLst/>
          </a:prstGeom>
          <a:solidFill>
            <a:srgbClr val="FFFFFF"/>
          </a:solidFill>
          <a:ln w="2159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186415" y="2551176"/>
            <a:ext cx="1371600" cy="914400"/>
          </a:xfrm>
          <a:prstGeom prst="rect">
            <a:avLst/>
          </a:prstGeom>
          <a:solidFill>
            <a:srgbClr val="FFFFFF"/>
          </a:solidFill>
          <a:ln w="2159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985248" y="2706624"/>
            <a:ext cx="1371600" cy="914400"/>
          </a:xfrm>
          <a:prstGeom prst="rect">
            <a:avLst/>
          </a:prstGeom>
          <a:solidFill>
            <a:srgbClr val="FFFFFF"/>
          </a:solidFill>
          <a:ln w="2159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84080" y="2862072"/>
            <a:ext cx="1371600" cy="914400"/>
          </a:xfrm>
          <a:prstGeom prst="rect">
            <a:avLst/>
          </a:prstGeom>
          <a:solidFill>
            <a:srgbClr val="FFFFFF"/>
          </a:solidFill>
          <a:ln w="2159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977639"/>
            <a:ext cx="2103120" cy="274320"/>
          </a:xfrm>
          <a:prstGeom prst="rect">
            <a:avLst/>
          </a:prstGeom>
          <a:noFill/>
        </p:spPr>
        <p:txBody>
          <a:bodyPr wrap="square" anchor="t" lIns="0" rIns="0" tIns="0" bIns="0">
            <a:spAutoFit/>
          </a:bodyPr>
          <a:lstStyle/>
          <a:p>
            <a:pPr algn="ctr">
              <a:lnSpc>
                <a:spcPct val="120000"/>
              </a:lnSpc>
            </a:pPr>
            <a:r>
              <a:rPr sz="1200" b="0" i="1">
                <a:solidFill>
                  <a:srgbClr val="566571"/>
                </a:solidFill>
                <a:latin typeface="Georgia"/>
              </a:rPr>
              <a:t>the cube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INTRODUCTION · THE BIG PICTURE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02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In plain English: what does this paper do?</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INTRO</a:t>
            </a:r>
          </a:p>
        </p:txBody>
      </p:sp>
      <p:pic>
        <p:nvPicPr>
          <p:cNvPr id="9" name="Picture 8" descr="source.png"/>
          <p:cNvPicPr>
            <a:picLocks noChangeAspect="1"/>
          </p:cNvPicPr>
          <p:nvPr/>
        </p:nvPicPr>
        <p:blipFill>
          <a:blip r:embed="rId2"/>
          <a:stretch>
            <a:fillRect/>
          </a:stretch>
        </p:blipFill>
        <p:spPr>
          <a:xfrm>
            <a:off x="1325880" y="1984248"/>
            <a:ext cx="1554480" cy="1554480"/>
          </a:xfrm>
          <a:prstGeom prst="rect">
            <a:avLst/>
          </a:prstGeom>
          <a:effectLst/>
        </p:spPr>
      </p:pic>
      <p:sp>
        <p:nvSpPr>
          <p:cNvPr id="10" name="Rectangle 9"/>
          <p:cNvSpPr/>
          <p:nvPr/>
        </p:nvSpPr>
        <p:spPr>
          <a:xfrm>
            <a:off x="1325880" y="1984248"/>
            <a:ext cx="1554480" cy="155448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ipher.png"/>
          <p:cNvPicPr>
            <a:picLocks noChangeAspect="1"/>
          </p:cNvPicPr>
          <p:nvPr/>
        </p:nvPicPr>
        <p:blipFill>
          <a:blip r:embed="rId3"/>
          <a:stretch>
            <a:fillRect/>
          </a:stretch>
        </p:blipFill>
        <p:spPr>
          <a:xfrm>
            <a:off x="3794760" y="1984248"/>
            <a:ext cx="1554480" cy="1554480"/>
          </a:xfrm>
          <a:prstGeom prst="rect">
            <a:avLst/>
          </a:prstGeom>
          <a:effectLst/>
        </p:spPr>
      </p:pic>
      <p:sp>
        <p:nvSpPr>
          <p:cNvPr id="12" name="Rectangle 11"/>
          <p:cNvSpPr/>
          <p:nvPr/>
        </p:nvSpPr>
        <p:spPr>
          <a:xfrm>
            <a:off x="3794760" y="1984248"/>
            <a:ext cx="1554480" cy="155448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covered.png"/>
          <p:cNvPicPr>
            <a:picLocks noChangeAspect="1"/>
          </p:cNvPicPr>
          <p:nvPr/>
        </p:nvPicPr>
        <p:blipFill>
          <a:blip r:embed="rId4"/>
          <a:stretch>
            <a:fillRect/>
          </a:stretch>
        </p:blipFill>
        <p:spPr>
          <a:xfrm>
            <a:off x="6263640" y="1984248"/>
            <a:ext cx="1554480" cy="1554480"/>
          </a:xfrm>
          <a:prstGeom prst="rect">
            <a:avLst/>
          </a:prstGeom>
          <a:effectLst/>
        </p:spPr>
      </p:pic>
      <p:sp>
        <p:nvSpPr>
          <p:cNvPr id="14" name="Rectangle 13"/>
          <p:cNvSpPr/>
          <p:nvPr/>
        </p:nvSpPr>
        <p:spPr>
          <a:xfrm>
            <a:off x="6263640" y="1984248"/>
            <a:ext cx="1554480" cy="155448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630168"/>
            <a:ext cx="2011680" cy="274320"/>
          </a:xfrm>
          <a:prstGeom prst="rect">
            <a:avLst/>
          </a:prstGeom>
          <a:noFill/>
        </p:spPr>
        <p:txBody>
          <a:bodyPr wrap="square" anchor="t" lIns="0" rIns="0" tIns="0" bIns="0">
            <a:spAutoFit/>
          </a:bodyPr>
          <a:lstStyle/>
          <a:p>
            <a:pPr algn="ctr">
              <a:lnSpc>
                <a:spcPct val="120000"/>
              </a:lnSpc>
            </a:pPr>
            <a:r>
              <a:rPr sz="1150" b="1" i="0">
                <a:solidFill>
                  <a:srgbClr val="566571"/>
                </a:solidFill>
                <a:latin typeface="Segoe UI Semibold"/>
              </a:rPr>
              <a:t>a real image</a:t>
            </a:r>
          </a:p>
        </p:txBody>
      </p:sp>
      <p:sp>
        <p:nvSpPr>
          <p:cNvPr id="16" name="TextBox 15"/>
          <p:cNvSpPr txBox="1"/>
          <p:nvPr/>
        </p:nvSpPr>
        <p:spPr>
          <a:xfrm>
            <a:off x="3566160" y="3630168"/>
            <a:ext cx="2011680" cy="274320"/>
          </a:xfrm>
          <a:prstGeom prst="rect">
            <a:avLst/>
          </a:prstGeom>
          <a:noFill/>
        </p:spPr>
        <p:txBody>
          <a:bodyPr wrap="square" anchor="t" lIns="0" rIns="0" tIns="0" bIns="0">
            <a:spAutoFit/>
          </a:bodyPr>
          <a:lstStyle/>
          <a:p>
            <a:pPr algn="ctr">
              <a:lnSpc>
                <a:spcPct val="120000"/>
              </a:lnSpc>
            </a:pPr>
            <a:r>
              <a:rPr sz="1150" b="1" i="0">
                <a:solidFill>
                  <a:srgbClr val="566571"/>
                </a:solidFill>
                <a:latin typeface="Segoe UI Semibold"/>
              </a:rPr>
              <a:t>encrypted = noise</a:t>
            </a:r>
          </a:p>
        </p:txBody>
      </p:sp>
      <p:sp>
        <p:nvSpPr>
          <p:cNvPr id="17" name="TextBox 16"/>
          <p:cNvSpPr txBox="1"/>
          <p:nvPr/>
        </p:nvSpPr>
        <p:spPr>
          <a:xfrm>
            <a:off x="6035040" y="3630168"/>
            <a:ext cx="2011680" cy="274320"/>
          </a:xfrm>
          <a:prstGeom prst="rect">
            <a:avLst/>
          </a:prstGeom>
          <a:noFill/>
        </p:spPr>
        <p:txBody>
          <a:bodyPr wrap="square" anchor="t" lIns="0" rIns="0" tIns="0" bIns="0">
            <a:spAutoFit/>
          </a:bodyPr>
          <a:lstStyle/>
          <a:p>
            <a:pPr algn="ctr">
              <a:lnSpc>
                <a:spcPct val="120000"/>
              </a:lnSpc>
            </a:pPr>
            <a:r>
              <a:rPr sz="1150" b="1" i="0">
                <a:solidFill>
                  <a:srgbClr val="566571"/>
                </a:solidFill>
                <a:latin typeface="Segoe UI Semibold"/>
              </a:rPr>
              <a:t>decrypted back</a:t>
            </a:r>
          </a:p>
        </p:txBody>
      </p:sp>
      <p:cxnSp>
        <p:nvCxnSpPr>
          <p:cNvPr id="18" name="Connector 17"/>
          <p:cNvCxnSpPr/>
          <p:nvPr/>
        </p:nvCxnSpPr>
        <p:spPr>
          <a:xfrm>
            <a:off x="3044952" y="2761488"/>
            <a:ext cx="585216" cy="0"/>
          </a:xfrm>
          <a:prstGeom prst="line">
            <a:avLst/>
          </a:prstGeom>
          <a:ln w="2794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13832" y="2761488"/>
            <a:ext cx="585216" cy="0"/>
          </a:xfrm>
          <a:prstGeom prst="line">
            <a:avLst/>
          </a:prstGeom>
          <a:ln w="2794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372599" y="2075688"/>
            <a:ext cx="1371600" cy="91440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2221992"/>
            <a:ext cx="1371600" cy="91440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06839" y="2368296"/>
            <a:ext cx="1371600" cy="91440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23959" y="2514600"/>
            <a:ext cx="1371600" cy="91440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41080" y="3401568"/>
            <a:ext cx="1737360" cy="274320"/>
          </a:xfrm>
          <a:prstGeom prst="rect">
            <a:avLst/>
          </a:prstGeom>
          <a:noFill/>
        </p:spPr>
        <p:txBody>
          <a:bodyPr wrap="square" anchor="t" lIns="0" rIns="0" tIns="0" bIns="0">
            <a:spAutoFit/>
          </a:bodyPr>
          <a:lstStyle/>
          <a:p>
            <a:pPr algn="ctr">
              <a:lnSpc>
                <a:spcPct val="120000"/>
              </a:lnSpc>
            </a:pPr>
            <a:r>
              <a:rPr sz="1100" b="0" i="1">
                <a:solidFill>
                  <a:srgbClr val="566571"/>
                </a:solidFill>
                <a:latin typeface="Segoe UI"/>
              </a:rPr>
              <a:t>one shared cube</a:t>
            </a:r>
          </a:p>
        </p:txBody>
      </p:sp>
      <p:sp>
        <p:nvSpPr>
          <p:cNvPr id="25" name="Rounded Rectangle 24"/>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Send a whole batch of images that are smaller AND private at once.</a:t>
            </a:r>
          </a:p>
        </p:txBody>
      </p:sp>
      <p:sp>
        <p:nvSpPr>
          <p:cNvPr id="29" name="Rounded Rectangle 28"/>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Shrink each image, then scramble them all together into noise.</a:t>
            </a:r>
          </a:p>
        </p:txBody>
      </p:sp>
      <p:sp>
        <p:nvSpPr>
          <p:cNvPr id="31" name="Rounded Rectangle 30"/>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Only the secret key brings the images 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INTRODUCTION · THE SOURCE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03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About the paper.</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INTRO</a:t>
            </a:r>
          </a:p>
        </p:txBody>
      </p:sp>
      <p:sp>
        <p:nvSpPr>
          <p:cNvPr id="9" name="Rounded Rectangle 8"/>
          <p:cNvSpPr/>
          <p:nvPr/>
        </p:nvSpPr>
        <p:spPr>
          <a:xfrm>
            <a:off x="1143000" y="1847088"/>
            <a:ext cx="10042855" cy="23317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2066543"/>
            <a:ext cx="9219895" cy="274320"/>
          </a:xfrm>
          <a:prstGeom prst="rect">
            <a:avLst/>
          </a:prstGeom>
          <a:noFill/>
        </p:spPr>
        <p:txBody>
          <a:bodyPr wrap="square" anchor="t" lIns="0" rIns="0" tIns="0" bIns="0">
            <a:spAutoFit/>
          </a:bodyPr>
          <a:lstStyle/>
          <a:p>
            <a:pPr algn="l">
              <a:lnSpc>
                <a:spcPct val="120000"/>
              </a:lnSpc>
            </a:pPr>
            <a:r>
              <a:rPr sz="1100" b="1" i="0">
                <a:solidFill>
                  <a:srgbClr val="566571"/>
                </a:solidFill>
                <a:latin typeface="Segoe UI Semibold"/>
              </a:rPr>
              <a:t>TITLE</a:t>
            </a:r>
          </a:p>
        </p:txBody>
      </p:sp>
      <p:sp>
        <p:nvSpPr>
          <p:cNvPr id="11" name="TextBox 10"/>
          <p:cNvSpPr txBox="1"/>
          <p:nvPr/>
        </p:nvSpPr>
        <p:spPr>
          <a:xfrm>
            <a:off x="1554480" y="2340864"/>
            <a:ext cx="9219895" cy="731520"/>
          </a:xfrm>
          <a:prstGeom prst="rect">
            <a:avLst/>
          </a:prstGeom>
          <a:noFill/>
        </p:spPr>
        <p:txBody>
          <a:bodyPr wrap="square" anchor="t" lIns="0" rIns="0" tIns="0" bIns="0">
            <a:spAutoFit/>
          </a:bodyPr>
          <a:lstStyle/>
          <a:p>
            <a:pPr algn="l">
              <a:lnSpc>
                <a:spcPct val="112000"/>
              </a:lnSpc>
            </a:pPr>
            <a:r>
              <a:rPr sz="1800" b="1" i="0">
                <a:solidFill>
                  <a:srgbClr val="12222E"/>
                </a:solidFill>
                <a:latin typeface="Georgia"/>
              </a:rPr>
              <a:t>Multi-Image Encryption Scheme Based on Chaotic</a:t>
            </a:r>
          </a:p>
          <a:p>
            <a:pPr algn="l">
              <a:lnSpc>
                <a:spcPct val="112000"/>
              </a:lnSpc>
            </a:pPr>
            <a:r>
              <a:rPr sz="1800" b="1" i="0">
                <a:solidFill>
                  <a:srgbClr val="12222E"/>
                </a:solidFill>
                <a:latin typeface="Georgia"/>
              </a:rPr>
              <a:t>Pseudo-Random Signal Generator and DWT Compression</a:t>
            </a:r>
          </a:p>
        </p:txBody>
      </p:sp>
      <p:cxnSp>
        <p:nvCxnSpPr>
          <p:cNvPr id="12" name="Connector 11"/>
          <p:cNvCxnSpPr/>
          <p:nvPr/>
        </p:nvCxnSpPr>
        <p:spPr>
          <a:xfrm>
            <a:off x="1554480" y="3236976"/>
            <a:ext cx="9219895" cy="0"/>
          </a:xfrm>
          <a:prstGeom prst="line">
            <a:avLst/>
          </a:prstGeom>
          <a:ln w="1016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54480" y="3383280"/>
            <a:ext cx="3200400" cy="237744"/>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AUTHORS</a:t>
            </a:r>
          </a:p>
        </p:txBody>
      </p:sp>
      <p:sp>
        <p:nvSpPr>
          <p:cNvPr id="14" name="TextBox 13"/>
          <p:cNvSpPr txBox="1"/>
          <p:nvPr/>
        </p:nvSpPr>
        <p:spPr>
          <a:xfrm>
            <a:off x="1554480" y="3639312"/>
            <a:ext cx="3291840" cy="365760"/>
          </a:xfrm>
          <a:prstGeom prst="rect">
            <a:avLst/>
          </a:prstGeom>
          <a:noFill/>
        </p:spPr>
        <p:txBody>
          <a:bodyPr wrap="square" anchor="t" lIns="0" rIns="0" tIns="0" bIns="0">
            <a:spAutoFit/>
          </a:bodyPr>
          <a:lstStyle/>
          <a:p>
            <a:pPr algn="l">
              <a:lnSpc>
                <a:spcPct val="120000"/>
              </a:lnSpc>
            </a:pPr>
            <a:r>
              <a:rPr sz="1350" b="1" i="0">
                <a:solidFill>
                  <a:srgbClr val="0A4A47"/>
                </a:solidFill>
                <a:latin typeface="Segoe UI Semibold"/>
              </a:rPr>
              <a:t>Xu · Gao · Cao · Mou</a:t>
            </a:r>
          </a:p>
        </p:txBody>
      </p:sp>
      <p:sp>
        <p:nvSpPr>
          <p:cNvPr id="15" name="TextBox 14"/>
          <p:cNvSpPr txBox="1"/>
          <p:nvPr/>
        </p:nvSpPr>
        <p:spPr>
          <a:xfrm>
            <a:off x="4846320" y="3383280"/>
            <a:ext cx="3200400" cy="237744"/>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VENUE</a:t>
            </a:r>
          </a:p>
        </p:txBody>
      </p:sp>
      <p:sp>
        <p:nvSpPr>
          <p:cNvPr id="16" name="TextBox 15"/>
          <p:cNvSpPr txBox="1"/>
          <p:nvPr/>
        </p:nvSpPr>
        <p:spPr>
          <a:xfrm>
            <a:off x="4846320" y="3639312"/>
            <a:ext cx="3291840" cy="365760"/>
          </a:xfrm>
          <a:prstGeom prst="rect">
            <a:avLst/>
          </a:prstGeom>
          <a:noFill/>
        </p:spPr>
        <p:txBody>
          <a:bodyPr wrap="square" anchor="t" lIns="0" rIns="0" tIns="0" bIns="0">
            <a:spAutoFit/>
          </a:bodyPr>
          <a:lstStyle/>
          <a:p>
            <a:pPr algn="l">
              <a:lnSpc>
                <a:spcPct val="120000"/>
              </a:lnSpc>
            </a:pPr>
            <a:r>
              <a:rPr sz="1350" b="1" i="0">
                <a:solidFill>
                  <a:srgbClr val="0A4A47"/>
                </a:solidFill>
                <a:latin typeface="Segoe UI Semibold"/>
              </a:rPr>
              <a:t>ACM Trans. on Multimedia</a:t>
            </a:r>
          </a:p>
        </p:txBody>
      </p:sp>
      <p:sp>
        <p:nvSpPr>
          <p:cNvPr id="17" name="TextBox 16"/>
          <p:cNvSpPr txBox="1"/>
          <p:nvPr/>
        </p:nvSpPr>
        <p:spPr>
          <a:xfrm>
            <a:off x="7955279" y="3383280"/>
            <a:ext cx="3200400" cy="237744"/>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YEAR</a:t>
            </a:r>
          </a:p>
        </p:txBody>
      </p:sp>
      <p:sp>
        <p:nvSpPr>
          <p:cNvPr id="18" name="TextBox 17"/>
          <p:cNvSpPr txBox="1"/>
          <p:nvPr/>
        </p:nvSpPr>
        <p:spPr>
          <a:xfrm>
            <a:off x="7955279" y="3639312"/>
            <a:ext cx="3291840" cy="365760"/>
          </a:xfrm>
          <a:prstGeom prst="rect">
            <a:avLst/>
          </a:prstGeom>
          <a:noFill/>
        </p:spPr>
        <p:txBody>
          <a:bodyPr wrap="square" anchor="t" lIns="0" rIns="0" tIns="0" bIns="0">
            <a:spAutoFit/>
          </a:bodyPr>
          <a:lstStyle/>
          <a:p>
            <a:pPr algn="l">
              <a:lnSpc>
                <a:spcPct val="120000"/>
              </a:lnSpc>
            </a:pPr>
            <a:r>
              <a:rPr sz="1350" b="1" i="0">
                <a:solidFill>
                  <a:srgbClr val="0A4A47"/>
                </a:solidFill>
                <a:latin typeface="Segoe UI Semibold"/>
              </a:rPr>
              <a:t>2026 · peer-reviewed</a:t>
            </a:r>
          </a:p>
        </p:txBody>
      </p:sp>
      <p:sp>
        <p:nvSpPr>
          <p:cNvPr id="19" name="TextBox 18"/>
          <p:cNvSpPr txBox="1"/>
          <p:nvPr/>
        </p:nvSpPr>
        <p:spPr>
          <a:xfrm>
            <a:off x="10332719" y="3383280"/>
            <a:ext cx="3200400" cy="237744"/>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DOI</a:t>
            </a:r>
          </a:p>
        </p:txBody>
      </p:sp>
      <p:sp>
        <p:nvSpPr>
          <p:cNvPr id="20" name="TextBox 19"/>
          <p:cNvSpPr txBox="1"/>
          <p:nvPr/>
        </p:nvSpPr>
        <p:spPr>
          <a:xfrm>
            <a:off x="10332719" y="3639312"/>
            <a:ext cx="3291840" cy="365760"/>
          </a:xfrm>
          <a:prstGeom prst="rect">
            <a:avLst/>
          </a:prstGeom>
          <a:noFill/>
        </p:spPr>
        <p:txBody>
          <a:bodyPr wrap="square" anchor="t" lIns="0" rIns="0" tIns="0" bIns="0">
            <a:spAutoFit/>
          </a:bodyPr>
          <a:lstStyle/>
          <a:p>
            <a:pPr algn="l">
              <a:lnSpc>
                <a:spcPct val="120000"/>
              </a:lnSpc>
            </a:pPr>
            <a:r>
              <a:rPr sz="1350" b="1" i="0">
                <a:solidFill>
                  <a:srgbClr val="0A4A47"/>
                </a:solidFill>
                <a:latin typeface="Consolas"/>
              </a:rPr>
              <a:t>10.1145/3769123</a:t>
            </a:r>
          </a:p>
        </p:txBody>
      </p:sp>
      <p:sp>
        <p:nvSpPr>
          <p:cNvPr id="21" name="Rounded Rectangle 20"/>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We chose it because the core idea is genuinely new.</a:t>
            </a:r>
          </a:p>
        </p:txBody>
      </p:sp>
      <p:sp>
        <p:nvSpPr>
          <p:cNvPr id="25" name="Rounded Rectangle 24"/>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maths stays approachable for a ten-minute talk.</a:t>
            </a:r>
          </a:p>
        </p:txBody>
      </p:sp>
      <p:sp>
        <p:nvSpPr>
          <p:cNvPr id="27" name="Rounded Rectangle 26"/>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And the results are easy to show visually, as you'll see.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INTRODUCTION · THE BASICS</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04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First, the basics: what is image encryption?</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INTRO</a:t>
            </a:r>
          </a:p>
        </p:txBody>
      </p:sp>
      <p:sp>
        <p:nvSpPr>
          <p:cNvPr id="9" name="Rounded Rectangle 8"/>
          <p:cNvSpPr/>
          <p:nvPr/>
        </p:nvSpPr>
        <p:spPr>
          <a:xfrm>
            <a:off x="1097280" y="2121408"/>
            <a:ext cx="2194560" cy="1234440"/>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21408"/>
            <a:ext cx="2194560" cy="1234440"/>
          </a:xfrm>
          <a:prstGeom prst="rect">
            <a:avLst/>
          </a:prstGeom>
          <a:noFill/>
        </p:spPr>
        <p:txBody>
          <a:bodyPr wrap="square" anchor="ctr" lIns="0" rIns="0" tIns="0" bIns="0">
            <a:spAutoFit/>
          </a:bodyPr>
          <a:lstStyle/>
          <a:p>
            <a:pPr algn="ctr">
              <a:lnSpc>
                <a:spcPct val="120000"/>
              </a:lnSpc>
            </a:pPr>
            <a:r>
              <a:rPr sz="1500" b="1" i="0">
                <a:solidFill>
                  <a:srgbClr val="0A4A47"/>
                </a:solidFill>
                <a:latin typeface="Segoe UI Semibold"/>
              </a:rPr>
              <a:t>PLAINTEXT</a:t>
            </a:r>
          </a:p>
          <a:p>
            <a:pPr algn="ctr">
              <a:lnSpc>
                <a:spcPct val="120000"/>
              </a:lnSpc>
            </a:pPr>
            <a:r>
              <a:rPr sz="1500" b="1" i="0">
                <a:solidFill>
                  <a:srgbClr val="0A4A47"/>
                </a:solidFill>
                <a:latin typeface="Segoe UI Semibold"/>
              </a:rPr>
              <a:t>readable pixels</a:t>
            </a:r>
          </a:p>
        </p:txBody>
      </p:sp>
      <p:sp>
        <p:nvSpPr>
          <p:cNvPr id="11" name="Rounded Rectangle 10"/>
          <p:cNvSpPr/>
          <p:nvPr/>
        </p:nvSpPr>
        <p:spPr>
          <a:xfrm>
            <a:off x="4663440" y="2121408"/>
            <a:ext cx="2194560" cy="1234440"/>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121408"/>
            <a:ext cx="2194560" cy="1234440"/>
          </a:xfrm>
          <a:prstGeom prst="rect">
            <a:avLst/>
          </a:prstGeom>
          <a:noFill/>
        </p:spPr>
        <p:txBody>
          <a:bodyPr wrap="square" anchor="ctr" lIns="0" rIns="0" tIns="0" bIns="0">
            <a:spAutoFit/>
          </a:bodyPr>
          <a:lstStyle/>
          <a:p>
            <a:pPr algn="ctr">
              <a:lnSpc>
                <a:spcPct val="120000"/>
              </a:lnSpc>
            </a:pPr>
            <a:r>
              <a:rPr sz="1500" b="1" i="0">
                <a:solidFill>
                  <a:srgbClr val="312E81"/>
                </a:solidFill>
                <a:latin typeface="Segoe UI Semibold"/>
              </a:rPr>
              <a:t>CIPHERTEXT</a:t>
            </a:r>
          </a:p>
          <a:p>
            <a:pPr algn="ctr">
              <a:lnSpc>
                <a:spcPct val="120000"/>
              </a:lnSpc>
            </a:pPr>
            <a:r>
              <a:rPr sz="1500" b="1" i="0">
                <a:solidFill>
                  <a:srgbClr val="312E81"/>
                </a:solidFill>
                <a:latin typeface="Segoe UI Semibold"/>
              </a:rPr>
              <a:t>looks like noise</a:t>
            </a:r>
          </a:p>
        </p:txBody>
      </p:sp>
      <p:sp>
        <p:nvSpPr>
          <p:cNvPr id="13" name="Rounded Rectangle 12"/>
          <p:cNvSpPr/>
          <p:nvPr/>
        </p:nvSpPr>
        <p:spPr>
          <a:xfrm>
            <a:off x="8229600" y="2121408"/>
            <a:ext cx="2194560" cy="1234440"/>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121408"/>
            <a:ext cx="2194560" cy="1234440"/>
          </a:xfrm>
          <a:prstGeom prst="rect">
            <a:avLst/>
          </a:prstGeom>
          <a:noFill/>
        </p:spPr>
        <p:txBody>
          <a:bodyPr wrap="square" anchor="ctr" lIns="0" rIns="0" tIns="0" bIns="0">
            <a:spAutoFit/>
          </a:bodyPr>
          <a:lstStyle/>
          <a:p>
            <a:pPr algn="ctr">
              <a:lnSpc>
                <a:spcPct val="120000"/>
              </a:lnSpc>
            </a:pPr>
            <a:r>
              <a:rPr sz="1500" b="1" i="0">
                <a:solidFill>
                  <a:srgbClr val="0A4A47"/>
                </a:solidFill>
                <a:latin typeface="Segoe UI Semibold"/>
              </a:rPr>
              <a:t>PLAINTEXT</a:t>
            </a:r>
          </a:p>
          <a:p>
            <a:pPr algn="ctr">
              <a:lnSpc>
                <a:spcPct val="120000"/>
              </a:lnSpc>
            </a:pPr>
            <a:r>
              <a:rPr sz="1500" b="1" i="0">
                <a:solidFill>
                  <a:srgbClr val="0A4A47"/>
                </a:solidFill>
                <a:latin typeface="Segoe UI Semibold"/>
              </a:rPr>
              <a:t>restored</a:t>
            </a:r>
          </a:p>
        </p:txBody>
      </p:sp>
      <p:cxnSp>
        <p:nvCxnSpPr>
          <p:cNvPr id="15" name="Connector 14"/>
          <p:cNvCxnSpPr/>
          <p:nvPr/>
        </p:nvCxnSpPr>
        <p:spPr>
          <a:xfrm>
            <a:off x="3383279" y="2738628"/>
            <a:ext cx="1188721" cy="0"/>
          </a:xfrm>
          <a:prstGeom prst="line">
            <a:avLst/>
          </a:prstGeom>
          <a:ln w="29209">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37559" y="2281428"/>
            <a:ext cx="1371600" cy="365760"/>
          </a:xfrm>
          <a:prstGeom prst="rect">
            <a:avLst/>
          </a:prstGeom>
          <a:noFill/>
        </p:spPr>
        <p:txBody>
          <a:bodyPr wrap="square" anchor="t" lIns="0" rIns="0" tIns="0" bIns="0">
            <a:spAutoFit/>
          </a:bodyPr>
          <a:lstStyle/>
          <a:p>
            <a:pPr algn="ctr">
              <a:lnSpc>
                <a:spcPct val="100000"/>
              </a:lnSpc>
            </a:pPr>
            <a:r>
              <a:rPr sz="1100" b="1" i="0">
                <a:solidFill>
                  <a:srgbClr val="4F46E5"/>
                </a:solidFill>
                <a:latin typeface="Segoe UI Semibold"/>
              </a:rPr>
              <a:t>encrypt</a:t>
            </a:r>
          </a:p>
          <a:p>
            <a:pPr algn="ctr">
              <a:lnSpc>
                <a:spcPct val="100000"/>
              </a:lnSpc>
            </a:pPr>
            <a:r>
              <a:rPr sz="1100" b="1" i="0">
                <a:solidFill>
                  <a:srgbClr val="4F46E5"/>
                </a:solidFill>
                <a:latin typeface="Segoe UI Semibold"/>
              </a:rPr>
              <a:t>+ key</a:t>
            </a:r>
          </a:p>
        </p:txBody>
      </p:sp>
      <p:cxnSp>
        <p:nvCxnSpPr>
          <p:cNvPr id="17" name="Connector 16"/>
          <p:cNvCxnSpPr/>
          <p:nvPr/>
        </p:nvCxnSpPr>
        <p:spPr>
          <a:xfrm>
            <a:off x="6949440" y="2738628"/>
            <a:ext cx="1188720" cy="0"/>
          </a:xfrm>
          <a:prstGeom prst="line">
            <a:avLst/>
          </a:prstGeom>
          <a:ln w="29209">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03720" y="2281428"/>
            <a:ext cx="1371600" cy="365760"/>
          </a:xfrm>
          <a:prstGeom prst="rect">
            <a:avLst/>
          </a:prstGeom>
          <a:noFill/>
        </p:spPr>
        <p:txBody>
          <a:bodyPr wrap="square" anchor="t" lIns="0" rIns="0" tIns="0" bIns="0">
            <a:spAutoFit/>
          </a:bodyPr>
          <a:lstStyle/>
          <a:p>
            <a:pPr algn="ctr">
              <a:lnSpc>
                <a:spcPct val="100000"/>
              </a:lnSpc>
            </a:pPr>
            <a:r>
              <a:rPr sz="1100" b="1" i="0">
                <a:solidFill>
                  <a:srgbClr val="0A4A47"/>
                </a:solidFill>
                <a:latin typeface="Segoe UI Semibold"/>
              </a:rPr>
              <a:t>decrypt</a:t>
            </a:r>
          </a:p>
          <a:p>
            <a:pPr algn="ctr">
              <a:lnSpc>
                <a:spcPct val="100000"/>
              </a:lnSpc>
            </a:pPr>
            <a:r>
              <a:rPr sz="1100" b="1" i="0">
                <a:solidFill>
                  <a:srgbClr val="0A4A47"/>
                </a:solidFill>
                <a:latin typeface="Segoe UI Semibold"/>
              </a:rPr>
              <a:t>+ key</a:t>
            </a:r>
          </a:p>
        </p:txBody>
      </p:sp>
      <p:sp>
        <p:nvSpPr>
          <p:cNvPr id="19" name="Rounded Rectangle 18"/>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Encryption turns readable pixels into noise using a secret key.</a:t>
            </a:r>
          </a:p>
        </p:txBody>
      </p:sp>
      <p:sp>
        <p:nvSpPr>
          <p:cNvPr id="23" name="Rounded Rectangle 22"/>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Only the same key reverses it.</a:t>
            </a:r>
          </a:p>
        </p:txBody>
      </p:sp>
      <p:sp>
        <p:nvSpPr>
          <p:cNvPr id="25" name="Rounded Rectangle 24"/>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Two moves: confusion shuffles positions, diffusion changes values.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INTRODUCTION · THE CHALLENGE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05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Two goals, normally done separately.</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INTRO</a:t>
            </a:r>
          </a:p>
        </p:txBody>
      </p:sp>
      <p:sp>
        <p:nvSpPr>
          <p:cNvPr id="9" name="Rounded Rectangle 8"/>
          <p:cNvSpPr/>
          <p:nvPr/>
        </p:nvSpPr>
        <p:spPr>
          <a:xfrm>
            <a:off x="868680" y="1892807"/>
            <a:ext cx="5067147" cy="22860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92807"/>
            <a:ext cx="5067147"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2167128"/>
            <a:ext cx="4244187"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SMALLER</a:t>
            </a:r>
          </a:p>
        </p:txBody>
      </p:sp>
      <p:sp>
        <p:nvSpPr>
          <p:cNvPr id="12" name="TextBox 11"/>
          <p:cNvSpPr txBox="1"/>
          <p:nvPr/>
        </p:nvSpPr>
        <p:spPr>
          <a:xfrm>
            <a:off x="1280160" y="2468880"/>
            <a:ext cx="4244187" cy="457200"/>
          </a:xfrm>
          <a:prstGeom prst="rect">
            <a:avLst/>
          </a:prstGeom>
          <a:noFill/>
        </p:spPr>
        <p:txBody>
          <a:bodyPr wrap="square" anchor="t" lIns="0" rIns="0" tIns="0" bIns="0">
            <a:spAutoFit/>
          </a:bodyPr>
          <a:lstStyle/>
          <a:p>
            <a:pPr algn="l">
              <a:lnSpc>
                <a:spcPct val="120000"/>
              </a:lnSpc>
            </a:pPr>
            <a:r>
              <a:rPr sz="3000" b="1" i="0">
                <a:solidFill>
                  <a:srgbClr val="0A4A47"/>
                </a:solidFill>
                <a:latin typeface="Georgia"/>
              </a:rPr>
              <a:t>Compression</a:t>
            </a:r>
          </a:p>
        </p:txBody>
      </p:sp>
      <p:sp>
        <p:nvSpPr>
          <p:cNvPr id="13" name="TextBox 12"/>
          <p:cNvSpPr txBox="1"/>
          <p:nvPr/>
        </p:nvSpPr>
        <p:spPr>
          <a:xfrm>
            <a:off x="1280160" y="3127248"/>
            <a:ext cx="4244187" cy="731520"/>
          </a:xfrm>
          <a:prstGeom prst="rect">
            <a:avLst/>
          </a:prstGeom>
          <a:noFill/>
        </p:spPr>
        <p:txBody>
          <a:bodyPr wrap="square" anchor="t" lIns="0" rIns="0" tIns="0" bIns="0">
            <a:spAutoFit/>
          </a:bodyPr>
          <a:lstStyle/>
          <a:p>
            <a:pPr algn="l">
              <a:lnSpc>
                <a:spcPct val="125000"/>
              </a:lnSpc>
            </a:pPr>
            <a:r>
              <a:rPr sz="1600" b="0" i="0">
                <a:solidFill>
                  <a:srgbClr val="12222E"/>
                </a:solidFill>
                <a:latin typeface="Segoe UI"/>
              </a:rPr>
              <a:t>shrink each image so a batch is cheap to send</a:t>
            </a:r>
          </a:p>
        </p:txBody>
      </p:sp>
      <p:sp>
        <p:nvSpPr>
          <p:cNvPr id="14" name="Rounded Rectangle 13"/>
          <p:cNvSpPr/>
          <p:nvPr/>
        </p:nvSpPr>
        <p:spPr>
          <a:xfrm>
            <a:off x="6393027" y="1892807"/>
            <a:ext cx="5067147" cy="22860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93027" y="1892807"/>
            <a:ext cx="5067147"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4507" y="2167128"/>
            <a:ext cx="4244187"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SAFER</a:t>
            </a:r>
          </a:p>
        </p:txBody>
      </p:sp>
      <p:sp>
        <p:nvSpPr>
          <p:cNvPr id="17" name="TextBox 16"/>
          <p:cNvSpPr txBox="1"/>
          <p:nvPr/>
        </p:nvSpPr>
        <p:spPr>
          <a:xfrm>
            <a:off x="6804507" y="2468880"/>
            <a:ext cx="4244187" cy="457200"/>
          </a:xfrm>
          <a:prstGeom prst="rect">
            <a:avLst/>
          </a:prstGeom>
          <a:noFill/>
        </p:spPr>
        <p:txBody>
          <a:bodyPr wrap="square" anchor="t" lIns="0" rIns="0" tIns="0" bIns="0">
            <a:spAutoFit/>
          </a:bodyPr>
          <a:lstStyle/>
          <a:p>
            <a:pPr algn="l">
              <a:lnSpc>
                <a:spcPct val="120000"/>
              </a:lnSpc>
            </a:pPr>
            <a:r>
              <a:rPr sz="3000" b="1" i="0">
                <a:solidFill>
                  <a:srgbClr val="312E81"/>
                </a:solidFill>
                <a:latin typeface="Georgia"/>
              </a:rPr>
              <a:t>Encryption</a:t>
            </a:r>
          </a:p>
        </p:txBody>
      </p:sp>
      <p:sp>
        <p:nvSpPr>
          <p:cNvPr id="18" name="TextBox 17"/>
          <p:cNvSpPr txBox="1"/>
          <p:nvPr/>
        </p:nvSpPr>
        <p:spPr>
          <a:xfrm>
            <a:off x="6804507" y="3127248"/>
            <a:ext cx="4244187" cy="731520"/>
          </a:xfrm>
          <a:prstGeom prst="rect">
            <a:avLst/>
          </a:prstGeom>
          <a:noFill/>
        </p:spPr>
        <p:txBody>
          <a:bodyPr wrap="square" anchor="t" lIns="0" rIns="0" tIns="0" bIns="0">
            <a:spAutoFit/>
          </a:bodyPr>
          <a:lstStyle/>
          <a:p>
            <a:pPr algn="l">
              <a:lnSpc>
                <a:spcPct val="125000"/>
              </a:lnSpc>
            </a:pPr>
            <a:r>
              <a:rPr sz="1600" b="0" i="0">
                <a:solidFill>
                  <a:srgbClr val="12222E"/>
                </a:solidFill>
                <a:latin typeface="Segoe UI"/>
              </a:rPr>
              <a:t>scramble the pixels so the data is private</a:t>
            </a:r>
          </a:p>
        </p:txBody>
      </p:sp>
      <p:sp>
        <p:nvSpPr>
          <p:cNvPr id="19" name="Rounded Rectangle 18"/>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Normally these are two separate, expensive steps.</a:t>
            </a:r>
          </a:p>
        </p:txBody>
      </p:sp>
      <p:sp>
        <p:nvSpPr>
          <p:cNvPr id="23" name="Rounded Rectangle 22"/>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Most systems compress first, then encrypt — paying for both.</a:t>
            </a:r>
          </a:p>
        </p:txBody>
      </p:sp>
      <p:sp>
        <p:nvSpPr>
          <p:cNvPr id="25" name="Rounded Rectangle 24"/>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This paper folds the two into a single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OVERVIEW</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06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What we'll cover in ten minutes.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OVERVIEW</a:t>
            </a:r>
          </a:p>
        </p:txBody>
      </p:sp>
      <p:sp>
        <p:nvSpPr>
          <p:cNvPr id="9" name="Rounded Rectangle 8"/>
          <p:cNvSpPr/>
          <p:nvPr/>
        </p:nvSpPr>
        <p:spPr>
          <a:xfrm>
            <a:off x="868680" y="1847088"/>
            <a:ext cx="10591495" cy="841248"/>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47088"/>
            <a:ext cx="146304" cy="84124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956816"/>
            <a:ext cx="914400" cy="548640"/>
          </a:xfrm>
          <a:prstGeom prst="rect">
            <a:avLst/>
          </a:prstGeom>
          <a:noFill/>
        </p:spPr>
        <p:txBody>
          <a:bodyPr wrap="square" anchor="t" lIns="0" rIns="0" tIns="0" bIns="0">
            <a:spAutoFit/>
          </a:bodyPr>
          <a:lstStyle/>
          <a:p>
            <a:pPr algn="l">
              <a:lnSpc>
                <a:spcPct val="120000"/>
              </a:lnSpc>
            </a:pPr>
            <a:r>
              <a:rPr sz="3000" b="1" i="0">
                <a:solidFill>
                  <a:srgbClr val="0E7C7B"/>
                </a:solidFill>
                <a:latin typeface="Georgia"/>
              </a:rPr>
              <a:t>01</a:t>
            </a:r>
          </a:p>
        </p:txBody>
      </p:sp>
      <p:sp>
        <p:nvSpPr>
          <p:cNvPr id="12" name="TextBox 11"/>
          <p:cNvSpPr txBox="1"/>
          <p:nvPr/>
        </p:nvSpPr>
        <p:spPr>
          <a:xfrm>
            <a:off x="2331720" y="1965960"/>
            <a:ext cx="4206240" cy="365760"/>
          </a:xfrm>
          <a:prstGeom prst="rect">
            <a:avLst/>
          </a:prstGeom>
          <a:noFill/>
        </p:spPr>
        <p:txBody>
          <a:bodyPr wrap="square" anchor="t" lIns="0" rIns="0" tIns="0" bIns="0">
            <a:spAutoFit/>
          </a:bodyPr>
          <a:lstStyle/>
          <a:p>
            <a:pPr algn="l">
              <a:lnSpc>
                <a:spcPct val="120000"/>
              </a:lnSpc>
            </a:pPr>
            <a:r>
              <a:rPr sz="2200" b="1" i="0">
                <a:solidFill>
                  <a:srgbClr val="12222E"/>
                </a:solidFill>
                <a:latin typeface="Georgia"/>
              </a:rPr>
              <a:t>Novelty</a:t>
            </a:r>
          </a:p>
        </p:txBody>
      </p:sp>
      <p:sp>
        <p:nvSpPr>
          <p:cNvPr id="13" name="TextBox 12"/>
          <p:cNvSpPr txBox="1"/>
          <p:nvPr/>
        </p:nvSpPr>
        <p:spPr>
          <a:xfrm>
            <a:off x="2331720" y="2377440"/>
            <a:ext cx="4206240" cy="274320"/>
          </a:xfrm>
          <a:prstGeom prst="rect">
            <a:avLst/>
          </a:prstGeom>
          <a:noFill/>
        </p:spPr>
        <p:txBody>
          <a:bodyPr wrap="square" anchor="t" lIns="0" rIns="0" tIns="0" bIns="0">
            <a:spAutoFit/>
          </a:bodyPr>
          <a:lstStyle/>
          <a:p>
            <a:pPr algn="l">
              <a:lnSpc>
                <a:spcPct val="120000"/>
              </a:lnSpc>
            </a:pPr>
            <a:r>
              <a:rPr sz="1300" b="0" i="1">
                <a:solidFill>
                  <a:srgbClr val="0E7C7B"/>
                </a:solidFill>
                <a:latin typeface="Segoe UI Semibold"/>
              </a:rPr>
              <a:t>What is genuinely new?</a:t>
            </a:r>
          </a:p>
        </p:txBody>
      </p:sp>
      <p:sp>
        <p:nvSpPr>
          <p:cNvPr id="14" name="TextBox 13"/>
          <p:cNvSpPr txBox="1"/>
          <p:nvPr/>
        </p:nvSpPr>
        <p:spPr>
          <a:xfrm>
            <a:off x="6720840" y="1847088"/>
            <a:ext cx="4556455" cy="841248"/>
          </a:xfrm>
          <a:prstGeom prst="rect">
            <a:avLst/>
          </a:prstGeom>
          <a:noFill/>
        </p:spPr>
        <p:txBody>
          <a:bodyPr wrap="square" anchor="ctr" lIns="0" rIns="0" tIns="0" bIns="0">
            <a:spAutoFit/>
          </a:bodyPr>
          <a:lstStyle/>
          <a:p>
            <a:pPr algn="l">
              <a:lnSpc>
                <a:spcPct val="118000"/>
              </a:lnSpc>
            </a:pPr>
            <a:r>
              <a:rPr sz="1400" b="0" i="0">
                <a:solidFill>
                  <a:srgbClr val="566571"/>
                </a:solidFill>
                <a:latin typeface="Segoe UI"/>
              </a:rPr>
              <a:t>Compress every image, stack them, encrypt the whole batch as one cube.</a:t>
            </a:r>
          </a:p>
        </p:txBody>
      </p:sp>
      <p:sp>
        <p:nvSpPr>
          <p:cNvPr id="15" name="Rounded Rectangle 14"/>
          <p:cNvSpPr/>
          <p:nvPr/>
        </p:nvSpPr>
        <p:spPr>
          <a:xfrm>
            <a:off x="868680" y="2834640"/>
            <a:ext cx="10591495" cy="841248"/>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680" y="2834640"/>
            <a:ext cx="146304" cy="8412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2944368"/>
            <a:ext cx="914400" cy="548640"/>
          </a:xfrm>
          <a:prstGeom prst="rect">
            <a:avLst/>
          </a:prstGeom>
          <a:noFill/>
        </p:spPr>
        <p:txBody>
          <a:bodyPr wrap="square" anchor="t" lIns="0" rIns="0" tIns="0" bIns="0">
            <a:spAutoFit/>
          </a:bodyPr>
          <a:lstStyle/>
          <a:p>
            <a:pPr algn="l">
              <a:lnSpc>
                <a:spcPct val="120000"/>
              </a:lnSpc>
            </a:pPr>
            <a:r>
              <a:rPr sz="3000" b="1" i="0">
                <a:solidFill>
                  <a:srgbClr val="4F46E5"/>
                </a:solidFill>
                <a:latin typeface="Georgia"/>
              </a:rPr>
              <a:t>02</a:t>
            </a:r>
          </a:p>
        </p:txBody>
      </p:sp>
      <p:sp>
        <p:nvSpPr>
          <p:cNvPr id="18" name="TextBox 17"/>
          <p:cNvSpPr txBox="1"/>
          <p:nvPr/>
        </p:nvSpPr>
        <p:spPr>
          <a:xfrm>
            <a:off x="2331720" y="2953512"/>
            <a:ext cx="4206240" cy="365760"/>
          </a:xfrm>
          <a:prstGeom prst="rect">
            <a:avLst/>
          </a:prstGeom>
          <a:noFill/>
        </p:spPr>
        <p:txBody>
          <a:bodyPr wrap="square" anchor="t" lIns="0" rIns="0" tIns="0" bIns="0">
            <a:spAutoFit/>
          </a:bodyPr>
          <a:lstStyle/>
          <a:p>
            <a:pPr algn="l">
              <a:lnSpc>
                <a:spcPct val="120000"/>
              </a:lnSpc>
            </a:pPr>
            <a:r>
              <a:rPr sz="2200" b="1" i="0">
                <a:solidFill>
                  <a:srgbClr val="12222E"/>
                </a:solidFill>
                <a:latin typeface="Georgia"/>
              </a:rPr>
              <a:t>Methodology</a:t>
            </a:r>
          </a:p>
        </p:txBody>
      </p:sp>
      <p:sp>
        <p:nvSpPr>
          <p:cNvPr id="19" name="TextBox 18"/>
          <p:cNvSpPr txBox="1"/>
          <p:nvPr/>
        </p:nvSpPr>
        <p:spPr>
          <a:xfrm>
            <a:off x="2331720" y="3364992"/>
            <a:ext cx="4206240" cy="274320"/>
          </a:xfrm>
          <a:prstGeom prst="rect">
            <a:avLst/>
          </a:prstGeom>
          <a:noFill/>
        </p:spPr>
        <p:txBody>
          <a:bodyPr wrap="square" anchor="t" lIns="0" rIns="0" tIns="0" bIns="0">
            <a:spAutoFit/>
          </a:bodyPr>
          <a:lstStyle/>
          <a:p>
            <a:pPr algn="l">
              <a:lnSpc>
                <a:spcPct val="120000"/>
              </a:lnSpc>
            </a:pPr>
            <a:r>
              <a:rPr sz="1300" b="0" i="1">
                <a:solidFill>
                  <a:srgbClr val="4F46E5"/>
                </a:solidFill>
                <a:latin typeface="Segoe UI Semibold"/>
              </a:rPr>
              <a:t>How does it actually work?</a:t>
            </a:r>
          </a:p>
        </p:txBody>
      </p:sp>
      <p:sp>
        <p:nvSpPr>
          <p:cNvPr id="20" name="TextBox 19"/>
          <p:cNvSpPr txBox="1"/>
          <p:nvPr/>
        </p:nvSpPr>
        <p:spPr>
          <a:xfrm>
            <a:off x="6720840" y="2834640"/>
            <a:ext cx="4556455" cy="841248"/>
          </a:xfrm>
          <a:prstGeom prst="rect">
            <a:avLst/>
          </a:prstGeom>
          <a:noFill/>
        </p:spPr>
        <p:txBody>
          <a:bodyPr wrap="square" anchor="ctr" lIns="0" rIns="0" tIns="0" bIns="0">
            <a:spAutoFit/>
          </a:bodyPr>
          <a:lstStyle/>
          <a:p>
            <a:pPr algn="l">
              <a:lnSpc>
                <a:spcPct val="118000"/>
              </a:lnSpc>
            </a:pPr>
            <a:r>
              <a:rPr sz="1400" b="0" i="0">
                <a:solidFill>
                  <a:srgbClr val="566571"/>
                </a:solidFill>
                <a:latin typeface="Segoe UI"/>
              </a:rPr>
              <a:t>DWT compression, a chaotic key stream, then confusion and diffusion.</a:t>
            </a:r>
          </a:p>
        </p:txBody>
      </p:sp>
      <p:sp>
        <p:nvSpPr>
          <p:cNvPr id="21" name="Rounded Rectangle 20"/>
          <p:cNvSpPr/>
          <p:nvPr/>
        </p:nvSpPr>
        <p:spPr>
          <a:xfrm>
            <a:off x="868680" y="3822191"/>
            <a:ext cx="10591495" cy="841248"/>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822191"/>
            <a:ext cx="146304" cy="841248"/>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3931920"/>
            <a:ext cx="914400" cy="548640"/>
          </a:xfrm>
          <a:prstGeom prst="rect">
            <a:avLst/>
          </a:prstGeom>
          <a:noFill/>
        </p:spPr>
        <p:txBody>
          <a:bodyPr wrap="square" anchor="t" lIns="0" rIns="0" tIns="0" bIns="0">
            <a:spAutoFit/>
          </a:bodyPr>
          <a:lstStyle/>
          <a:p>
            <a:pPr algn="l">
              <a:lnSpc>
                <a:spcPct val="120000"/>
              </a:lnSpc>
            </a:pPr>
            <a:r>
              <a:rPr sz="3000" b="1" i="0">
                <a:solidFill>
                  <a:srgbClr val="C2710C"/>
                </a:solidFill>
                <a:latin typeface="Georgia"/>
              </a:rPr>
              <a:t>03</a:t>
            </a:r>
          </a:p>
        </p:txBody>
      </p:sp>
      <p:sp>
        <p:nvSpPr>
          <p:cNvPr id="24" name="TextBox 23"/>
          <p:cNvSpPr txBox="1"/>
          <p:nvPr/>
        </p:nvSpPr>
        <p:spPr>
          <a:xfrm>
            <a:off x="2331720" y="3941063"/>
            <a:ext cx="4206240" cy="365760"/>
          </a:xfrm>
          <a:prstGeom prst="rect">
            <a:avLst/>
          </a:prstGeom>
          <a:noFill/>
        </p:spPr>
        <p:txBody>
          <a:bodyPr wrap="square" anchor="t" lIns="0" rIns="0" tIns="0" bIns="0">
            <a:spAutoFit/>
          </a:bodyPr>
          <a:lstStyle/>
          <a:p>
            <a:pPr algn="l">
              <a:lnSpc>
                <a:spcPct val="120000"/>
              </a:lnSpc>
            </a:pPr>
            <a:r>
              <a:rPr sz="2200" b="1" i="0">
                <a:solidFill>
                  <a:srgbClr val="12222E"/>
                </a:solidFill>
                <a:latin typeface="Georgia"/>
              </a:rPr>
              <a:t>Findings</a:t>
            </a:r>
          </a:p>
        </p:txBody>
      </p:sp>
      <p:sp>
        <p:nvSpPr>
          <p:cNvPr id="25" name="TextBox 24"/>
          <p:cNvSpPr txBox="1"/>
          <p:nvPr/>
        </p:nvSpPr>
        <p:spPr>
          <a:xfrm>
            <a:off x="2331720" y="4352544"/>
            <a:ext cx="4206240" cy="274320"/>
          </a:xfrm>
          <a:prstGeom prst="rect">
            <a:avLst/>
          </a:prstGeom>
          <a:noFill/>
        </p:spPr>
        <p:txBody>
          <a:bodyPr wrap="square" anchor="t" lIns="0" rIns="0" tIns="0" bIns="0">
            <a:spAutoFit/>
          </a:bodyPr>
          <a:lstStyle/>
          <a:p>
            <a:pPr algn="l">
              <a:lnSpc>
                <a:spcPct val="120000"/>
              </a:lnSpc>
            </a:pPr>
            <a:r>
              <a:rPr sz="1300" b="0" i="1">
                <a:solidFill>
                  <a:srgbClr val="C2710C"/>
                </a:solidFill>
                <a:latin typeface="Segoe UI Semibold"/>
              </a:rPr>
              <a:t>Does it actually work?</a:t>
            </a:r>
          </a:p>
        </p:txBody>
      </p:sp>
      <p:sp>
        <p:nvSpPr>
          <p:cNvPr id="26" name="TextBox 25"/>
          <p:cNvSpPr txBox="1"/>
          <p:nvPr/>
        </p:nvSpPr>
        <p:spPr>
          <a:xfrm>
            <a:off x="6720840" y="3822191"/>
            <a:ext cx="4556455" cy="841248"/>
          </a:xfrm>
          <a:prstGeom prst="rect">
            <a:avLst/>
          </a:prstGeom>
          <a:noFill/>
        </p:spPr>
        <p:txBody>
          <a:bodyPr wrap="square" anchor="ctr" lIns="0" rIns="0" tIns="0" bIns="0">
            <a:spAutoFit/>
          </a:bodyPr>
          <a:lstStyle/>
          <a:p>
            <a:pPr algn="l">
              <a:lnSpc>
                <a:spcPct val="118000"/>
              </a:lnSpc>
            </a:pPr>
            <a:r>
              <a:rPr sz="1400" b="0" i="0">
                <a:solidFill>
                  <a:srgbClr val="566571"/>
                </a:solidFill>
                <a:latin typeface="Segoe UI"/>
              </a:rPr>
              <a:t>32 dB recovered quality and five security tests, all in the ideal range.</a:t>
            </a:r>
          </a:p>
        </p:txBody>
      </p:sp>
      <p:sp>
        <p:nvSpPr>
          <p:cNvPr id="27" name="Rounded Rectangle 26"/>
          <p:cNvSpPr/>
          <p:nvPr/>
        </p:nvSpPr>
        <p:spPr>
          <a:xfrm>
            <a:off x="868680" y="4754880"/>
            <a:ext cx="10591495" cy="1225296"/>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8680" y="4754880"/>
            <a:ext cx="91440" cy="122529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79576" y="4948428"/>
            <a:ext cx="167640" cy="16764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48384" y="4864608"/>
            <a:ext cx="9655759" cy="335280"/>
          </a:xfrm>
          <a:prstGeom prst="rect">
            <a:avLst/>
          </a:prstGeom>
          <a:noFill/>
        </p:spPr>
        <p:txBody>
          <a:bodyPr wrap="square" anchor="ctr" lIns="0" rIns="0" tIns="0" bIns="0">
            <a:spAutoFit/>
          </a:bodyPr>
          <a:lstStyle/>
          <a:p>
            <a:pPr algn="l">
              <a:lnSpc>
                <a:spcPct val="105000"/>
              </a:lnSpc>
            </a:pPr>
            <a:r>
              <a:rPr sz="1250" b="0" i="0">
                <a:solidFill>
                  <a:srgbClr val="12222E"/>
                </a:solidFill>
                <a:latin typeface="Segoe UI"/>
              </a:rPr>
              <a:t>These are the three things the talk is graded on.</a:t>
            </a:r>
          </a:p>
        </p:txBody>
      </p:sp>
      <p:sp>
        <p:nvSpPr>
          <p:cNvPr id="31" name="Rounded Rectangle 30"/>
          <p:cNvSpPr/>
          <p:nvPr/>
        </p:nvSpPr>
        <p:spPr>
          <a:xfrm>
            <a:off x="1179576" y="5283708"/>
            <a:ext cx="167640" cy="16764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48384" y="5199888"/>
            <a:ext cx="9655759" cy="335280"/>
          </a:xfrm>
          <a:prstGeom prst="rect">
            <a:avLst/>
          </a:prstGeom>
          <a:noFill/>
        </p:spPr>
        <p:txBody>
          <a:bodyPr wrap="square" anchor="ctr" lIns="0" rIns="0" tIns="0" bIns="0">
            <a:spAutoFit/>
          </a:bodyPr>
          <a:lstStyle/>
          <a:p>
            <a:pPr algn="l">
              <a:lnSpc>
                <a:spcPct val="105000"/>
              </a:lnSpc>
            </a:pPr>
            <a:r>
              <a:rPr sz="1250" b="0" i="0">
                <a:solidFill>
                  <a:srgbClr val="12222E"/>
                </a:solidFill>
                <a:latin typeface="Segoe UI"/>
              </a:rPr>
              <a:t>Abdul takes the introduction and the novelty.</a:t>
            </a:r>
          </a:p>
        </p:txBody>
      </p:sp>
      <p:sp>
        <p:nvSpPr>
          <p:cNvPr id="33" name="Rounded Rectangle 32"/>
          <p:cNvSpPr/>
          <p:nvPr/>
        </p:nvSpPr>
        <p:spPr>
          <a:xfrm>
            <a:off x="1179576" y="5618988"/>
            <a:ext cx="167640" cy="16764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48384" y="5535168"/>
            <a:ext cx="9655759" cy="335280"/>
          </a:xfrm>
          <a:prstGeom prst="rect">
            <a:avLst/>
          </a:prstGeom>
          <a:noFill/>
        </p:spPr>
        <p:txBody>
          <a:bodyPr wrap="square" anchor="ctr" lIns="0" rIns="0" tIns="0" bIns="0">
            <a:spAutoFit/>
          </a:bodyPr>
          <a:lstStyle/>
          <a:p>
            <a:pPr algn="l">
              <a:lnSpc>
                <a:spcPct val="105000"/>
              </a:lnSpc>
            </a:pPr>
            <a:r>
              <a:rPr sz="1250" b="0" i="0">
                <a:solidFill>
                  <a:srgbClr val="12222E"/>
                </a:solidFill>
                <a:latin typeface="Segoe UI"/>
              </a:rPr>
              <a:t>Maria takes the methodology and the findings.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CONTEXT · THE PROBLEM</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07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Sending image batches is heavy and exposed.</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CONTEXT</a:t>
            </a:r>
          </a:p>
        </p:txBody>
      </p:sp>
      <p:sp>
        <p:nvSpPr>
          <p:cNvPr id="9" name="Rounded Rectangle 8"/>
          <p:cNvSpPr/>
          <p:nvPr/>
        </p:nvSpPr>
        <p:spPr>
          <a:xfrm>
            <a:off x="868680" y="1847088"/>
            <a:ext cx="5067147" cy="22860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47088"/>
            <a:ext cx="5067147"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066543"/>
            <a:ext cx="4335627" cy="365760"/>
          </a:xfrm>
          <a:prstGeom prst="rect">
            <a:avLst/>
          </a:prstGeom>
          <a:noFill/>
        </p:spPr>
        <p:txBody>
          <a:bodyPr wrap="square" anchor="t" lIns="0" rIns="0" tIns="0" bIns="0">
            <a:spAutoFit/>
          </a:bodyPr>
          <a:lstStyle/>
          <a:p>
            <a:pPr algn="l">
              <a:lnSpc>
                <a:spcPct val="120000"/>
              </a:lnSpc>
            </a:pPr>
            <a:r>
              <a:rPr sz="2000" b="1" i="0">
                <a:solidFill>
                  <a:srgbClr val="0A4A47"/>
                </a:solidFill>
                <a:latin typeface="Georgia"/>
              </a:rPr>
              <a:t>HEAVY</a:t>
            </a:r>
          </a:p>
        </p:txBody>
      </p:sp>
      <p:sp>
        <p:nvSpPr>
          <p:cNvPr id="12" name="TextBox 11"/>
          <p:cNvSpPr txBox="1"/>
          <p:nvPr/>
        </p:nvSpPr>
        <p:spPr>
          <a:xfrm>
            <a:off x="1234440" y="2596896"/>
            <a:ext cx="4335627" cy="365760"/>
          </a:xfrm>
          <a:prstGeom prst="rect">
            <a:avLst/>
          </a:prstGeom>
          <a:noFill/>
        </p:spPr>
        <p:txBody>
          <a:bodyPr wrap="square" anchor="t" lIns="0" rIns="0" tIns="0" bIns="0">
            <a:spAutoFit/>
          </a:bodyPr>
          <a:lstStyle/>
          <a:p>
            <a:pPr algn="l">
              <a:lnSpc>
                <a:spcPct val="120000"/>
              </a:lnSpc>
            </a:pPr>
            <a:r>
              <a:rPr sz="2400" b="1" i="0">
                <a:solidFill>
                  <a:srgbClr val="12222E"/>
                </a:solidFill>
                <a:latin typeface="Georgia"/>
              </a:rPr>
              <a:t>786,432</a:t>
            </a:r>
            <a:r>
              <a:rPr sz="1400" b="0" i="0">
                <a:solidFill>
                  <a:srgbClr val="566571"/>
                </a:solidFill>
                <a:latin typeface="Segoe UI"/>
              </a:rPr>
              <a:t>  values per image</a:t>
            </a:r>
          </a:p>
        </p:txBody>
      </p:sp>
      <p:sp>
        <p:nvSpPr>
          <p:cNvPr id="13" name="TextBox 12"/>
          <p:cNvSpPr txBox="1"/>
          <p:nvPr/>
        </p:nvSpPr>
        <p:spPr>
          <a:xfrm>
            <a:off x="1234440" y="3127248"/>
            <a:ext cx="4335627" cy="731520"/>
          </a:xfrm>
          <a:prstGeom prst="rect">
            <a:avLst/>
          </a:prstGeom>
          <a:noFill/>
        </p:spPr>
        <p:txBody>
          <a:bodyPr wrap="square" anchor="t" lIns="0" rIns="0" tIns="0" bIns="0">
            <a:spAutoFit/>
          </a:bodyPr>
          <a:lstStyle/>
          <a:p>
            <a:pPr algn="l">
              <a:lnSpc>
                <a:spcPct val="120000"/>
              </a:lnSpc>
            </a:pPr>
            <a:r>
              <a:rPr sz="1450" b="0" i="0">
                <a:solidFill>
                  <a:srgbClr val="12222E"/>
                </a:solidFill>
                <a:latin typeface="Segoe UI"/>
              </a:rPr>
              <a:t>× N in a batch — scan series, satellite, surveillance.</a:t>
            </a:r>
          </a:p>
        </p:txBody>
      </p:sp>
      <p:sp>
        <p:nvSpPr>
          <p:cNvPr id="14" name="Rounded Rectangle 13"/>
          <p:cNvSpPr/>
          <p:nvPr/>
        </p:nvSpPr>
        <p:spPr>
          <a:xfrm>
            <a:off x="6393027" y="1847088"/>
            <a:ext cx="5067147" cy="22860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93027" y="1847088"/>
            <a:ext cx="5067147" cy="9144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8787" y="2066543"/>
            <a:ext cx="4335627" cy="365760"/>
          </a:xfrm>
          <a:prstGeom prst="rect">
            <a:avLst/>
          </a:prstGeom>
          <a:noFill/>
        </p:spPr>
        <p:txBody>
          <a:bodyPr wrap="square" anchor="t" lIns="0" rIns="0" tIns="0" bIns="0">
            <a:spAutoFit/>
          </a:bodyPr>
          <a:lstStyle/>
          <a:p>
            <a:pPr algn="l">
              <a:lnSpc>
                <a:spcPct val="120000"/>
              </a:lnSpc>
            </a:pPr>
            <a:r>
              <a:rPr sz="2000" b="1" i="0">
                <a:solidFill>
                  <a:srgbClr val="C2710C"/>
                </a:solidFill>
                <a:latin typeface="Georgia"/>
              </a:rPr>
              <a:t>EXPOSED</a:t>
            </a:r>
          </a:p>
        </p:txBody>
      </p:sp>
      <p:sp>
        <p:nvSpPr>
          <p:cNvPr id="17" name="TextBox 16"/>
          <p:cNvSpPr txBox="1"/>
          <p:nvPr/>
        </p:nvSpPr>
        <p:spPr>
          <a:xfrm>
            <a:off x="6758787" y="2596896"/>
            <a:ext cx="4335627" cy="1188720"/>
          </a:xfrm>
          <a:prstGeom prst="rect">
            <a:avLst/>
          </a:prstGeom>
          <a:noFill/>
        </p:spPr>
        <p:txBody>
          <a:bodyPr wrap="square" anchor="t" lIns="0" rIns="0" tIns="0" bIns="0">
            <a:spAutoFit/>
          </a:bodyPr>
          <a:lstStyle/>
          <a:p>
            <a:pPr algn="l">
              <a:lnSpc>
                <a:spcPct val="125000"/>
              </a:lnSpc>
            </a:pPr>
            <a:r>
              <a:rPr sz="1600" b="0" i="0">
                <a:solidFill>
                  <a:srgbClr val="12222E"/>
                </a:solidFill>
                <a:latin typeface="Segoe UI"/>
              </a:rPr>
              <a:t>Raw pixels travel in the clear — anyone on the link can read them.</a:t>
            </a:r>
          </a:p>
        </p:txBody>
      </p:sp>
      <p:sp>
        <p:nvSpPr>
          <p:cNvPr id="18" name="Rounded Rectangle 17"/>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usual fix for size is compression.</a:t>
            </a:r>
          </a:p>
        </p:txBody>
      </p:sp>
      <p:sp>
        <p:nvSpPr>
          <p:cNvPr id="22" name="Rounded Rectangle 21"/>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usual fix for privacy is encryption.</a:t>
            </a:r>
          </a:p>
        </p:txBody>
      </p:sp>
      <p:sp>
        <p:nvSpPr>
          <p:cNvPr id="24" name="Rounded Rectangle 23"/>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This paper does both — on the whole batch, in one pass.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566571"/>
                </a:solidFill>
                <a:latin typeface="Segoe UI Semibold"/>
              </a:rPr>
              <a:t>CONTEXT · WHO NEEDS THIS</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08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Where does this actually matter?</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CONTEXT</a:t>
            </a:r>
          </a:p>
        </p:txBody>
      </p:sp>
      <p:sp>
        <p:nvSpPr>
          <p:cNvPr id="9" name="Rounded Rectangle 8"/>
          <p:cNvSpPr/>
          <p:nvPr/>
        </p:nvSpPr>
        <p:spPr>
          <a:xfrm>
            <a:off x="868680" y="1984248"/>
            <a:ext cx="237355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984248"/>
            <a:ext cx="237355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304288"/>
            <a:ext cx="1916353" cy="457200"/>
          </a:xfrm>
          <a:prstGeom prst="rect">
            <a:avLst/>
          </a:prstGeom>
          <a:noFill/>
        </p:spPr>
        <p:txBody>
          <a:bodyPr wrap="square" anchor="t" lIns="0" rIns="0" tIns="0" bIns="0">
            <a:spAutoFit/>
          </a:bodyPr>
          <a:lstStyle/>
          <a:p>
            <a:pPr algn="l">
              <a:lnSpc>
                <a:spcPct val="120000"/>
              </a:lnSpc>
            </a:pPr>
            <a:r>
              <a:rPr sz="1800" b="1" i="0">
                <a:solidFill>
                  <a:srgbClr val="0A4A47"/>
                </a:solidFill>
                <a:latin typeface="Georgia"/>
              </a:rPr>
              <a:t>Medical</a:t>
            </a:r>
          </a:p>
        </p:txBody>
      </p:sp>
      <p:sp>
        <p:nvSpPr>
          <p:cNvPr id="12" name="TextBox 11"/>
          <p:cNvSpPr txBox="1"/>
          <p:nvPr/>
        </p:nvSpPr>
        <p:spPr>
          <a:xfrm>
            <a:off x="1097280" y="2898648"/>
            <a:ext cx="1916353" cy="1005840"/>
          </a:xfrm>
          <a:prstGeom prst="rect">
            <a:avLst/>
          </a:prstGeom>
          <a:noFill/>
        </p:spPr>
        <p:txBody>
          <a:bodyPr wrap="square" anchor="t" lIns="0" rIns="0" tIns="0" bIns="0">
            <a:spAutoFit/>
          </a:bodyPr>
          <a:lstStyle/>
          <a:p>
            <a:pPr algn="l">
              <a:lnSpc>
                <a:spcPct val="125000"/>
              </a:lnSpc>
            </a:pPr>
            <a:r>
              <a:rPr sz="1350" b="0" i="0">
                <a:solidFill>
                  <a:srgbClr val="12222E"/>
                </a:solidFill>
                <a:latin typeface="Segoe UI"/>
              </a:rPr>
              <a:t>MRI / CT scan series shared between hospitals</a:t>
            </a:r>
          </a:p>
        </p:txBody>
      </p:sp>
      <p:sp>
        <p:nvSpPr>
          <p:cNvPr id="13" name="Rounded Rectangle 12"/>
          <p:cNvSpPr/>
          <p:nvPr/>
        </p:nvSpPr>
        <p:spPr>
          <a:xfrm>
            <a:off x="3607993" y="1984248"/>
            <a:ext cx="237355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07993" y="1984248"/>
            <a:ext cx="237355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36593" y="2304288"/>
            <a:ext cx="1916353" cy="457200"/>
          </a:xfrm>
          <a:prstGeom prst="rect">
            <a:avLst/>
          </a:prstGeom>
          <a:noFill/>
        </p:spPr>
        <p:txBody>
          <a:bodyPr wrap="square" anchor="t" lIns="0" rIns="0" tIns="0" bIns="0">
            <a:spAutoFit/>
          </a:bodyPr>
          <a:lstStyle/>
          <a:p>
            <a:pPr algn="l">
              <a:lnSpc>
                <a:spcPct val="120000"/>
              </a:lnSpc>
            </a:pPr>
            <a:r>
              <a:rPr sz="1800" b="1" i="0">
                <a:solidFill>
                  <a:srgbClr val="0A4A47"/>
                </a:solidFill>
                <a:latin typeface="Georgia"/>
              </a:rPr>
              <a:t>Satellite</a:t>
            </a:r>
          </a:p>
        </p:txBody>
      </p:sp>
      <p:sp>
        <p:nvSpPr>
          <p:cNvPr id="16" name="TextBox 15"/>
          <p:cNvSpPr txBox="1"/>
          <p:nvPr/>
        </p:nvSpPr>
        <p:spPr>
          <a:xfrm>
            <a:off x="3836593" y="2898648"/>
            <a:ext cx="1916353" cy="1005840"/>
          </a:xfrm>
          <a:prstGeom prst="rect">
            <a:avLst/>
          </a:prstGeom>
          <a:noFill/>
        </p:spPr>
        <p:txBody>
          <a:bodyPr wrap="square" anchor="t" lIns="0" rIns="0" tIns="0" bIns="0">
            <a:spAutoFit/>
          </a:bodyPr>
          <a:lstStyle/>
          <a:p>
            <a:pPr algn="l">
              <a:lnSpc>
                <a:spcPct val="125000"/>
              </a:lnSpc>
            </a:pPr>
            <a:r>
              <a:rPr sz="1350" b="0" i="0">
                <a:solidFill>
                  <a:srgbClr val="12222E"/>
                </a:solidFill>
                <a:latin typeface="Segoe UI"/>
              </a:rPr>
              <a:t>large archives of earth-observation imagery</a:t>
            </a:r>
          </a:p>
        </p:txBody>
      </p:sp>
      <p:sp>
        <p:nvSpPr>
          <p:cNvPr id="17" name="Rounded Rectangle 16"/>
          <p:cNvSpPr/>
          <p:nvPr/>
        </p:nvSpPr>
        <p:spPr>
          <a:xfrm>
            <a:off x="6347307" y="1984248"/>
            <a:ext cx="237355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47307" y="1984248"/>
            <a:ext cx="237355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5907" y="2304288"/>
            <a:ext cx="1916353" cy="457200"/>
          </a:xfrm>
          <a:prstGeom prst="rect">
            <a:avLst/>
          </a:prstGeom>
          <a:noFill/>
        </p:spPr>
        <p:txBody>
          <a:bodyPr wrap="square" anchor="t" lIns="0" rIns="0" tIns="0" bIns="0">
            <a:spAutoFit/>
          </a:bodyPr>
          <a:lstStyle/>
          <a:p>
            <a:pPr algn="l">
              <a:lnSpc>
                <a:spcPct val="120000"/>
              </a:lnSpc>
            </a:pPr>
            <a:r>
              <a:rPr sz="1800" b="1" i="0">
                <a:solidFill>
                  <a:srgbClr val="0A4A47"/>
                </a:solidFill>
                <a:latin typeface="Georgia"/>
              </a:rPr>
              <a:t>Surveillance</a:t>
            </a:r>
          </a:p>
        </p:txBody>
      </p:sp>
      <p:sp>
        <p:nvSpPr>
          <p:cNvPr id="20" name="TextBox 19"/>
          <p:cNvSpPr txBox="1"/>
          <p:nvPr/>
        </p:nvSpPr>
        <p:spPr>
          <a:xfrm>
            <a:off x="6575907" y="2898648"/>
            <a:ext cx="1916353" cy="1005840"/>
          </a:xfrm>
          <a:prstGeom prst="rect">
            <a:avLst/>
          </a:prstGeom>
          <a:noFill/>
        </p:spPr>
        <p:txBody>
          <a:bodyPr wrap="square" anchor="t" lIns="0" rIns="0" tIns="0" bIns="0">
            <a:spAutoFit/>
          </a:bodyPr>
          <a:lstStyle/>
          <a:p>
            <a:pPr algn="l">
              <a:lnSpc>
                <a:spcPct val="125000"/>
              </a:lnSpc>
            </a:pPr>
            <a:r>
              <a:rPr sz="1350" b="0" i="0">
                <a:solidFill>
                  <a:srgbClr val="12222E"/>
                </a:solidFill>
                <a:latin typeface="Segoe UI"/>
              </a:rPr>
              <a:t>banks of camera feeds stored together</a:t>
            </a:r>
          </a:p>
        </p:txBody>
      </p:sp>
      <p:sp>
        <p:nvSpPr>
          <p:cNvPr id="21" name="Rounded Rectangle 20"/>
          <p:cNvSpPr/>
          <p:nvPr/>
        </p:nvSpPr>
        <p:spPr>
          <a:xfrm>
            <a:off x="9086621" y="1984248"/>
            <a:ext cx="237355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86621" y="1984248"/>
            <a:ext cx="237355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15221" y="2304288"/>
            <a:ext cx="1916353" cy="457200"/>
          </a:xfrm>
          <a:prstGeom prst="rect">
            <a:avLst/>
          </a:prstGeom>
          <a:noFill/>
        </p:spPr>
        <p:txBody>
          <a:bodyPr wrap="square" anchor="t" lIns="0" rIns="0" tIns="0" bIns="0">
            <a:spAutoFit/>
          </a:bodyPr>
          <a:lstStyle/>
          <a:p>
            <a:pPr algn="l">
              <a:lnSpc>
                <a:spcPct val="120000"/>
              </a:lnSpc>
            </a:pPr>
            <a:r>
              <a:rPr sz="1800" b="1" i="0">
                <a:solidFill>
                  <a:srgbClr val="0A4A47"/>
                </a:solidFill>
                <a:latin typeface="Georgia"/>
              </a:rPr>
              <a:t>Cloud backup</a:t>
            </a:r>
          </a:p>
        </p:txBody>
      </p:sp>
      <p:sp>
        <p:nvSpPr>
          <p:cNvPr id="24" name="TextBox 23"/>
          <p:cNvSpPr txBox="1"/>
          <p:nvPr/>
        </p:nvSpPr>
        <p:spPr>
          <a:xfrm>
            <a:off x="9315221" y="2898648"/>
            <a:ext cx="1916353" cy="1005840"/>
          </a:xfrm>
          <a:prstGeom prst="rect">
            <a:avLst/>
          </a:prstGeom>
          <a:noFill/>
        </p:spPr>
        <p:txBody>
          <a:bodyPr wrap="square" anchor="t" lIns="0" rIns="0" tIns="0" bIns="0">
            <a:spAutoFit/>
          </a:bodyPr>
          <a:lstStyle/>
          <a:p>
            <a:pPr algn="l">
              <a:lnSpc>
                <a:spcPct val="125000"/>
              </a:lnSpc>
            </a:pPr>
            <a:r>
              <a:rPr sz="1350" b="0" i="0">
                <a:solidFill>
                  <a:srgbClr val="12222E"/>
                </a:solidFill>
                <a:latin typeface="Segoe UI"/>
              </a:rPr>
              <a:t>a whole photo library pushed up at once</a:t>
            </a:r>
          </a:p>
        </p:txBody>
      </p:sp>
      <p:sp>
        <p:nvSpPr>
          <p:cNvPr id="25" name="Rounded Rectangle 24"/>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In every case you send many sensitive images together.</a:t>
            </a:r>
          </a:p>
        </p:txBody>
      </p:sp>
      <p:sp>
        <p:nvSpPr>
          <p:cNvPr id="29" name="Rounded Rectangle 28"/>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Bandwidth is tight, so you want them small.</a:t>
            </a:r>
          </a:p>
        </p:txBody>
      </p:sp>
      <p:sp>
        <p:nvSpPr>
          <p:cNvPr id="31" name="Rounded Rectangle 30"/>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They're private, so you want them encrypted.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B2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60120"/>
            <a:ext cx="5486400" cy="365760"/>
          </a:xfrm>
          <a:prstGeom prst="rect">
            <a:avLst/>
          </a:prstGeom>
          <a:noFill/>
        </p:spPr>
        <p:txBody>
          <a:bodyPr wrap="square" anchor="t" lIns="0" rIns="0" tIns="0" bIns="0">
            <a:spAutoFit/>
          </a:bodyPr>
          <a:lstStyle/>
          <a:p>
            <a:pPr algn="l">
              <a:lnSpc>
                <a:spcPct val="120000"/>
              </a:lnSpc>
            </a:pPr>
            <a:r>
              <a:rPr sz="1300" b="1" i="0">
                <a:solidFill>
                  <a:srgbClr val="8FA6B0"/>
                </a:solidFill>
                <a:latin typeface="Segoe UI Semibold"/>
              </a:rPr>
              <a:t>PART 1 OF 3</a:t>
            </a:r>
          </a:p>
        </p:txBody>
      </p:sp>
      <p:sp>
        <p:nvSpPr>
          <p:cNvPr id="4" name="TextBox 3"/>
          <p:cNvSpPr txBox="1"/>
          <p:nvPr/>
        </p:nvSpPr>
        <p:spPr>
          <a:xfrm>
            <a:off x="7680960" y="457200"/>
            <a:ext cx="4297680" cy="3840480"/>
          </a:xfrm>
          <a:prstGeom prst="rect">
            <a:avLst/>
          </a:prstGeom>
          <a:noFill/>
        </p:spPr>
        <p:txBody>
          <a:bodyPr wrap="square" anchor="ctr" lIns="0" rIns="0" tIns="0" bIns="0">
            <a:spAutoFit/>
          </a:bodyPr>
          <a:lstStyle/>
          <a:p>
            <a:pPr algn="r">
              <a:lnSpc>
                <a:spcPct val="120000"/>
              </a:lnSpc>
            </a:pPr>
            <a:r>
              <a:rPr sz="30000" b="1" i="0">
                <a:solidFill>
                  <a:srgbClr val="173541"/>
                </a:solidFill>
                <a:latin typeface="Georgia"/>
              </a:rPr>
              <a:t>1</a:t>
            </a:r>
          </a:p>
        </p:txBody>
      </p:sp>
      <p:sp>
        <p:nvSpPr>
          <p:cNvPr id="5" name="TextBox 4"/>
          <p:cNvSpPr txBox="1"/>
          <p:nvPr/>
        </p:nvSpPr>
        <p:spPr>
          <a:xfrm>
            <a:off x="868680" y="2148840"/>
            <a:ext cx="10515600" cy="1554480"/>
          </a:xfrm>
          <a:prstGeom prst="rect">
            <a:avLst/>
          </a:prstGeom>
          <a:noFill/>
        </p:spPr>
        <p:txBody>
          <a:bodyPr wrap="square" anchor="t" lIns="0" rIns="0" tIns="0" bIns="0">
            <a:spAutoFit/>
          </a:bodyPr>
          <a:lstStyle/>
          <a:p>
            <a:pPr algn="l">
              <a:lnSpc>
                <a:spcPct val="120000"/>
              </a:lnSpc>
            </a:pPr>
            <a:r>
              <a:rPr sz="9200" b="1" i="0">
                <a:solidFill>
                  <a:srgbClr val="0E7C7B"/>
                </a:solidFill>
                <a:latin typeface="Georgia"/>
              </a:rPr>
              <a:t>Novelty</a:t>
            </a:r>
          </a:p>
        </p:txBody>
      </p:sp>
      <p:sp>
        <p:nvSpPr>
          <p:cNvPr id="6" name="TextBox 5"/>
          <p:cNvSpPr txBox="1"/>
          <p:nvPr/>
        </p:nvSpPr>
        <p:spPr>
          <a:xfrm>
            <a:off x="868680" y="4069080"/>
            <a:ext cx="9144000" cy="548640"/>
          </a:xfrm>
          <a:prstGeom prst="rect">
            <a:avLst/>
          </a:prstGeom>
          <a:noFill/>
        </p:spPr>
        <p:txBody>
          <a:bodyPr wrap="square" anchor="t" lIns="0" rIns="0" tIns="0" bIns="0">
            <a:spAutoFit/>
          </a:bodyPr>
          <a:lstStyle/>
          <a:p>
            <a:pPr algn="l">
              <a:lnSpc>
                <a:spcPct val="120000"/>
              </a:lnSpc>
            </a:pPr>
            <a:r>
              <a:rPr sz="2600" b="0" i="1">
                <a:solidFill>
                  <a:srgbClr val="FFFFFF"/>
                </a:solidFill>
                <a:latin typeface="Georgia"/>
              </a:rPr>
              <a:t>What is genuinely new in this paper?</a:t>
            </a:r>
          </a:p>
        </p:txBody>
      </p:sp>
      <p:cxnSp>
        <p:nvCxnSpPr>
          <p:cNvPr id="7" name="Connector 6"/>
          <p:cNvCxnSpPr/>
          <p:nvPr/>
        </p:nvCxnSpPr>
        <p:spPr>
          <a:xfrm>
            <a:off x="868680" y="4846320"/>
            <a:ext cx="5029200" cy="0"/>
          </a:xfrm>
          <a:prstGeom prst="line">
            <a:avLst/>
          </a:prstGeom>
          <a:ln w="25400">
            <a:solidFill>
              <a:srgbClr val="17354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5074920"/>
            <a:ext cx="9601200" cy="548640"/>
          </a:xfrm>
          <a:prstGeom prst="rect">
            <a:avLst/>
          </a:prstGeom>
          <a:noFill/>
        </p:spPr>
        <p:txBody>
          <a:bodyPr wrap="square" anchor="t" lIns="0" rIns="0" tIns="0" bIns="0">
            <a:spAutoFit/>
          </a:bodyPr>
          <a:lstStyle/>
          <a:p>
            <a:pPr algn="l">
              <a:lnSpc>
                <a:spcPct val="125000"/>
              </a:lnSpc>
            </a:pPr>
            <a:r>
              <a:rPr sz="1450" b="0" i="0">
                <a:solidFill>
                  <a:srgbClr val="AFC1CB"/>
                </a:solidFill>
                <a:latin typeface="Segoe UI"/>
              </a:rPr>
              <a:t>Most schemes encrypt one image at a time. This one treats the whole batch as a single object.</a:t>
            </a:r>
          </a:p>
        </p:txBody>
      </p:sp>
      <p:sp>
        <p:nvSpPr>
          <p:cNvPr id="9" name="TextBox 8"/>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46606C"/>
                </a:solidFill>
                <a:latin typeface="Segoe UI"/>
              </a:rPr>
              <a:t>CMP4221 · Multimedia Systems   |   Xu, Gao, Cao &amp; Mou · ACM TOMM, Vol. 22(3), 2026 · DOI 10.1145/3769123</a:t>
            </a:r>
          </a:p>
        </p:txBody>
      </p:sp>
      <p:sp>
        <p:nvSpPr>
          <p:cNvPr id="10" name="TextBox 9"/>
          <p:cNvSpPr txBox="1"/>
          <p:nvPr/>
        </p:nvSpPr>
        <p:spPr>
          <a:xfrm>
            <a:off x="9997135" y="6455664"/>
            <a:ext cx="1463040" cy="228600"/>
          </a:xfrm>
          <a:prstGeom prst="rect">
            <a:avLst/>
          </a:prstGeom>
          <a:noFill/>
        </p:spPr>
        <p:txBody>
          <a:bodyPr wrap="square" anchor="t" lIns="0" rIns="0" tIns="0" bIns="0">
            <a:spAutoFit/>
          </a:bodyPr>
          <a:lstStyle/>
          <a:p>
            <a:pPr algn="r">
              <a:lnSpc>
                <a:spcPct val="120000"/>
              </a:lnSpc>
            </a:pPr>
            <a:r>
              <a:rPr sz="900" b="1" i="0">
                <a:solidFill>
                  <a:srgbClr val="46606C"/>
                </a:solidFill>
                <a:latin typeface="Segoe UI Semibold"/>
              </a:rPr>
              <a:t>09 / 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BUILDING BLOCK</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10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An image is just a grid of numbers.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pic>
        <p:nvPicPr>
          <p:cNvPr id="9" name="Picture 8" descr="source.png"/>
          <p:cNvPicPr>
            <a:picLocks noChangeAspect="1"/>
          </p:cNvPicPr>
          <p:nvPr/>
        </p:nvPicPr>
        <p:blipFill>
          <a:blip r:embed="rId2"/>
          <a:stretch>
            <a:fillRect/>
          </a:stretch>
        </p:blipFill>
        <p:spPr>
          <a:xfrm>
            <a:off x="1097280" y="1938528"/>
            <a:ext cx="1920240" cy="1920240"/>
          </a:xfrm>
          <a:prstGeom prst="rect">
            <a:avLst/>
          </a:prstGeom>
          <a:effectLst/>
        </p:spPr>
      </p:pic>
      <p:sp>
        <p:nvSpPr>
          <p:cNvPr id="10" name="Rectangle 9"/>
          <p:cNvSpPr/>
          <p:nvPr/>
        </p:nvSpPr>
        <p:spPr>
          <a:xfrm>
            <a:off x="1097280" y="1938528"/>
            <a:ext cx="1920240" cy="192024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950208"/>
            <a:ext cx="1920240" cy="228600"/>
          </a:xfrm>
          <a:prstGeom prst="rect">
            <a:avLst/>
          </a:prstGeom>
          <a:noFill/>
        </p:spPr>
        <p:txBody>
          <a:bodyPr wrap="square" anchor="t" lIns="0" rIns="0" tIns="0" bIns="0">
            <a:spAutoFit/>
          </a:bodyPr>
          <a:lstStyle/>
          <a:p>
            <a:pPr algn="ctr">
              <a:lnSpc>
                <a:spcPct val="120000"/>
              </a:lnSpc>
            </a:pPr>
            <a:r>
              <a:rPr sz="1100" b="0" i="1">
                <a:solidFill>
                  <a:srgbClr val="566571"/>
                </a:solidFill>
                <a:latin typeface="Segoe UI Semibold"/>
              </a:rPr>
              <a:t>our test image</a:t>
            </a:r>
          </a:p>
        </p:txBody>
      </p:sp>
      <p:cxnSp>
        <p:nvCxnSpPr>
          <p:cNvPr id="12" name="Connector 11"/>
          <p:cNvCxnSpPr/>
          <p:nvPr/>
        </p:nvCxnSpPr>
        <p:spPr>
          <a:xfrm>
            <a:off x="3337560" y="2898648"/>
            <a:ext cx="685800" cy="0"/>
          </a:xfrm>
          <a:prstGeom prst="line">
            <a:avLst/>
          </a:prstGeom>
          <a:ln w="3302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43400" y="1938528"/>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938528"/>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182</a:t>
            </a:r>
          </a:p>
        </p:txBody>
      </p:sp>
      <p:sp>
        <p:nvSpPr>
          <p:cNvPr id="15" name="Rectangle 14"/>
          <p:cNvSpPr/>
          <p:nvPr/>
        </p:nvSpPr>
        <p:spPr>
          <a:xfrm>
            <a:off x="4745736" y="1938528"/>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5736" y="1938528"/>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176</a:t>
            </a:r>
          </a:p>
        </p:txBody>
      </p:sp>
      <p:sp>
        <p:nvSpPr>
          <p:cNvPr id="17" name="Rectangle 16"/>
          <p:cNvSpPr/>
          <p:nvPr/>
        </p:nvSpPr>
        <p:spPr>
          <a:xfrm>
            <a:off x="5148072" y="1938528"/>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8072" y="1938528"/>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160</a:t>
            </a:r>
          </a:p>
        </p:txBody>
      </p:sp>
      <p:sp>
        <p:nvSpPr>
          <p:cNvPr id="19" name="Rectangle 18"/>
          <p:cNvSpPr/>
          <p:nvPr/>
        </p:nvSpPr>
        <p:spPr>
          <a:xfrm>
            <a:off x="5550408" y="1938528"/>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1938528"/>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120</a:t>
            </a:r>
          </a:p>
        </p:txBody>
      </p:sp>
      <p:sp>
        <p:nvSpPr>
          <p:cNvPr id="21" name="Rectangle 20"/>
          <p:cNvSpPr/>
          <p:nvPr/>
        </p:nvSpPr>
        <p:spPr>
          <a:xfrm>
            <a:off x="5952744" y="1938528"/>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52744" y="1938528"/>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88</a:t>
            </a:r>
          </a:p>
        </p:txBody>
      </p:sp>
      <p:sp>
        <p:nvSpPr>
          <p:cNvPr id="23" name="Rectangle 22"/>
          <p:cNvSpPr/>
          <p:nvPr/>
        </p:nvSpPr>
        <p:spPr>
          <a:xfrm>
            <a:off x="4343400" y="2340864"/>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2340864"/>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190</a:t>
            </a:r>
          </a:p>
        </p:txBody>
      </p:sp>
      <p:sp>
        <p:nvSpPr>
          <p:cNvPr id="25" name="Rectangle 24"/>
          <p:cNvSpPr/>
          <p:nvPr/>
        </p:nvSpPr>
        <p:spPr>
          <a:xfrm>
            <a:off x="4745736" y="2340864"/>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45736" y="2340864"/>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184</a:t>
            </a:r>
          </a:p>
        </p:txBody>
      </p:sp>
      <p:sp>
        <p:nvSpPr>
          <p:cNvPr id="27" name="Rectangle 26"/>
          <p:cNvSpPr/>
          <p:nvPr/>
        </p:nvSpPr>
        <p:spPr>
          <a:xfrm>
            <a:off x="5148072" y="2340864"/>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8072" y="2340864"/>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150</a:t>
            </a:r>
          </a:p>
        </p:txBody>
      </p:sp>
      <p:sp>
        <p:nvSpPr>
          <p:cNvPr id="29" name="Rectangle 28"/>
          <p:cNvSpPr/>
          <p:nvPr/>
        </p:nvSpPr>
        <p:spPr>
          <a:xfrm>
            <a:off x="5550408" y="2340864"/>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50408" y="2340864"/>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96</a:t>
            </a:r>
          </a:p>
        </p:txBody>
      </p:sp>
      <p:sp>
        <p:nvSpPr>
          <p:cNvPr id="31" name="Rectangle 30"/>
          <p:cNvSpPr/>
          <p:nvPr/>
        </p:nvSpPr>
        <p:spPr>
          <a:xfrm>
            <a:off x="5952744" y="2340864"/>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52744" y="2340864"/>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70</a:t>
            </a:r>
          </a:p>
        </p:txBody>
      </p:sp>
      <p:sp>
        <p:nvSpPr>
          <p:cNvPr id="33" name="Rectangle 32"/>
          <p:cNvSpPr/>
          <p:nvPr/>
        </p:nvSpPr>
        <p:spPr>
          <a:xfrm>
            <a:off x="4343400" y="2743200"/>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43400" y="2743200"/>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201</a:t>
            </a:r>
          </a:p>
        </p:txBody>
      </p:sp>
      <p:sp>
        <p:nvSpPr>
          <p:cNvPr id="35" name="Rectangle 34"/>
          <p:cNvSpPr/>
          <p:nvPr/>
        </p:nvSpPr>
        <p:spPr>
          <a:xfrm>
            <a:off x="4745736" y="2743200"/>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45736" y="2743200"/>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188</a:t>
            </a:r>
          </a:p>
        </p:txBody>
      </p:sp>
      <p:sp>
        <p:nvSpPr>
          <p:cNvPr id="37" name="Rectangle 36"/>
          <p:cNvSpPr/>
          <p:nvPr/>
        </p:nvSpPr>
        <p:spPr>
          <a:xfrm>
            <a:off x="5148072" y="2743200"/>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48072" y="2743200"/>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130</a:t>
            </a:r>
          </a:p>
        </p:txBody>
      </p:sp>
      <p:sp>
        <p:nvSpPr>
          <p:cNvPr id="39" name="Rectangle 38"/>
          <p:cNvSpPr/>
          <p:nvPr/>
        </p:nvSpPr>
        <p:spPr>
          <a:xfrm>
            <a:off x="5550408" y="2743200"/>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50408" y="2743200"/>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80</a:t>
            </a:r>
          </a:p>
        </p:txBody>
      </p:sp>
      <p:sp>
        <p:nvSpPr>
          <p:cNvPr id="41" name="Rectangle 40"/>
          <p:cNvSpPr/>
          <p:nvPr/>
        </p:nvSpPr>
        <p:spPr>
          <a:xfrm>
            <a:off x="5952744" y="2743200"/>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52744" y="2743200"/>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64</a:t>
            </a:r>
          </a:p>
        </p:txBody>
      </p:sp>
      <p:sp>
        <p:nvSpPr>
          <p:cNvPr id="43" name="Rectangle 42"/>
          <p:cNvSpPr/>
          <p:nvPr/>
        </p:nvSpPr>
        <p:spPr>
          <a:xfrm>
            <a:off x="4343400" y="3145536"/>
            <a:ext cx="402336" cy="402336"/>
          </a:xfrm>
          <a:prstGeom prst="rect">
            <a:avLst/>
          </a:prstGeom>
          <a:solidFill>
            <a:srgbClr val="E4F2F1"/>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43400" y="3145536"/>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176</a:t>
            </a:r>
          </a:p>
        </p:txBody>
      </p:sp>
      <p:sp>
        <p:nvSpPr>
          <p:cNvPr id="45" name="Rectangle 44"/>
          <p:cNvSpPr/>
          <p:nvPr/>
        </p:nvSpPr>
        <p:spPr>
          <a:xfrm>
            <a:off x="4745736" y="3145536"/>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45736" y="3145536"/>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150</a:t>
            </a:r>
          </a:p>
        </p:txBody>
      </p:sp>
      <p:sp>
        <p:nvSpPr>
          <p:cNvPr id="47" name="Rectangle 46"/>
          <p:cNvSpPr/>
          <p:nvPr/>
        </p:nvSpPr>
        <p:spPr>
          <a:xfrm>
            <a:off x="5148072" y="3145536"/>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48072" y="3145536"/>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110</a:t>
            </a:r>
          </a:p>
        </p:txBody>
      </p:sp>
      <p:sp>
        <p:nvSpPr>
          <p:cNvPr id="49" name="Rectangle 48"/>
          <p:cNvSpPr/>
          <p:nvPr/>
        </p:nvSpPr>
        <p:spPr>
          <a:xfrm>
            <a:off x="5550408" y="3145536"/>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50408" y="3145536"/>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92</a:t>
            </a:r>
          </a:p>
        </p:txBody>
      </p:sp>
      <p:sp>
        <p:nvSpPr>
          <p:cNvPr id="51" name="Rectangle 50"/>
          <p:cNvSpPr/>
          <p:nvPr/>
        </p:nvSpPr>
        <p:spPr>
          <a:xfrm>
            <a:off x="5952744" y="3145536"/>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52744" y="3145536"/>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78</a:t>
            </a:r>
          </a:p>
        </p:txBody>
      </p:sp>
      <p:sp>
        <p:nvSpPr>
          <p:cNvPr id="53" name="Rectangle 52"/>
          <p:cNvSpPr/>
          <p:nvPr/>
        </p:nvSpPr>
        <p:spPr>
          <a:xfrm>
            <a:off x="4343400" y="3547872"/>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43400" y="3547872"/>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120</a:t>
            </a:r>
          </a:p>
        </p:txBody>
      </p:sp>
      <p:sp>
        <p:nvSpPr>
          <p:cNvPr id="55" name="Rectangle 54"/>
          <p:cNvSpPr/>
          <p:nvPr/>
        </p:nvSpPr>
        <p:spPr>
          <a:xfrm>
            <a:off x="4745736" y="3547872"/>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45736" y="3547872"/>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96</a:t>
            </a:r>
          </a:p>
        </p:txBody>
      </p:sp>
      <p:sp>
        <p:nvSpPr>
          <p:cNvPr id="57" name="Rectangle 56"/>
          <p:cNvSpPr/>
          <p:nvPr/>
        </p:nvSpPr>
        <p:spPr>
          <a:xfrm>
            <a:off x="5148072" y="3547872"/>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48072" y="3547872"/>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84</a:t>
            </a:r>
          </a:p>
        </p:txBody>
      </p:sp>
      <p:sp>
        <p:nvSpPr>
          <p:cNvPr id="59" name="Rectangle 58"/>
          <p:cNvSpPr/>
          <p:nvPr/>
        </p:nvSpPr>
        <p:spPr>
          <a:xfrm>
            <a:off x="5550408" y="3547872"/>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550408" y="3547872"/>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100</a:t>
            </a:r>
          </a:p>
        </p:txBody>
      </p:sp>
      <p:sp>
        <p:nvSpPr>
          <p:cNvPr id="61" name="Rectangle 60"/>
          <p:cNvSpPr/>
          <p:nvPr/>
        </p:nvSpPr>
        <p:spPr>
          <a:xfrm>
            <a:off x="5952744" y="3547872"/>
            <a:ext cx="402336" cy="402336"/>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52744" y="3547872"/>
            <a:ext cx="402336" cy="402336"/>
          </a:xfrm>
          <a:prstGeom prst="rect">
            <a:avLst/>
          </a:prstGeom>
          <a:noFill/>
        </p:spPr>
        <p:txBody>
          <a:bodyPr wrap="square" anchor="ctr" lIns="0" rIns="0" tIns="0" bIns="0">
            <a:spAutoFit/>
          </a:bodyPr>
          <a:lstStyle/>
          <a:p>
            <a:pPr algn="ctr">
              <a:lnSpc>
                <a:spcPct val="120000"/>
              </a:lnSpc>
            </a:pPr>
            <a:r>
              <a:rPr sz="1100" b="0" i="0">
                <a:solidFill>
                  <a:srgbClr val="12222E"/>
                </a:solidFill>
                <a:latin typeface="Consolas"/>
              </a:rPr>
              <a:t>130</a:t>
            </a:r>
          </a:p>
        </p:txBody>
      </p:sp>
      <p:sp>
        <p:nvSpPr>
          <p:cNvPr id="63" name="TextBox 62"/>
          <p:cNvSpPr txBox="1"/>
          <p:nvPr/>
        </p:nvSpPr>
        <p:spPr>
          <a:xfrm>
            <a:off x="4343400" y="4023360"/>
            <a:ext cx="2011680" cy="228600"/>
          </a:xfrm>
          <a:prstGeom prst="rect">
            <a:avLst/>
          </a:prstGeom>
          <a:noFill/>
        </p:spPr>
        <p:txBody>
          <a:bodyPr wrap="square" anchor="t" lIns="0" rIns="0" tIns="0" bIns="0">
            <a:spAutoFit/>
          </a:bodyPr>
          <a:lstStyle/>
          <a:p>
            <a:pPr algn="ctr">
              <a:lnSpc>
                <a:spcPct val="120000"/>
              </a:lnSpc>
            </a:pPr>
            <a:r>
              <a:rPr sz="1100" b="0" i="1">
                <a:solidFill>
                  <a:srgbClr val="566571"/>
                </a:solidFill>
                <a:latin typeface="Segoe UI"/>
              </a:rPr>
              <a:t>pixel values · 0–255</a:t>
            </a:r>
          </a:p>
        </p:txBody>
      </p:sp>
      <p:sp>
        <p:nvSpPr>
          <p:cNvPr id="64" name="Rounded Rectangle 63"/>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 digital image is just a grid of numbers — one per pixel.</a:t>
            </a:r>
          </a:p>
        </p:txBody>
      </p:sp>
      <p:sp>
        <p:nvSpPr>
          <p:cNvPr id="68" name="Rounded Rectangle 67"/>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Each value is a brightness from 0 to 255.</a:t>
            </a:r>
          </a:p>
        </p:txBody>
      </p:sp>
      <p:sp>
        <p:nvSpPr>
          <p:cNvPr id="70" name="Rounded Rectangle 69"/>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So compressing or encrypting is really maths on a grid.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BUILDING BLOCK</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11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Stack the images into a 3-D cube.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sp>
        <p:nvSpPr>
          <p:cNvPr id="9" name="Rectangle 8"/>
          <p:cNvSpPr/>
          <p:nvPr/>
        </p:nvSpPr>
        <p:spPr>
          <a:xfrm>
            <a:off x="1325880" y="216712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216712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74519" y="216712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48839" y="216712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25880" y="244144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00200" y="244144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4519" y="244144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8839" y="244144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25880" y="271576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00200" y="271576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74519" y="271576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48839" y="271576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25880" y="299008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00200" y="299008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74519" y="299008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48839" y="2990088"/>
            <a:ext cx="274320" cy="274320"/>
          </a:xfrm>
          <a:prstGeom prst="rect">
            <a:avLst/>
          </a:prstGeom>
          <a:solidFill>
            <a:srgbClr val="FFFFFF"/>
          </a:solidFill>
          <a:ln w="1143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374136"/>
            <a:ext cx="1645919" cy="228600"/>
          </a:xfrm>
          <a:prstGeom prst="rect">
            <a:avLst/>
          </a:prstGeom>
          <a:noFill/>
        </p:spPr>
        <p:txBody>
          <a:bodyPr wrap="square" anchor="t" lIns="0" rIns="0" tIns="0" bIns="0">
            <a:spAutoFit/>
          </a:bodyPr>
          <a:lstStyle/>
          <a:p>
            <a:pPr algn="ctr">
              <a:lnSpc>
                <a:spcPct val="120000"/>
              </a:lnSpc>
            </a:pPr>
            <a:r>
              <a:rPr sz="1150" b="0" i="1">
                <a:solidFill>
                  <a:srgbClr val="566571"/>
                </a:solidFill>
                <a:latin typeface="Segoe UI"/>
              </a:rPr>
              <a:t>one image = 2-D grid</a:t>
            </a:r>
          </a:p>
        </p:txBody>
      </p:sp>
      <p:cxnSp>
        <p:nvCxnSpPr>
          <p:cNvPr id="26" name="Connector 25"/>
          <p:cNvCxnSpPr/>
          <p:nvPr/>
        </p:nvCxnSpPr>
        <p:spPr>
          <a:xfrm>
            <a:off x="2743200" y="2578608"/>
            <a:ext cx="731520" cy="0"/>
          </a:xfrm>
          <a:prstGeom prst="line">
            <a:avLst/>
          </a:prstGeom>
          <a:ln w="3048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606040" y="2167128"/>
            <a:ext cx="1097280" cy="201168"/>
          </a:xfrm>
          <a:prstGeom prst="rect">
            <a:avLst/>
          </a:prstGeom>
          <a:noFill/>
        </p:spPr>
        <p:txBody>
          <a:bodyPr wrap="square" anchor="t" lIns="0" rIns="0" tIns="0" bIns="0">
            <a:spAutoFit/>
          </a:bodyPr>
          <a:lstStyle/>
          <a:p>
            <a:pPr algn="ctr">
              <a:lnSpc>
                <a:spcPct val="120000"/>
              </a:lnSpc>
            </a:pPr>
            <a:r>
              <a:rPr sz="1050" b="1" i="0">
                <a:solidFill>
                  <a:srgbClr val="0A4A47"/>
                </a:solidFill>
                <a:latin typeface="Segoe UI Semibold"/>
              </a:rPr>
              <a:t>stack</a:t>
            </a:r>
          </a:p>
        </p:txBody>
      </p:sp>
      <p:sp>
        <p:nvSpPr>
          <p:cNvPr id="28" name="Rectangle 27"/>
          <p:cNvSpPr/>
          <p:nvPr/>
        </p:nvSpPr>
        <p:spPr>
          <a:xfrm>
            <a:off x="4526280" y="2029968"/>
            <a:ext cx="1463040" cy="109728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43400" y="2157984"/>
            <a:ext cx="1463040" cy="109728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60520" y="2286000"/>
            <a:ext cx="1463040" cy="109728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77640" y="2414016"/>
            <a:ext cx="1463040" cy="109728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94760" y="2542032"/>
            <a:ext cx="1463040" cy="109728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0440" y="3767328"/>
            <a:ext cx="2011680" cy="228600"/>
          </a:xfrm>
          <a:prstGeom prst="rect">
            <a:avLst/>
          </a:prstGeom>
          <a:noFill/>
        </p:spPr>
        <p:txBody>
          <a:bodyPr wrap="square" anchor="t" lIns="0" rIns="0" tIns="0" bIns="0">
            <a:spAutoFit/>
          </a:bodyPr>
          <a:lstStyle/>
          <a:p>
            <a:pPr algn="ctr">
              <a:lnSpc>
                <a:spcPct val="120000"/>
              </a:lnSpc>
            </a:pPr>
            <a:r>
              <a:rPr sz="1150" b="1" i="0">
                <a:solidFill>
                  <a:srgbClr val="0A4A47"/>
                </a:solidFill>
                <a:latin typeface="Segoe UI Semibold"/>
              </a:rPr>
              <a:t>a batch = 3-D cube</a:t>
            </a:r>
          </a:p>
        </p:txBody>
      </p:sp>
      <p:sp>
        <p:nvSpPr>
          <p:cNvPr id="34" name="TextBox 33"/>
          <p:cNvSpPr txBox="1"/>
          <p:nvPr/>
        </p:nvSpPr>
        <p:spPr>
          <a:xfrm>
            <a:off x="8641080" y="2395728"/>
            <a:ext cx="2819095" cy="457200"/>
          </a:xfrm>
          <a:prstGeom prst="rect">
            <a:avLst/>
          </a:prstGeom>
          <a:noFill/>
        </p:spPr>
        <p:txBody>
          <a:bodyPr wrap="square" anchor="t" lIns="0" rIns="0" tIns="0" bIns="0">
            <a:spAutoFit/>
          </a:bodyPr>
          <a:lstStyle/>
          <a:p>
            <a:pPr algn="l">
              <a:lnSpc>
                <a:spcPct val="120000"/>
              </a:lnSpc>
            </a:pPr>
            <a:r>
              <a:rPr sz="3400" b="1" i="0">
                <a:solidFill>
                  <a:srgbClr val="312E81"/>
                </a:solidFill>
                <a:latin typeface="Consolas"/>
              </a:rPr>
              <a:t>(i, j, k)</a:t>
            </a:r>
          </a:p>
        </p:txBody>
      </p:sp>
      <p:sp>
        <p:nvSpPr>
          <p:cNvPr id="35" name="TextBox 34"/>
          <p:cNvSpPr txBox="1"/>
          <p:nvPr/>
        </p:nvSpPr>
        <p:spPr>
          <a:xfrm>
            <a:off x="8641080" y="3127248"/>
            <a:ext cx="2819095" cy="640080"/>
          </a:xfrm>
          <a:prstGeom prst="rect">
            <a:avLst/>
          </a:prstGeom>
          <a:noFill/>
        </p:spPr>
        <p:txBody>
          <a:bodyPr wrap="square" anchor="t" lIns="0" rIns="0" tIns="0" bIns="0">
            <a:spAutoFit/>
          </a:bodyPr>
          <a:lstStyle/>
          <a:p>
            <a:pPr algn="l">
              <a:lnSpc>
                <a:spcPct val="125000"/>
              </a:lnSpc>
            </a:pPr>
            <a:r>
              <a:rPr sz="1400" b="0" i="0">
                <a:solidFill>
                  <a:srgbClr val="566571"/>
                </a:solidFill>
                <a:latin typeface="Segoe UI"/>
              </a:rPr>
              <a:t>row · column ·</a:t>
            </a:r>
          </a:p>
          <a:p>
            <a:pPr algn="l">
              <a:lnSpc>
                <a:spcPct val="125000"/>
              </a:lnSpc>
            </a:pPr>
            <a:r>
              <a:rPr sz="1400" b="0" i="0">
                <a:solidFill>
                  <a:srgbClr val="566571"/>
                </a:solidFill>
                <a:latin typeface="Segoe UI"/>
              </a:rPr>
              <a:t>which image</a:t>
            </a:r>
          </a:p>
        </p:txBody>
      </p:sp>
      <p:sp>
        <p:nvSpPr>
          <p:cNvPr id="36" name="Rounded Rectangle 35"/>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One image is a 2-D grid; a batch is a stack of grids.</a:t>
            </a:r>
          </a:p>
        </p:txBody>
      </p:sp>
      <p:sp>
        <p:nvSpPr>
          <p:cNvPr id="40" name="Rounded Rectangle 39"/>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Stacked together they form one 3-D block — the cube.</a:t>
            </a:r>
          </a:p>
        </p:txBody>
      </p:sp>
      <p:sp>
        <p:nvSpPr>
          <p:cNvPr id="42" name="Rounded Rectangle 41"/>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 pixel now needs three coordinates: (i, j, 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CONTRAST</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12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The old way: one image, one pipeline.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sp>
        <p:nvSpPr>
          <p:cNvPr id="9" name="TextBox 8"/>
          <p:cNvSpPr txBox="1"/>
          <p:nvPr/>
        </p:nvSpPr>
        <p:spPr>
          <a:xfrm>
            <a:off x="685800" y="1965960"/>
            <a:ext cx="457200" cy="274320"/>
          </a:xfrm>
          <a:prstGeom prst="rect">
            <a:avLst/>
          </a:prstGeom>
          <a:noFill/>
        </p:spPr>
        <p:txBody>
          <a:bodyPr wrap="square" anchor="t" lIns="0" rIns="0" tIns="0" bIns="0">
            <a:spAutoFit/>
          </a:bodyPr>
          <a:lstStyle/>
          <a:p>
            <a:pPr algn="r">
              <a:lnSpc>
                <a:spcPct val="120000"/>
              </a:lnSpc>
            </a:pPr>
            <a:r>
              <a:rPr sz="1250" b="1" i="0">
                <a:solidFill>
                  <a:srgbClr val="566571"/>
                </a:solidFill>
                <a:latin typeface="Segoe UI Semibold"/>
              </a:rPr>
              <a:t>#1</a:t>
            </a:r>
          </a:p>
        </p:txBody>
      </p:sp>
      <p:sp>
        <p:nvSpPr>
          <p:cNvPr id="10" name="Rounded Rectangle 9"/>
          <p:cNvSpPr/>
          <p:nvPr/>
        </p:nvSpPr>
        <p:spPr>
          <a:xfrm>
            <a:off x="1234440" y="1892807"/>
            <a:ext cx="1371600" cy="457200"/>
          </a:xfrm>
          <a:prstGeom prst="roundRect">
            <a:avLst>
              <a:gd name="adj" fmla="val 6000"/>
            </a:avLst>
          </a:prstGeom>
          <a:solidFill>
            <a:srgbClr val="EAF1F6"/>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1892807"/>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IMAGE</a:t>
            </a:r>
          </a:p>
        </p:txBody>
      </p:sp>
      <p:cxnSp>
        <p:nvCxnSpPr>
          <p:cNvPr id="12" name="Connector 11"/>
          <p:cNvCxnSpPr/>
          <p:nvPr/>
        </p:nvCxnSpPr>
        <p:spPr>
          <a:xfrm>
            <a:off x="2651760" y="2121408"/>
            <a:ext cx="365760"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63240" y="1892807"/>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1892807"/>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COMPRESS</a:t>
            </a:r>
          </a:p>
        </p:txBody>
      </p:sp>
      <p:cxnSp>
        <p:nvCxnSpPr>
          <p:cNvPr id="15" name="Connector 14"/>
          <p:cNvCxnSpPr/>
          <p:nvPr/>
        </p:nvCxnSpPr>
        <p:spPr>
          <a:xfrm>
            <a:off x="4480559" y="2121408"/>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92040" y="1892807"/>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1892807"/>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ENCRYPT</a:t>
            </a:r>
          </a:p>
        </p:txBody>
      </p:sp>
      <p:cxnSp>
        <p:nvCxnSpPr>
          <p:cNvPr id="18" name="Connector 17"/>
          <p:cNvCxnSpPr/>
          <p:nvPr/>
        </p:nvCxnSpPr>
        <p:spPr>
          <a:xfrm>
            <a:off x="6309359" y="2121408"/>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20840" y="1892807"/>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1892807"/>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SEND</a:t>
            </a:r>
          </a:p>
        </p:txBody>
      </p:sp>
      <p:sp>
        <p:nvSpPr>
          <p:cNvPr id="21" name="TextBox 20"/>
          <p:cNvSpPr txBox="1"/>
          <p:nvPr/>
        </p:nvSpPr>
        <p:spPr>
          <a:xfrm>
            <a:off x="685800" y="2660904"/>
            <a:ext cx="457200" cy="274320"/>
          </a:xfrm>
          <a:prstGeom prst="rect">
            <a:avLst/>
          </a:prstGeom>
          <a:noFill/>
        </p:spPr>
        <p:txBody>
          <a:bodyPr wrap="square" anchor="t" lIns="0" rIns="0" tIns="0" bIns="0">
            <a:spAutoFit/>
          </a:bodyPr>
          <a:lstStyle/>
          <a:p>
            <a:pPr algn="r">
              <a:lnSpc>
                <a:spcPct val="120000"/>
              </a:lnSpc>
            </a:pPr>
            <a:r>
              <a:rPr sz="1250" b="1" i="0">
                <a:solidFill>
                  <a:srgbClr val="566571"/>
                </a:solidFill>
                <a:latin typeface="Segoe UI Semibold"/>
              </a:rPr>
              <a:t>#2</a:t>
            </a:r>
          </a:p>
        </p:txBody>
      </p:sp>
      <p:sp>
        <p:nvSpPr>
          <p:cNvPr id="22" name="Rounded Rectangle 21"/>
          <p:cNvSpPr/>
          <p:nvPr/>
        </p:nvSpPr>
        <p:spPr>
          <a:xfrm>
            <a:off x="1234440" y="2587752"/>
            <a:ext cx="1371600" cy="457200"/>
          </a:xfrm>
          <a:prstGeom prst="roundRect">
            <a:avLst>
              <a:gd name="adj" fmla="val 6000"/>
            </a:avLst>
          </a:prstGeom>
          <a:solidFill>
            <a:srgbClr val="EAF1F6"/>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2587752"/>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IMAGE</a:t>
            </a:r>
          </a:p>
        </p:txBody>
      </p:sp>
      <p:cxnSp>
        <p:nvCxnSpPr>
          <p:cNvPr id="24" name="Connector 23"/>
          <p:cNvCxnSpPr/>
          <p:nvPr/>
        </p:nvCxnSpPr>
        <p:spPr>
          <a:xfrm>
            <a:off x="2651760" y="2816352"/>
            <a:ext cx="365760"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063240" y="2587752"/>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40" y="2587752"/>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COMPRESS</a:t>
            </a:r>
          </a:p>
        </p:txBody>
      </p:sp>
      <p:cxnSp>
        <p:nvCxnSpPr>
          <p:cNvPr id="27" name="Connector 26"/>
          <p:cNvCxnSpPr/>
          <p:nvPr/>
        </p:nvCxnSpPr>
        <p:spPr>
          <a:xfrm>
            <a:off x="4480559" y="2816352"/>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892040" y="2587752"/>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92040" y="2587752"/>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ENCRYPT</a:t>
            </a:r>
          </a:p>
        </p:txBody>
      </p:sp>
      <p:cxnSp>
        <p:nvCxnSpPr>
          <p:cNvPr id="30" name="Connector 29"/>
          <p:cNvCxnSpPr/>
          <p:nvPr/>
        </p:nvCxnSpPr>
        <p:spPr>
          <a:xfrm>
            <a:off x="6309359" y="2816352"/>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720840" y="2587752"/>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20840" y="2587752"/>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SEND</a:t>
            </a:r>
          </a:p>
        </p:txBody>
      </p:sp>
      <p:sp>
        <p:nvSpPr>
          <p:cNvPr id="33" name="TextBox 32"/>
          <p:cNvSpPr txBox="1"/>
          <p:nvPr/>
        </p:nvSpPr>
        <p:spPr>
          <a:xfrm>
            <a:off x="685800" y="3355848"/>
            <a:ext cx="457200" cy="274320"/>
          </a:xfrm>
          <a:prstGeom prst="rect">
            <a:avLst/>
          </a:prstGeom>
          <a:noFill/>
        </p:spPr>
        <p:txBody>
          <a:bodyPr wrap="square" anchor="t" lIns="0" rIns="0" tIns="0" bIns="0">
            <a:spAutoFit/>
          </a:bodyPr>
          <a:lstStyle/>
          <a:p>
            <a:pPr algn="r">
              <a:lnSpc>
                <a:spcPct val="120000"/>
              </a:lnSpc>
            </a:pPr>
            <a:r>
              <a:rPr sz="1250" b="1" i="0">
                <a:solidFill>
                  <a:srgbClr val="566571"/>
                </a:solidFill>
                <a:latin typeface="Segoe UI Semibold"/>
              </a:rPr>
              <a:t>#3</a:t>
            </a:r>
          </a:p>
        </p:txBody>
      </p:sp>
      <p:sp>
        <p:nvSpPr>
          <p:cNvPr id="34" name="Rounded Rectangle 33"/>
          <p:cNvSpPr/>
          <p:nvPr/>
        </p:nvSpPr>
        <p:spPr>
          <a:xfrm>
            <a:off x="1234440" y="3282696"/>
            <a:ext cx="1371600" cy="457200"/>
          </a:xfrm>
          <a:prstGeom prst="roundRect">
            <a:avLst>
              <a:gd name="adj" fmla="val 6000"/>
            </a:avLst>
          </a:prstGeom>
          <a:solidFill>
            <a:srgbClr val="EAF1F6"/>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4440" y="3282696"/>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IMAGE</a:t>
            </a:r>
          </a:p>
        </p:txBody>
      </p:sp>
      <p:cxnSp>
        <p:nvCxnSpPr>
          <p:cNvPr id="36" name="Connector 35"/>
          <p:cNvCxnSpPr/>
          <p:nvPr/>
        </p:nvCxnSpPr>
        <p:spPr>
          <a:xfrm>
            <a:off x="2651760" y="3511296"/>
            <a:ext cx="365760"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063240" y="3282696"/>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63240" y="3282696"/>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COMPRESS</a:t>
            </a:r>
          </a:p>
        </p:txBody>
      </p:sp>
      <p:cxnSp>
        <p:nvCxnSpPr>
          <p:cNvPr id="39" name="Connector 38"/>
          <p:cNvCxnSpPr/>
          <p:nvPr/>
        </p:nvCxnSpPr>
        <p:spPr>
          <a:xfrm>
            <a:off x="4480559" y="3511296"/>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892040" y="3282696"/>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3282696"/>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ENCRYPT</a:t>
            </a:r>
          </a:p>
        </p:txBody>
      </p:sp>
      <p:cxnSp>
        <p:nvCxnSpPr>
          <p:cNvPr id="42" name="Connector 41"/>
          <p:cNvCxnSpPr/>
          <p:nvPr/>
        </p:nvCxnSpPr>
        <p:spPr>
          <a:xfrm>
            <a:off x="6309359" y="3511296"/>
            <a:ext cx="365761" cy="0"/>
          </a:xfrm>
          <a:prstGeom prst="line">
            <a:avLst/>
          </a:prstGeom>
          <a:ln w="19050">
            <a:solidFill>
              <a:srgbClr val="56657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720840" y="3282696"/>
            <a:ext cx="1371600" cy="45720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20840" y="3282696"/>
            <a:ext cx="1371600" cy="457200"/>
          </a:xfrm>
          <a:prstGeom prst="rect">
            <a:avLst/>
          </a:prstGeom>
          <a:noFill/>
        </p:spPr>
        <p:txBody>
          <a:bodyPr wrap="square" anchor="ctr" lIns="0" rIns="0" tIns="0" bIns="0">
            <a:spAutoFit/>
          </a:bodyPr>
          <a:lstStyle/>
          <a:p>
            <a:pPr algn="ctr">
              <a:lnSpc>
                <a:spcPct val="120000"/>
              </a:lnSpc>
            </a:pPr>
            <a:r>
              <a:rPr sz="1150" b="1" i="0">
                <a:solidFill>
                  <a:srgbClr val="12222E"/>
                </a:solidFill>
                <a:latin typeface="Segoe UI Semibold"/>
              </a:rPr>
              <a:t>SEND</a:t>
            </a:r>
          </a:p>
        </p:txBody>
      </p:sp>
      <p:sp>
        <p:nvSpPr>
          <p:cNvPr id="45" name="TextBox 44"/>
          <p:cNvSpPr txBox="1"/>
          <p:nvPr/>
        </p:nvSpPr>
        <p:spPr>
          <a:xfrm>
            <a:off x="1234440" y="3959352"/>
            <a:ext cx="7315200" cy="274320"/>
          </a:xfrm>
          <a:prstGeom prst="rect">
            <a:avLst/>
          </a:prstGeom>
          <a:noFill/>
        </p:spPr>
        <p:txBody>
          <a:bodyPr wrap="square" anchor="t" lIns="0" rIns="0" tIns="0" bIns="0">
            <a:spAutoFit/>
          </a:bodyPr>
          <a:lstStyle/>
          <a:p>
            <a:pPr algn="l">
              <a:lnSpc>
                <a:spcPct val="120000"/>
              </a:lnSpc>
            </a:pPr>
            <a:r>
              <a:rPr sz="1300" b="0" i="1">
                <a:solidFill>
                  <a:srgbClr val="566571"/>
                </a:solidFill>
                <a:latin typeface="Segoe UI"/>
              </a:rPr>
              <a:t>… repeat for every single image</a:t>
            </a:r>
          </a:p>
        </p:txBody>
      </p:sp>
      <p:sp>
        <p:nvSpPr>
          <p:cNvPr id="46" name="Rounded Rectangle 45"/>
          <p:cNvSpPr/>
          <p:nvPr/>
        </p:nvSpPr>
        <p:spPr>
          <a:xfrm>
            <a:off x="9448495" y="1892807"/>
            <a:ext cx="2011680" cy="2103120"/>
          </a:xfrm>
          <a:prstGeom prst="roundRect">
            <a:avLst>
              <a:gd name="adj" fmla="val 6000"/>
            </a:avLst>
          </a:prstGeom>
          <a:solidFill>
            <a:srgbClr val="FB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48495" y="2075688"/>
            <a:ext cx="2011680" cy="274320"/>
          </a:xfrm>
          <a:prstGeom prst="rect">
            <a:avLst/>
          </a:prstGeom>
          <a:noFill/>
        </p:spPr>
        <p:txBody>
          <a:bodyPr wrap="square" anchor="t" lIns="0" rIns="0" tIns="0" bIns="0">
            <a:spAutoFit/>
          </a:bodyPr>
          <a:lstStyle/>
          <a:p>
            <a:pPr algn="ctr">
              <a:lnSpc>
                <a:spcPct val="120000"/>
              </a:lnSpc>
            </a:pPr>
            <a:r>
              <a:rPr sz="1050" b="1" i="0">
                <a:solidFill>
                  <a:srgbClr val="C2710C"/>
                </a:solidFill>
                <a:latin typeface="Segoe UI Semibold"/>
              </a:rPr>
              <a:t>COST PER BATCH</a:t>
            </a:r>
          </a:p>
        </p:txBody>
      </p:sp>
      <p:sp>
        <p:nvSpPr>
          <p:cNvPr id="48" name="TextBox 47"/>
          <p:cNvSpPr txBox="1"/>
          <p:nvPr/>
        </p:nvSpPr>
        <p:spPr>
          <a:xfrm>
            <a:off x="9448495" y="2368296"/>
            <a:ext cx="2011680" cy="548640"/>
          </a:xfrm>
          <a:prstGeom prst="rect">
            <a:avLst/>
          </a:prstGeom>
          <a:noFill/>
        </p:spPr>
        <p:txBody>
          <a:bodyPr wrap="square" anchor="t" lIns="0" rIns="0" tIns="0" bIns="0">
            <a:spAutoFit/>
          </a:bodyPr>
          <a:lstStyle/>
          <a:p>
            <a:pPr algn="ctr">
              <a:lnSpc>
                <a:spcPct val="120000"/>
              </a:lnSpc>
            </a:pPr>
            <a:r>
              <a:rPr sz="4000" b="1" i="0">
                <a:solidFill>
                  <a:srgbClr val="12222E"/>
                </a:solidFill>
                <a:latin typeface="Georgia"/>
              </a:rPr>
              <a:t>2N</a:t>
            </a:r>
          </a:p>
        </p:txBody>
      </p:sp>
      <p:sp>
        <p:nvSpPr>
          <p:cNvPr id="49" name="TextBox 48"/>
          <p:cNvSpPr txBox="1"/>
          <p:nvPr/>
        </p:nvSpPr>
        <p:spPr>
          <a:xfrm>
            <a:off x="9448495" y="3035808"/>
            <a:ext cx="2011680" cy="228600"/>
          </a:xfrm>
          <a:prstGeom prst="rect">
            <a:avLst/>
          </a:prstGeom>
          <a:noFill/>
        </p:spPr>
        <p:txBody>
          <a:bodyPr wrap="square" anchor="t" lIns="0" rIns="0" tIns="0" bIns="0">
            <a:spAutoFit/>
          </a:bodyPr>
          <a:lstStyle/>
          <a:p>
            <a:pPr algn="ctr">
              <a:lnSpc>
                <a:spcPct val="120000"/>
              </a:lnSpc>
            </a:pPr>
            <a:r>
              <a:rPr sz="1150" b="0" i="0">
                <a:solidFill>
                  <a:srgbClr val="566571"/>
                </a:solidFill>
                <a:latin typeface="Segoe UI"/>
              </a:rPr>
              <a:t>processing steps</a:t>
            </a:r>
          </a:p>
        </p:txBody>
      </p:sp>
      <p:cxnSp>
        <p:nvCxnSpPr>
          <p:cNvPr id="50" name="Connector 49"/>
          <p:cNvCxnSpPr/>
          <p:nvPr/>
        </p:nvCxnSpPr>
        <p:spPr>
          <a:xfrm>
            <a:off x="9768535" y="3310128"/>
            <a:ext cx="1371600" cy="0"/>
          </a:xfrm>
          <a:prstGeom prst="line">
            <a:avLst/>
          </a:prstGeom>
          <a:ln w="12700">
            <a:solidFill>
              <a:srgbClr val="E3CBA0"/>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448495" y="3410711"/>
            <a:ext cx="2011680" cy="457200"/>
          </a:xfrm>
          <a:prstGeom prst="rect">
            <a:avLst/>
          </a:prstGeom>
          <a:noFill/>
        </p:spPr>
        <p:txBody>
          <a:bodyPr wrap="square" anchor="t" lIns="0" rIns="0" tIns="0" bIns="0">
            <a:spAutoFit/>
          </a:bodyPr>
          <a:lstStyle/>
          <a:p>
            <a:pPr algn="ctr">
              <a:lnSpc>
                <a:spcPct val="120000"/>
              </a:lnSpc>
            </a:pPr>
            <a:r>
              <a:rPr sz="2000" b="1" i="0">
                <a:solidFill>
                  <a:srgbClr val="12222E"/>
                </a:solidFill>
                <a:latin typeface="Georgia"/>
              </a:rPr>
              <a:t>N keys</a:t>
            </a:r>
          </a:p>
        </p:txBody>
      </p:sp>
      <p:sp>
        <p:nvSpPr>
          <p:cNvPr id="52" name="Rounded Rectangle 51"/>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Each image gets its own pipeline: compress, encrypt, send.</a:t>
            </a:r>
          </a:p>
        </p:txBody>
      </p:sp>
      <p:sp>
        <p:nvSpPr>
          <p:cNvPr id="56" name="Rounded Rectangle 55"/>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N images → about 2N processing steps and N separate keys.</a:t>
            </a:r>
          </a:p>
        </p:txBody>
      </p:sp>
      <p:sp>
        <p:nvSpPr>
          <p:cNvPr id="58" name="Rounded Rectangle 57"/>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It works, but it does not scale to large batches.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IDEA</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13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Encrypt the whole batch as one cube.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sp>
        <p:nvSpPr>
          <p:cNvPr id="9" name="Rectangle 8"/>
          <p:cNvSpPr/>
          <p:nvPr/>
        </p:nvSpPr>
        <p:spPr>
          <a:xfrm>
            <a:off x="1216152" y="2167128"/>
            <a:ext cx="777240" cy="548640"/>
          </a:xfrm>
          <a:prstGeom prst="rect">
            <a:avLst/>
          </a:prstGeom>
          <a:solidFill>
            <a:srgbClr val="FFFFFF"/>
          </a:solidFill>
          <a:ln w="12700">
            <a:solidFill>
              <a:srgbClr val="5665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15568" y="2249424"/>
            <a:ext cx="777240" cy="548640"/>
          </a:xfrm>
          <a:prstGeom prst="rect">
            <a:avLst/>
          </a:prstGeom>
          <a:solidFill>
            <a:srgbClr val="FFFFFF"/>
          </a:solidFill>
          <a:ln w="12700">
            <a:solidFill>
              <a:srgbClr val="5665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 y="2331720"/>
            <a:ext cx="777240" cy="548640"/>
          </a:xfrm>
          <a:prstGeom prst="rect">
            <a:avLst/>
          </a:prstGeom>
          <a:solidFill>
            <a:srgbClr val="FFFFFF"/>
          </a:solidFill>
          <a:ln w="12700">
            <a:solidFill>
              <a:srgbClr val="5665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414016"/>
            <a:ext cx="777240" cy="548640"/>
          </a:xfrm>
          <a:prstGeom prst="rect">
            <a:avLst/>
          </a:prstGeom>
          <a:solidFill>
            <a:srgbClr val="FFFFFF"/>
          </a:solidFill>
          <a:ln w="12700">
            <a:solidFill>
              <a:srgbClr val="5665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3035808"/>
            <a:ext cx="1188720" cy="228600"/>
          </a:xfrm>
          <a:prstGeom prst="rect">
            <a:avLst/>
          </a:prstGeom>
          <a:noFill/>
        </p:spPr>
        <p:txBody>
          <a:bodyPr wrap="square" anchor="t" lIns="0" rIns="0" tIns="0" bIns="0">
            <a:spAutoFit/>
          </a:bodyPr>
          <a:lstStyle/>
          <a:p>
            <a:pPr algn="ctr">
              <a:lnSpc>
                <a:spcPct val="120000"/>
              </a:lnSpc>
            </a:pPr>
            <a:r>
              <a:rPr sz="1000" b="0" i="0">
                <a:solidFill>
                  <a:srgbClr val="566571"/>
                </a:solidFill>
                <a:latin typeface="Segoe UI"/>
              </a:rPr>
              <a:t>N images</a:t>
            </a:r>
          </a:p>
        </p:txBody>
      </p:sp>
      <p:cxnSp>
        <p:nvCxnSpPr>
          <p:cNvPr id="14" name="Connector 13"/>
          <p:cNvCxnSpPr/>
          <p:nvPr/>
        </p:nvCxnSpPr>
        <p:spPr>
          <a:xfrm>
            <a:off x="2148839" y="2441448"/>
            <a:ext cx="640081" cy="0"/>
          </a:xfrm>
          <a:prstGeom prst="line">
            <a:avLst/>
          </a:prstGeom>
          <a:ln w="28575">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057400" y="1947672"/>
            <a:ext cx="914400" cy="201168"/>
          </a:xfrm>
          <a:prstGeom prst="rect">
            <a:avLst/>
          </a:prstGeom>
          <a:noFill/>
        </p:spPr>
        <p:txBody>
          <a:bodyPr wrap="square" anchor="t" lIns="0" rIns="0" tIns="0" bIns="0">
            <a:spAutoFit/>
          </a:bodyPr>
          <a:lstStyle/>
          <a:p>
            <a:pPr algn="ctr">
              <a:lnSpc>
                <a:spcPct val="120000"/>
              </a:lnSpc>
            </a:pPr>
            <a:r>
              <a:rPr sz="950" b="1" i="0">
                <a:solidFill>
                  <a:srgbClr val="0A4A47"/>
                </a:solidFill>
                <a:latin typeface="Segoe UI Semibold"/>
              </a:rPr>
              <a:t>DWT</a:t>
            </a:r>
          </a:p>
        </p:txBody>
      </p:sp>
      <p:sp>
        <p:nvSpPr>
          <p:cNvPr id="16" name="Rectangle 15"/>
          <p:cNvSpPr/>
          <p:nvPr/>
        </p:nvSpPr>
        <p:spPr>
          <a:xfrm>
            <a:off x="3273552" y="2221992"/>
            <a:ext cx="585216" cy="420624"/>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72968" y="2304288"/>
            <a:ext cx="585216" cy="420624"/>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72384" y="2386584"/>
            <a:ext cx="585216" cy="420624"/>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71800" y="2468880"/>
            <a:ext cx="585216" cy="420624"/>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88920" y="3035808"/>
            <a:ext cx="1005840" cy="228600"/>
          </a:xfrm>
          <a:prstGeom prst="rect">
            <a:avLst/>
          </a:prstGeom>
          <a:noFill/>
        </p:spPr>
        <p:txBody>
          <a:bodyPr wrap="square" anchor="t" lIns="0" rIns="0" tIns="0" bIns="0">
            <a:spAutoFit/>
          </a:bodyPr>
          <a:lstStyle/>
          <a:p>
            <a:pPr algn="ctr">
              <a:lnSpc>
                <a:spcPct val="120000"/>
              </a:lnSpc>
            </a:pPr>
            <a:r>
              <a:rPr sz="1000" b="0" i="0">
                <a:solidFill>
                  <a:srgbClr val="566571"/>
                </a:solidFill>
                <a:latin typeface="Segoe UI"/>
              </a:rPr>
              <a:t>LL bands</a:t>
            </a:r>
          </a:p>
        </p:txBody>
      </p:sp>
      <p:cxnSp>
        <p:nvCxnSpPr>
          <p:cNvPr id="21" name="Connector 20"/>
          <p:cNvCxnSpPr/>
          <p:nvPr/>
        </p:nvCxnSpPr>
        <p:spPr>
          <a:xfrm>
            <a:off x="3977639" y="2441448"/>
            <a:ext cx="640081" cy="0"/>
          </a:xfrm>
          <a:prstGeom prst="line">
            <a:avLst/>
          </a:prstGeom>
          <a:ln w="28575">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86200" y="1947672"/>
            <a:ext cx="914400" cy="201168"/>
          </a:xfrm>
          <a:prstGeom prst="rect">
            <a:avLst/>
          </a:prstGeom>
          <a:noFill/>
        </p:spPr>
        <p:txBody>
          <a:bodyPr wrap="square" anchor="t" lIns="0" rIns="0" tIns="0" bIns="0">
            <a:spAutoFit/>
          </a:bodyPr>
          <a:lstStyle/>
          <a:p>
            <a:pPr algn="ctr">
              <a:lnSpc>
                <a:spcPct val="120000"/>
              </a:lnSpc>
            </a:pPr>
            <a:r>
              <a:rPr sz="950" b="1" i="0">
                <a:solidFill>
                  <a:srgbClr val="0A4A47"/>
                </a:solidFill>
                <a:latin typeface="Segoe UI Semibold"/>
              </a:rPr>
              <a:t>stack</a:t>
            </a:r>
          </a:p>
        </p:txBody>
      </p:sp>
      <p:sp>
        <p:nvSpPr>
          <p:cNvPr id="23" name="Rectangle 22"/>
          <p:cNvSpPr/>
          <p:nvPr/>
        </p:nvSpPr>
        <p:spPr>
          <a:xfrm>
            <a:off x="5184648" y="2121408"/>
            <a:ext cx="822960" cy="566928"/>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56632" y="2212848"/>
            <a:ext cx="822960" cy="566928"/>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28616" y="2304288"/>
            <a:ext cx="822960" cy="566928"/>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2395728"/>
            <a:ext cx="822960" cy="566928"/>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3035808"/>
            <a:ext cx="1188720" cy="228600"/>
          </a:xfrm>
          <a:prstGeom prst="rect">
            <a:avLst/>
          </a:prstGeom>
          <a:noFill/>
        </p:spPr>
        <p:txBody>
          <a:bodyPr wrap="square" anchor="t" lIns="0" rIns="0" tIns="0" bIns="0">
            <a:spAutoFit/>
          </a:bodyPr>
          <a:lstStyle/>
          <a:p>
            <a:pPr algn="ctr">
              <a:lnSpc>
                <a:spcPct val="120000"/>
              </a:lnSpc>
            </a:pPr>
            <a:r>
              <a:rPr sz="1000" b="1" i="0">
                <a:solidFill>
                  <a:srgbClr val="0A4A47"/>
                </a:solidFill>
                <a:latin typeface="Segoe UI Semibold"/>
              </a:rPr>
              <a:t>Cube C</a:t>
            </a:r>
          </a:p>
        </p:txBody>
      </p:sp>
      <p:cxnSp>
        <p:nvCxnSpPr>
          <p:cNvPr id="28" name="Connector 27"/>
          <p:cNvCxnSpPr/>
          <p:nvPr/>
        </p:nvCxnSpPr>
        <p:spPr>
          <a:xfrm>
            <a:off x="6080760" y="2441448"/>
            <a:ext cx="640080" cy="0"/>
          </a:xfrm>
          <a:prstGeom prst="line">
            <a:avLst/>
          </a:prstGeom>
          <a:ln w="28575">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3600" y="1947672"/>
            <a:ext cx="1005840" cy="201168"/>
          </a:xfrm>
          <a:prstGeom prst="rect">
            <a:avLst/>
          </a:prstGeom>
          <a:noFill/>
        </p:spPr>
        <p:txBody>
          <a:bodyPr wrap="square" anchor="t" lIns="0" rIns="0" tIns="0" bIns="0">
            <a:spAutoFit/>
          </a:bodyPr>
          <a:lstStyle/>
          <a:p>
            <a:pPr algn="ctr">
              <a:lnSpc>
                <a:spcPct val="120000"/>
              </a:lnSpc>
            </a:pPr>
            <a:r>
              <a:rPr sz="950" b="1" i="0">
                <a:solidFill>
                  <a:srgbClr val="4F46E5"/>
                </a:solidFill>
                <a:latin typeface="Segoe UI Semibold"/>
              </a:rPr>
              <a:t>encrypt ×1</a:t>
            </a:r>
          </a:p>
        </p:txBody>
      </p:sp>
      <p:sp>
        <p:nvSpPr>
          <p:cNvPr id="30" name="Rectangle 29"/>
          <p:cNvSpPr/>
          <p:nvPr/>
        </p:nvSpPr>
        <p:spPr>
          <a:xfrm>
            <a:off x="7287768" y="2121408"/>
            <a:ext cx="822960" cy="566928"/>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59752" y="2212848"/>
            <a:ext cx="822960" cy="566928"/>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31736" y="2304288"/>
            <a:ext cx="822960" cy="566928"/>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03720" y="2395728"/>
            <a:ext cx="822960" cy="566928"/>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3035808"/>
            <a:ext cx="1280160" cy="228600"/>
          </a:xfrm>
          <a:prstGeom prst="rect">
            <a:avLst/>
          </a:prstGeom>
          <a:noFill/>
        </p:spPr>
        <p:txBody>
          <a:bodyPr wrap="square" anchor="t" lIns="0" rIns="0" tIns="0" bIns="0">
            <a:spAutoFit/>
          </a:bodyPr>
          <a:lstStyle/>
          <a:p>
            <a:pPr algn="ctr">
              <a:lnSpc>
                <a:spcPct val="120000"/>
              </a:lnSpc>
            </a:pPr>
            <a:r>
              <a:rPr sz="1000" b="1" i="0">
                <a:solidFill>
                  <a:srgbClr val="312E81"/>
                </a:solidFill>
                <a:latin typeface="Segoe UI Semibold"/>
              </a:rPr>
              <a:t>Cipher D</a:t>
            </a:r>
          </a:p>
        </p:txBody>
      </p:sp>
      <p:sp>
        <p:nvSpPr>
          <p:cNvPr id="35" name="Rounded Rectangle 34"/>
          <p:cNvSpPr/>
          <p:nvPr/>
        </p:nvSpPr>
        <p:spPr>
          <a:xfrm>
            <a:off x="8716975" y="2029968"/>
            <a:ext cx="2743200" cy="114300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91295" y="2167128"/>
            <a:ext cx="2377440" cy="274320"/>
          </a:xfrm>
          <a:prstGeom prst="rect">
            <a:avLst/>
          </a:prstGeom>
          <a:noFill/>
        </p:spPr>
        <p:txBody>
          <a:bodyPr wrap="square" anchor="t" lIns="0" rIns="0" tIns="0" bIns="0">
            <a:spAutoFit/>
          </a:bodyPr>
          <a:lstStyle/>
          <a:p>
            <a:pPr algn="l">
              <a:lnSpc>
                <a:spcPct val="120000"/>
              </a:lnSpc>
            </a:pPr>
            <a:r>
              <a:rPr sz="1050" b="1" i="0">
                <a:solidFill>
                  <a:srgbClr val="0A4A47"/>
                </a:solidFill>
                <a:latin typeface="Segoe UI Semibold"/>
              </a:rPr>
              <a:t>COST PER BATCH</a:t>
            </a:r>
          </a:p>
        </p:txBody>
      </p:sp>
      <p:sp>
        <p:nvSpPr>
          <p:cNvPr id="37" name="TextBox 36"/>
          <p:cNvSpPr txBox="1"/>
          <p:nvPr/>
        </p:nvSpPr>
        <p:spPr>
          <a:xfrm>
            <a:off x="8991295" y="2459736"/>
            <a:ext cx="2377440" cy="548640"/>
          </a:xfrm>
          <a:prstGeom prst="rect">
            <a:avLst/>
          </a:prstGeom>
          <a:noFill/>
        </p:spPr>
        <p:txBody>
          <a:bodyPr wrap="square" anchor="t" lIns="0" rIns="0" tIns="0" bIns="0">
            <a:spAutoFit/>
          </a:bodyPr>
          <a:lstStyle/>
          <a:p>
            <a:pPr algn="l">
              <a:lnSpc>
                <a:spcPct val="120000"/>
              </a:lnSpc>
            </a:pPr>
            <a:r>
              <a:rPr sz="2800" b="1" i="0">
                <a:solidFill>
                  <a:srgbClr val="0A4A47"/>
                </a:solidFill>
                <a:latin typeface="Georgia"/>
              </a:rPr>
              <a:t>~3 steps</a:t>
            </a:r>
            <a:r>
              <a:rPr sz="1800" b="1" i="0">
                <a:solidFill>
                  <a:srgbClr val="12222E"/>
                </a:solidFill>
                <a:latin typeface="Georgia"/>
              </a:rPr>
              <a:t>  · 1 key</a:t>
            </a:r>
          </a:p>
        </p:txBody>
      </p:sp>
      <p:sp>
        <p:nvSpPr>
          <p:cNvPr id="38" name="Rounded Rectangle 37"/>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Compress every image with DWT, keep only the LL part.</a:t>
            </a:r>
          </a:p>
        </p:txBody>
      </p:sp>
      <p:sp>
        <p:nvSpPr>
          <p:cNvPr id="42" name="Rounded Rectangle 41"/>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Stack all the parts into one 3-D cube, C.</a:t>
            </a:r>
          </a:p>
        </p:txBody>
      </p:sp>
      <p:sp>
        <p:nvSpPr>
          <p:cNvPr id="44" name="Rounded Rectangle 43"/>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Encrypt the whole cube once — about 3 steps, one key.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BONUS PROPERTY</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14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One cube means every image is entangled.</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sp>
        <p:nvSpPr>
          <p:cNvPr id="9" name="Rectangle 8"/>
          <p:cNvSpPr/>
          <p:nvPr/>
        </p:nvSpPr>
        <p:spPr>
          <a:xfrm>
            <a:off x="2606039" y="2304288"/>
            <a:ext cx="14630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23160" y="2450592"/>
            <a:ext cx="14630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40279" y="2596896"/>
            <a:ext cx="14630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57400" y="2743200"/>
            <a:ext cx="14630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4519" y="2889504"/>
            <a:ext cx="14630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83079" y="1801368"/>
            <a:ext cx="1645920" cy="365760"/>
          </a:xfrm>
          <a:prstGeom prst="roundRect">
            <a:avLst>
              <a:gd name="adj" fmla="val 6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83079" y="1801368"/>
            <a:ext cx="1645920" cy="365760"/>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flip 1 pixel</a:t>
            </a:r>
          </a:p>
        </p:txBody>
      </p:sp>
      <p:cxnSp>
        <p:nvCxnSpPr>
          <p:cNvPr id="16" name="Connector 15"/>
          <p:cNvCxnSpPr/>
          <p:nvPr/>
        </p:nvCxnSpPr>
        <p:spPr>
          <a:xfrm>
            <a:off x="2651760" y="2194560"/>
            <a:ext cx="0" cy="155448"/>
          </a:xfrm>
          <a:prstGeom prst="line">
            <a:avLst/>
          </a:prstGeom>
          <a:ln w="25400">
            <a:solidFill>
              <a:srgbClr val="C2710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51960" y="2807208"/>
            <a:ext cx="1188719" cy="0"/>
          </a:xfrm>
          <a:prstGeom prst="line">
            <a:avLst/>
          </a:prstGeom>
          <a:ln w="3048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46520" y="2304288"/>
            <a:ext cx="1463040" cy="1051560"/>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450592"/>
            <a:ext cx="1463040" cy="1051560"/>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2596896"/>
            <a:ext cx="1463040" cy="1051560"/>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97880" y="2743200"/>
            <a:ext cx="1463040" cy="1051560"/>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15000" y="2889504"/>
            <a:ext cx="1463040" cy="1051560"/>
          </a:xfrm>
          <a:prstGeom prst="rect">
            <a:avLst/>
          </a:prstGeom>
          <a:solidFill>
            <a:srgbClr val="ECEBFB"/>
          </a:solidFill>
          <a:ln w="1778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59" y="3767328"/>
            <a:ext cx="1645920" cy="274320"/>
          </a:xfrm>
          <a:prstGeom prst="rect">
            <a:avLst/>
          </a:prstGeom>
          <a:noFill/>
        </p:spPr>
        <p:txBody>
          <a:bodyPr wrap="square" anchor="t" lIns="0" rIns="0" tIns="0" bIns="0">
            <a:spAutoFit/>
          </a:bodyPr>
          <a:lstStyle/>
          <a:p>
            <a:pPr algn="ctr">
              <a:lnSpc>
                <a:spcPct val="120000"/>
              </a:lnSpc>
            </a:pPr>
            <a:r>
              <a:rPr sz="1200" b="1" i="0">
                <a:solidFill>
                  <a:srgbClr val="312E81"/>
                </a:solidFill>
                <a:latin typeface="Segoe UI Semibold"/>
              </a:rPr>
              <a:t>all layers change</a:t>
            </a:r>
          </a:p>
        </p:txBody>
      </p:sp>
      <p:sp>
        <p:nvSpPr>
          <p:cNvPr id="24" name="TextBox 23"/>
          <p:cNvSpPr txBox="1"/>
          <p:nvPr/>
        </p:nvSpPr>
        <p:spPr>
          <a:xfrm>
            <a:off x="1783079" y="3767328"/>
            <a:ext cx="1645920" cy="274320"/>
          </a:xfrm>
          <a:prstGeom prst="rect">
            <a:avLst/>
          </a:prstGeom>
          <a:noFill/>
        </p:spPr>
        <p:txBody>
          <a:bodyPr wrap="square" anchor="t" lIns="0" rIns="0" tIns="0" bIns="0">
            <a:spAutoFit/>
          </a:bodyPr>
          <a:lstStyle/>
          <a:p>
            <a:pPr algn="ctr">
              <a:lnSpc>
                <a:spcPct val="120000"/>
              </a:lnSpc>
            </a:pPr>
            <a:r>
              <a:rPr sz="1200" b="1" i="0">
                <a:solidFill>
                  <a:srgbClr val="0A4A47"/>
                </a:solidFill>
                <a:latin typeface="Segoe UI Semibold"/>
              </a:rPr>
              <a:t>one batch, one cipher</a:t>
            </a:r>
          </a:p>
        </p:txBody>
      </p:sp>
      <p:sp>
        <p:nvSpPr>
          <p:cNvPr id="25" name="Rounded Rectangle 24"/>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All images share one cipher, so they are linked together.</a:t>
            </a:r>
          </a:p>
        </p:txBody>
      </p:sp>
      <p:sp>
        <p:nvSpPr>
          <p:cNvPr id="29" name="Rounded Rectangle 28"/>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Flip one pixel in any image → every image's ciphertext changes.</a:t>
            </a:r>
          </a:p>
        </p:txBody>
      </p:sp>
      <p:sp>
        <p:nvSpPr>
          <p:cNvPr id="31" name="Rounded Rectangle 30"/>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So an attacker can't isolate or attack a single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NOVELTY · THE RECIPE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15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The recipe: two ingredients.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NOVELTY</a:t>
            </a:r>
          </a:p>
        </p:txBody>
      </p:sp>
      <p:sp>
        <p:nvSpPr>
          <p:cNvPr id="9" name="Rounded Rectangle 8"/>
          <p:cNvSpPr/>
          <p:nvPr/>
        </p:nvSpPr>
        <p:spPr>
          <a:xfrm>
            <a:off x="868680" y="1892807"/>
            <a:ext cx="5067147" cy="224028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92807"/>
            <a:ext cx="5067147"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2167128"/>
            <a:ext cx="4244187" cy="457200"/>
          </a:xfrm>
          <a:prstGeom prst="rect">
            <a:avLst/>
          </a:prstGeom>
          <a:noFill/>
        </p:spPr>
        <p:txBody>
          <a:bodyPr wrap="square" anchor="t" lIns="0" rIns="0" tIns="0" bIns="0">
            <a:spAutoFit/>
          </a:bodyPr>
          <a:lstStyle/>
          <a:p>
            <a:pPr algn="l">
              <a:lnSpc>
                <a:spcPct val="120000"/>
              </a:lnSpc>
            </a:pPr>
            <a:r>
              <a:rPr sz="3200" b="1" i="0">
                <a:solidFill>
                  <a:srgbClr val="0A4A47"/>
                </a:solidFill>
                <a:latin typeface="Georgia"/>
              </a:rPr>
              <a:t>DWT</a:t>
            </a:r>
          </a:p>
        </p:txBody>
      </p:sp>
      <p:sp>
        <p:nvSpPr>
          <p:cNvPr id="12" name="TextBox 11"/>
          <p:cNvSpPr txBox="1"/>
          <p:nvPr/>
        </p:nvSpPr>
        <p:spPr>
          <a:xfrm>
            <a:off x="1280160" y="2743200"/>
            <a:ext cx="4244187" cy="320040"/>
          </a:xfrm>
          <a:prstGeom prst="rect">
            <a:avLst/>
          </a:prstGeom>
          <a:noFill/>
        </p:spPr>
        <p:txBody>
          <a:bodyPr wrap="square" anchor="t" lIns="0" rIns="0" tIns="0" bIns="0">
            <a:spAutoFit/>
          </a:bodyPr>
          <a:lstStyle/>
          <a:p>
            <a:pPr algn="l">
              <a:lnSpc>
                <a:spcPct val="120000"/>
              </a:lnSpc>
            </a:pPr>
            <a:r>
              <a:rPr sz="1700" b="1" i="0">
                <a:solidFill>
                  <a:srgbClr val="0E7C7B"/>
                </a:solidFill>
                <a:latin typeface="Segoe UI Semibold"/>
              </a:rPr>
              <a:t>shrink</a:t>
            </a:r>
          </a:p>
        </p:txBody>
      </p:sp>
      <p:sp>
        <p:nvSpPr>
          <p:cNvPr id="13" name="TextBox 12"/>
          <p:cNvSpPr txBox="1"/>
          <p:nvPr/>
        </p:nvSpPr>
        <p:spPr>
          <a:xfrm>
            <a:off x="1280160" y="3218688"/>
            <a:ext cx="4244187" cy="640080"/>
          </a:xfrm>
          <a:prstGeom prst="rect">
            <a:avLst/>
          </a:prstGeom>
          <a:noFill/>
        </p:spPr>
        <p:txBody>
          <a:bodyPr wrap="square" anchor="t" lIns="0" rIns="0" tIns="0" bIns="0">
            <a:spAutoFit/>
          </a:bodyPr>
          <a:lstStyle/>
          <a:p>
            <a:pPr algn="l">
              <a:lnSpc>
                <a:spcPct val="120000"/>
              </a:lnSpc>
            </a:pPr>
            <a:r>
              <a:rPr sz="1500" b="0" i="0">
                <a:solidFill>
                  <a:srgbClr val="12222E"/>
                </a:solidFill>
                <a:latin typeface="Segoe UI"/>
              </a:rPr>
              <a:t>compress each image down to its essential part</a:t>
            </a:r>
          </a:p>
        </p:txBody>
      </p:sp>
      <p:sp>
        <p:nvSpPr>
          <p:cNvPr id="14" name="Rounded Rectangle 13"/>
          <p:cNvSpPr/>
          <p:nvPr/>
        </p:nvSpPr>
        <p:spPr>
          <a:xfrm>
            <a:off x="6393027" y="1892807"/>
            <a:ext cx="5067147" cy="224028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93027" y="1892807"/>
            <a:ext cx="5067147"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4507" y="2167128"/>
            <a:ext cx="4244187" cy="457200"/>
          </a:xfrm>
          <a:prstGeom prst="rect">
            <a:avLst/>
          </a:prstGeom>
          <a:noFill/>
        </p:spPr>
        <p:txBody>
          <a:bodyPr wrap="square" anchor="t" lIns="0" rIns="0" tIns="0" bIns="0">
            <a:spAutoFit/>
          </a:bodyPr>
          <a:lstStyle/>
          <a:p>
            <a:pPr algn="l">
              <a:lnSpc>
                <a:spcPct val="120000"/>
              </a:lnSpc>
            </a:pPr>
            <a:r>
              <a:rPr sz="3200" b="1" i="0">
                <a:solidFill>
                  <a:srgbClr val="312E81"/>
                </a:solidFill>
                <a:latin typeface="Georgia"/>
              </a:rPr>
              <a:t>Chaos</a:t>
            </a:r>
          </a:p>
        </p:txBody>
      </p:sp>
      <p:sp>
        <p:nvSpPr>
          <p:cNvPr id="17" name="TextBox 16"/>
          <p:cNvSpPr txBox="1"/>
          <p:nvPr/>
        </p:nvSpPr>
        <p:spPr>
          <a:xfrm>
            <a:off x="6804507" y="2743200"/>
            <a:ext cx="4244187" cy="320040"/>
          </a:xfrm>
          <a:prstGeom prst="rect">
            <a:avLst/>
          </a:prstGeom>
          <a:noFill/>
        </p:spPr>
        <p:txBody>
          <a:bodyPr wrap="square" anchor="t" lIns="0" rIns="0" tIns="0" bIns="0">
            <a:spAutoFit/>
          </a:bodyPr>
          <a:lstStyle/>
          <a:p>
            <a:pPr algn="l">
              <a:lnSpc>
                <a:spcPct val="120000"/>
              </a:lnSpc>
            </a:pPr>
            <a:r>
              <a:rPr sz="1700" b="1" i="0">
                <a:solidFill>
                  <a:srgbClr val="4F46E5"/>
                </a:solidFill>
                <a:latin typeface="Segoe UI Semibold"/>
              </a:rPr>
              <a:t>scramble</a:t>
            </a:r>
          </a:p>
        </p:txBody>
      </p:sp>
      <p:sp>
        <p:nvSpPr>
          <p:cNvPr id="18" name="TextBox 17"/>
          <p:cNvSpPr txBox="1"/>
          <p:nvPr/>
        </p:nvSpPr>
        <p:spPr>
          <a:xfrm>
            <a:off x="6804507" y="3218688"/>
            <a:ext cx="4244187" cy="640080"/>
          </a:xfrm>
          <a:prstGeom prst="rect">
            <a:avLst/>
          </a:prstGeom>
          <a:noFill/>
        </p:spPr>
        <p:txBody>
          <a:bodyPr wrap="square" anchor="t" lIns="0" rIns="0" tIns="0" bIns="0">
            <a:spAutoFit/>
          </a:bodyPr>
          <a:lstStyle/>
          <a:p>
            <a:pPr algn="l">
              <a:lnSpc>
                <a:spcPct val="120000"/>
              </a:lnSpc>
            </a:pPr>
            <a:r>
              <a:rPr sz="1500" b="0" i="0">
                <a:solidFill>
                  <a:srgbClr val="12222E"/>
                </a:solidFill>
                <a:latin typeface="Segoe UI"/>
              </a:rPr>
              <a:t>generate the key stream that hides the cube</a:t>
            </a:r>
          </a:p>
        </p:txBody>
      </p:sp>
      <p:sp>
        <p:nvSpPr>
          <p:cNvPr id="19" name="Rounded Rectangle 18"/>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4498848"/>
            <a:ext cx="91440" cy="14813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79576" y="4727448"/>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Together they are the whole method: shrink, then scramble.</a:t>
            </a:r>
          </a:p>
        </p:txBody>
      </p:sp>
      <p:sp>
        <p:nvSpPr>
          <p:cNvPr id="23" name="Rounded Rectangle 22"/>
          <p:cNvSpPr/>
          <p:nvPr/>
        </p:nvSpPr>
        <p:spPr>
          <a:xfrm>
            <a:off x="1179576" y="5148072"/>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Both are driven by the secret key, so both reverse cleanly.</a:t>
            </a:r>
          </a:p>
        </p:txBody>
      </p:sp>
      <p:sp>
        <p:nvSpPr>
          <p:cNvPr id="25" name="Rounded Rectangle 24"/>
          <p:cNvSpPr/>
          <p:nvPr/>
        </p:nvSpPr>
        <p:spPr>
          <a:xfrm>
            <a:off x="1179576" y="5568696"/>
            <a:ext cx="182880" cy="182880"/>
          </a:xfrm>
          <a:prstGeom prst="roundRect">
            <a:avLst>
              <a:gd name="adj" fmla="val 3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Maria now shows exactly how each one works.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B2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60120"/>
            <a:ext cx="5486400" cy="365760"/>
          </a:xfrm>
          <a:prstGeom prst="rect">
            <a:avLst/>
          </a:prstGeom>
          <a:noFill/>
        </p:spPr>
        <p:txBody>
          <a:bodyPr wrap="square" anchor="t" lIns="0" rIns="0" tIns="0" bIns="0">
            <a:spAutoFit/>
          </a:bodyPr>
          <a:lstStyle/>
          <a:p>
            <a:pPr algn="l">
              <a:lnSpc>
                <a:spcPct val="120000"/>
              </a:lnSpc>
            </a:pPr>
            <a:r>
              <a:rPr sz="1300" b="1" i="0">
                <a:solidFill>
                  <a:srgbClr val="8FA6B0"/>
                </a:solidFill>
                <a:latin typeface="Segoe UI Semibold"/>
              </a:rPr>
              <a:t>PART 2 OF 3</a:t>
            </a:r>
          </a:p>
        </p:txBody>
      </p:sp>
      <p:sp>
        <p:nvSpPr>
          <p:cNvPr id="4" name="TextBox 3"/>
          <p:cNvSpPr txBox="1"/>
          <p:nvPr/>
        </p:nvSpPr>
        <p:spPr>
          <a:xfrm>
            <a:off x="7680960" y="457200"/>
            <a:ext cx="4297680" cy="3840480"/>
          </a:xfrm>
          <a:prstGeom prst="rect">
            <a:avLst/>
          </a:prstGeom>
          <a:noFill/>
        </p:spPr>
        <p:txBody>
          <a:bodyPr wrap="square" anchor="ctr" lIns="0" rIns="0" tIns="0" bIns="0">
            <a:spAutoFit/>
          </a:bodyPr>
          <a:lstStyle/>
          <a:p>
            <a:pPr algn="r">
              <a:lnSpc>
                <a:spcPct val="120000"/>
              </a:lnSpc>
            </a:pPr>
            <a:r>
              <a:rPr sz="30000" b="1" i="0">
                <a:solidFill>
                  <a:srgbClr val="173541"/>
                </a:solidFill>
                <a:latin typeface="Georgia"/>
              </a:rPr>
              <a:t>2</a:t>
            </a:r>
          </a:p>
        </p:txBody>
      </p:sp>
      <p:sp>
        <p:nvSpPr>
          <p:cNvPr id="5" name="TextBox 4"/>
          <p:cNvSpPr txBox="1"/>
          <p:nvPr/>
        </p:nvSpPr>
        <p:spPr>
          <a:xfrm>
            <a:off x="868680" y="2148840"/>
            <a:ext cx="10515600" cy="1554480"/>
          </a:xfrm>
          <a:prstGeom prst="rect">
            <a:avLst/>
          </a:prstGeom>
          <a:noFill/>
        </p:spPr>
        <p:txBody>
          <a:bodyPr wrap="square" anchor="t" lIns="0" rIns="0" tIns="0" bIns="0">
            <a:spAutoFit/>
          </a:bodyPr>
          <a:lstStyle/>
          <a:p>
            <a:pPr algn="l">
              <a:lnSpc>
                <a:spcPct val="120000"/>
              </a:lnSpc>
            </a:pPr>
            <a:r>
              <a:rPr sz="9200" b="1" i="0">
                <a:solidFill>
                  <a:srgbClr val="4F46E5"/>
                </a:solidFill>
                <a:latin typeface="Georgia"/>
              </a:rPr>
              <a:t>Methodology</a:t>
            </a:r>
          </a:p>
        </p:txBody>
      </p:sp>
      <p:sp>
        <p:nvSpPr>
          <p:cNvPr id="6" name="TextBox 5"/>
          <p:cNvSpPr txBox="1"/>
          <p:nvPr/>
        </p:nvSpPr>
        <p:spPr>
          <a:xfrm>
            <a:off x="868680" y="4069080"/>
            <a:ext cx="9144000" cy="548640"/>
          </a:xfrm>
          <a:prstGeom prst="rect">
            <a:avLst/>
          </a:prstGeom>
          <a:noFill/>
        </p:spPr>
        <p:txBody>
          <a:bodyPr wrap="square" anchor="t" lIns="0" rIns="0" tIns="0" bIns="0">
            <a:spAutoFit/>
          </a:bodyPr>
          <a:lstStyle/>
          <a:p>
            <a:pPr algn="l">
              <a:lnSpc>
                <a:spcPct val="120000"/>
              </a:lnSpc>
            </a:pPr>
            <a:r>
              <a:rPr sz="2600" b="0" i="1">
                <a:solidFill>
                  <a:srgbClr val="FFFFFF"/>
                </a:solidFill>
                <a:latin typeface="Georgia"/>
              </a:rPr>
              <a:t>How does the algorithm actually work?</a:t>
            </a:r>
          </a:p>
        </p:txBody>
      </p:sp>
      <p:cxnSp>
        <p:nvCxnSpPr>
          <p:cNvPr id="7" name="Connector 6"/>
          <p:cNvCxnSpPr/>
          <p:nvPr/>
        </p:nvCxnSpPr>
        <p:spPr>
          <a:xfrm>
            <a:off x="868680" y="4846320"/>
            <a:ext cx="5029200" cy="0"/>
          </a:xfrm>
          <a:prstGeom prst="line">
            <a:avLst/>
          </a:prstGeom>
          <a:ln w="25400">
            <a:solidFill>
              <a:srgbClr val="17354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5074920"/>
            <a:ext cx="9601200" cy="548640"/>
          </a:xfrm>
          <a:prstGeom prst="rect">
            <a:avLst/>
          </a:prstGeom>
          <a:noFill/>
        </p:spPr>
        <p:txBody>
          <a:bodyPr wrap="square" anchor="t" lIns="0" rIns="0" tIns="0" bIns="0">
            <a:spAutoFit/>
          </a:bodyPr>
          <a:lstStyle/>
          <a:p>
            <a:pPr algn="l">
              <a:lnSpc>
                <a:spcPct val="125000"/>
              </a:lnSpc>
            </a:pPr>
            <a:r>
              <a:rPr sz="1450" b="0" i="0">
                <a:solidFill>
                  <a:srgbClr val="AFC1CB"/>
                </a:solidFill>
                <a:latin typeface="Segoe UI"/>
              </a:rPr>
              <a:t>Two ingredients — DWT and a chaotic map — combine through a four-stage pipeline.</a:t>
            </a:r>
          </a:p>
        </p:txBody>
      </p:sp>
      <p:sp>
        <p:nvSpPr>
          <p:cNvPr id="9" name="TextBox 8"/>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46606C"/>
                </a:solidFill>
                <a:latin typeface="Segoe UI"/>
              </a:rPr>
              <a:t>CMP4221 · Multimedia Systems   |   Xu, Gao, Cao &amp; Mou · ACM TOMM, Vol. 22(3), 2026 · DOI 10.1145/3769123</a:t>
            </a:r>
          </a:p>
        </p:txBody>
      </p:sp>
      <p:sp>
        <p:nvSpPr>
          <p:cNvPr id="10" name="TextBox 9"/>
          <p:cNvSpPr txBox="1"/>
          <p:nvPr/>
        </p:nvSpPr>
        <p:spPr>
          <a:xfrm>
            <a:off x="9997135" y="6455664"/>
            <a:ext cx="1463040" cy="228600"/>
          </a:xfrm>
          <a:prstGeom prst="rect">
            <a:avLst/>
          </a:prstGeom>
          <a:noFill/>
        </p:spPr>
        <p:txBody>
          <a:bodyPr wrap="square" anchor="t" lIns="0" rIns="0" tIns="0" bIns="0">
            <a:spAutoFit/>
          </a:bodyPr>
          <a:lstStyle/>
          <a:p>
            <a:pPr algn="r">
              <a:lnSpc>
                <a:spcPct val="120000"/>
              </a:lnSpc>
            </a:pPr>
            <a:r>
              <a:rPr sz="900" b="1" i="0">
                <a:solidFill>
                  <a:srgbClr val="46606C"/>
                </a:solidFill>
                <a:latin typeface="Segoe UI Semibold"/>
              </a:rPr>
              <a:t>16 /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THE PIPELINE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17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Four stages, one key, one cube out.</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868680" y="1938528"/>
            <a:ext cx="233926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938528"/>
            <a:ext cx="233926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176272"/>
            <a:ext cx="1882063" cy="548640"/>
          </a:xfrm>
          <a:prstGeom prst="rect">
            <a:avLst/>
          </a:prstGeom>
          <a:noFill/>
        </p:spPr>
        <p:txBody>
          <a:bodyPr wrap="square" anchor="t" lIns="0" rIns="0" tIns="0" bIns="0">
            <a:spAutoFit/>
          </a:bodyPr>
          <a:lstStyle/>
          <a:p>
            <a:pPr algn="l">
              <a:lnSpc>
                <a:spcPct val="120000"/>
              </a:lnSpc>
            </a:pPr>
            <a:r>
              <a:rPr sz="2600" b="1" i="0">
                <a:solidFill>
                  <a:srgbClr val="0E7C7B"/>
                </a:solidFill>
                <a:latin typeface="Georgia"/>
              </a:rPr>
              <a:t>01</a:t>
            </a:r>
          </a:p>
        </p:txBody>
      </p:sp>
      <p:sp>
        <p:nvSpPr>
          <p:cNvPr id="12" name="TextBox 11"/>
          <p:cNvSpPr txBox="1"/>
          <p:nvPr/>
        </p:nvSpPr>
        <p:spPr>
          <a:xfrm>
            <a:off x="1097280" y="2779776"/>
            <a:ext cx="1882063" cy="365760"/>
          </a:xfrm>
          <a:prstGeom prst="rect">
            <a:avLst/>
          </a:prstGeom>
          <a:noFill/>
        </p:spPr>
        <p:txBody>
          <a:bodyPr wrap="square" anchor="t" lIns="0" rIns="0" tIns="0" bIns="0">
            <a:spAutoFit/>
          </a:bodyPr>
          <a:lstStyle/>
          <a:p>
            <a:pPr algn="l">
              <a:lnSpc>
                <a:spcPct val="120000"/>
              </a:lnSpc>
            </a:pPr>
            <a:r>
              <a:rPr sz="2000" b="1" i="0">
                <a:solidFill>
                  <a:srgbClr val="12222E"/>
                </a:solidFill>
                <a:latin typeface="Georgia"/>
              </a:rPr>
              <a:t>DWT</a:t>
            </a:r>
          </a:p>
        </p:txBody>
      </p:sp>
      <p:sp>
        <p:nvSpPr>
          <p:cNvPr id="13" name="TextBox 12"/>
          <p:cNvSpPr txBox="1"/>
          <p:nvPr/>
        </p:nvSpPr>
        <p:spPr>
          <a:xfrm>
            <a:off x="1097280" y="3218688"/>
            <a:ext cx="1882063" cy="36576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a:rPr>
              <a:t>keep the LL band</a:t>
            </a:r>
          </a:p>
        </p:txBody>
      </p:sp>
      <p:sp>
        <p:nvSpPr>
          <p:cNvPr id="14" name="TextBox 13"/>
          <p:cNvSpPr txBox="1"/>
          <p:nvPr/>
        </p:nvSpPr>
        <p:spPr>
          <a:xfrm>
            <a:off x="1097280" y="3657600"/>
            <a:ext cx="1882063"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Consolas"/>
              </a:rPr>
              <a:t>Eq. 4</a:t>
            </a:r>
          </a:p>
        </p:txBody>
      </p:sp>
      <p:cxnSp>
        <p:nvCxnSpPr>
          <p:cNvPr id="15" name="Connector 14"/>
          <p:cNvCxnSpPr/>
          <p:nvPr/>
        </p:nvCxnSpPr>
        <p:spPr>
          <a:xfrm>
            <a:off x="3262807" y="2990088"/>
            <a:ext cx="301752" cy="0"/>
          </a:xfrm>
          <a:prstGeom prst="line">
            <a:avLst/>
          </a:prstGeom>
          <a:ln w="2286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19423" y="1938528"/>
            <a:ext cx="233926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19423" y="1938528"/>
            <a:ext cx="2339263"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8023" y="2176272"/>
            <a:ext cx="1882063" cy="548640"/>
          </a:xfrm>
          <a:prstGeom prst="rect">
            <a:avLst/>
          </a:prstGeom>
          <a:noFill/>
        </p:spPr>
        <p:txBody>
          <a:bodyPr wrap="square" anchor="t" lIns="0" rIns="0" tIns="0" bIns="0">
            <a:spAutoFit/>
          </a:bodyPr>
          <a:lstStyle/>
          <a:p>
            <a:pPr algn="l">
              <a:lnSpc>
                <a:spcPct val="120000"/>
              </a:lnSpc>
            </a:pPr>
            <a:r>
              <a:rPr sz="2600" b="1" i="0">
                <a:solidFill>
                  <a:srgbClr val="0E7C7B"/>
                </a:solidFill>
                <a:latin typeface="Georgia"/>
              </a:rPr>
              <a:t>02</a:t>
            </a:r>
          </a:p>
        </p:txBody>
      </p:sp>
      <p:sp>
        <p:nvSpPr>
          <p:cNvPr id="19" name="TextBox 18"/>
          <p:cNvSpPr txBox="1"/>
          <p:nvPr/>
        </p:nvSpPr>
        <p:spPr>
          <a:xfrm>
            <a:off x="3848023" y="2779776"/>
            <a:ext cx="1882063" cy="365760"/>
          </a:xfrm>
          <a:prstGeom prst="rect">
            <a:avLst/>
          </a:prstGeom>
          <a:noFill/>
        </p:spPr>
        <p:txBody>
          <a:bodyPr wrap="square" anchor="t" lIns="0" rIns="0" tIns="0" bIns="0">
            <a:spAutoFit/>
          </a:bodyPr>
          <a:lstStyle/>
          <a:p>
            <a:pPr algn="l">
              <a:lnSpc>
                <a:spcPct val="120000"/>
              </a:lnSpc>
            </a:pPr>
            <a:r>
              <a:rPr sz="2000" b="1" i="0">
                <a:solidFill>
                  <a:srgbClr val="12222E"/>
                </a:solidFill>
                <a:latin typeface="Georgia"/>
              </a:rPr>
              <a:t>Stack</a:t>
            </a:r>
          </a:p>
        </p:txBody>
      </p:sp>
      <p:sp>
        <p:nvSpPr>
          <p:cNvPr id="20" name="TextBox 19"/>
          <p:cNvSpPr txBox="1"/>
          <p:nvPr/>
        </p:nvSpPr>
        <p:spPr>
          <a:xfrm>
            <a:off x="3848023" y="3218688"/>
            <a:ext cx="1882063" cy="36576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a:rPr>
              <a:t>build the cube C</a:t>
            </a:r>
          </a:p>
        </p:txBody>
      </p:sp>
      <p:sp>
        <p:nvSpPr>
          <p:cNvPr id="21" name="TextBox 20"/>
          <p:cNvSpPr txBox="1"/>
          <p:nvPr/>
        </p:nvSpPr>
        <p:spPr>
          <a:xfrm>
            <a:off x="3848023" y="3657600"/>
            <a:ext cx="1882063"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Consolas"/>
              </a:rPr>
              <a:t>Eq. 5–6</a:t>
            </a:r>
          </a:p>
        </p:txBody>
      </p:sp>
      <p:cxnSp>
        <p:nvCxnSpPr>
          <p:cNvPr id="22" name="Connector 21"/>
          <p:cNvCxnSpPr/>
          <p:nvPr/>
        </p:nvCxnSpPr>
        <p:spPr>
          <a:xfrm>
            <a:off x="6013551" y="2990088"/>
            <a:ext cx="301752" cy="0"/>
          </a:xfrm>
          <a:prstGeom prst="line">
            <a:avLst/>
          </a:prstGeom>
          <a:ln w="2286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70167" y="1938528"/>
            <a:ext cx="233926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70167" y="1938528"/>
            <a:ext cx="2339263"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8767" y="2176272"/>
            <a:ext cx="1882063" cy="548640"/>
          </a:xfrm>
          <a:prstGeom prst="rect">
            <a:avLst/>
          </a:prstGeom>
          <a:noFill/>
        </p:spPr>
        <p:txBody>
          <a:bodyPr wrap="square" anchor="t" lIns="0" rIns="0" tIns="0" bIns="0">
            <a:spAutoFit/>
          </a:bodyPr>
          <a:lstStyle/>
          <a:p>
            <a:pPr algn="l">
              <a:lnSpc>
                <a:spcPct val="120000"/>
              </a:lnSpc>
            </a:pPr>
            <a:r>
              <a:rPr sz="2600" b="1" i="0">
                <a:solidFill>
                  <a:srgbClr val="4F46E5"/>
                </a:solidFill>
                <a:latin typeface="Georgia"/>
              </a:rPr>
              <a:t>03</a:t>
            </a:r>
          </a:p>
        </p:txBody>
      </p:sp>
      <p:sp>
        <p:nvSpPr>
          <p:cNvPr id="26" name="TextBox 25"/>
          <p:cNvSpPr txBox="1"/>
          <p:nvPr/>
        </p:nvSpPr>
        <p:spPr>
          <a:xfrm>
            <a:off x="6598767" y="2779776"/>
            <a:ext cx="1882063" cy="365760"/>
          </a:xfrm>
          <a:prstGeom prst="rect">
            <a:avLst/>
          </a:prstGeom>
          <a:noFill/>
        </p:spPr>
        <p:txBody>
          <a:bodyPr wrap="square" anchor="t" lIns="0" rIns="0" tIns="0" bIns="0">
            <a:spAutoFit/>
          </a:bodyPr>
          <a:lstStyle/>
          <a:p>
            <a:pPr algn="l">
              <a:lnSpc>
                <a:spcPct val="120000"/>
              </a:lnSpc>
            </a:pPr>
            <a:r>
              <a:rPr sz="2000" b="1" i="0">
                <a:solidFill>
                  <a:srgbClr val="12222E"/>
                </a:solidFill>
                <a:latin typeface="Georgia"/>
              </a:rPr>
              <a:t>Confuse</a:t>
            </a:r>
          </a:p>
        </p:txBody>
      </p:sp>
      <p:sp>
        <p:nvSpPr>
          <p:cNvPr id="27" name="TextBox 26"/>
          <p:cNvSpPr txBox="1"/>
          <p:nvPr/>
        </p:nvSpPr>
        <p:spPr>
          <a:xfrm>
            <a:off x="6598767" y="3218688"/>
            <a:ext cx="1882063" cy="36576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a:rPr>
              <a:t>move the pixels</a:t>
            </a:r>
          </a:p>
        </p:txBody>
      </p:sp>
      <p:sp>
        <p:nvSpPr>
          <p:cNvPr id="28" name="TextBox 27"/>
          <p:cNvSpPr txBox="1"/>
          <p:nvPr/>
        </p:nvSpPr>
        <p:spPr>
          <a:xfrm>
            <a:off x="6598767" y="3657600"/>
            <a:ext cx="1882063"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Consolas"/>
              </a:rPr>
              <a:t>Eq. 8–10</a:t>
            </a:r>
          </a:p>
        </p:txBody>
      </p:sp>
      <p:cxnSp>
        <p:nvCxnSpPr>
          <p:cNvPr id="29" name="Connector 28"/>
          <p:cNvCxnSpPr/>
          <p:nvPr/>
        </p:nvCxnSpPr>
        <p:spPr>
          <a:xfrm>
            <a:off x="8764295" y="2990088"/>
            <a:ext cx="301752" cy="0"/>
          </a:xfrm>
          <a:prstGeom prst="line">
            <a:avLst/>
          </a:prstGeom>
          <a:ln w="2286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20911" y="1938528"/>
            <a:ext cx="2339263"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20911" y="1938528"/>
            <a:ext cx="2339263"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9511" y="2176272"/>
            <a:ext cx="1882063" cy="548640"/>
          </a:xfrm>
          <a:prstGeom prst="rect">
            <a:avLst/>
          </a:prstGeom>
          <a:noFill/>
        </p:spPr>
        <p:txBody>
          <a:bodyPr wrap="square" anchor="t" lIns="0" rIns="0" tIns="0" bIns="0">
            <a:spAutoFit/>
          </a:bodyPr>
          <a:lstStyle/>
          <a:p>
            <a:pPr algn="l">
              <a:lnSpc>
                <a:spcPct val="120000"/>
              </a:lnSpc>
            </a:pPr>
            <a:r>
              <a:rPr sz="2600" b="1" i="0">
                <a:solidFill>
                  <a:srgbClr val="4F46E5"/>
                </a:solidFill>
                <a:latin typeface="Georgia"/>
              </a:rPr>
              <a:t>04</a:t>
            </a:r>
          </a:p>
        </p:txBody>
      </p:sp>
      <p:sp>
        <p:nvSpPr>
          <p:cNvPr id="33" name="TextBox 32"/>
          <p:cNvSpPr txBox="1"/>
          <p:nvPr/>
        </p:nvSpPr>
        <p:spPr>
          <a:xfrm>
            <a:off x="9349511" y="2779776"/>
            <a:ext cx="1882063" cy="365760"/>
          </a:xfrm>
          <a:prstGeom prst="rect">
            <a:avLst/>
          </a:prstGeom>
          <a:noFill/>
        </p:spPr>
        <p:txBody>
          <a:bodyPr wrap="square" anchor="t" lIns="0" rIns="0" tIns="0" bIns="0">
            <a:spAutoFit/>
          </a:bodyPr>
          <a:lstStyle/>
          <a:p>
            <a:pPr algn="l">
              <a:lnSpc>
                <a:spcPct val="120000"/>
              </a:lnSpc>
            </a:pPr>
            <a:r>
              <a:rPr sz="2000" b="1" i="0">
                <a:solidFill>
                  <a:srgbClr val="12222E"/>
                </a:solidFill>
                <a:latin typeface="Georgia"/>
              </a:rPr>
              <a:t>Diffuse</a:t>
            </a:r>
          </a:p>
        </p:txBody>
      </p:sp>
      <p:sp>
        <p:nvSpPr>
          <p:cNvPr id="34" name="TextBox 33"/>
          <p:cNvSpPr txBox="1"/>
          <p:nvPr/>
        </p:nvSpPr>
        <p:spPr>
          <a:xfrm>
            <a:off x="9349511" y="3218688"/>
            <a:ext cx="1882063" cy="36576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a:rPr>
              <a:t>XOR the values</a:t>
            </a:r>
          </a:p>
        </p:txBody>
      </p:sp>
      <p:sp>
        <p:nvSpPr>
          <p:cNvPr id="35" name="TextBox 34"/>
          <p:cNvSpPr txBox="1"/>
          <p:nvPr/>
        </p:nvSpPr>
        <p:spPr>
          <a:xfrm>
            <a:off x="9349511" y="3657600"/>
            <a:ext cx="1882063"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Consolas"/>
              </a:rPr>
              <a:t>Eq. 11–13</a:t>
            </a:r>
          </a:p>
        </p:txBody>
      </p:sp>
      <p:sp>
        <p:nvSpPr>
          <p:cNvPr id="36" name="Rounded Rectangle 35"/>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Stages 1–2 prepare the data; stages 3–4 are the encryption.</a:t>
            </a:r>
          </a:p>
        </p:txBody>
      </p:sp>
      <p:sp>
        <p:nvSpPr>
          <p:cNvPr id="40" name="Rounded Rectangle 39"/>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output is the cipher cube D.</a:t>
            </a:r>
          </a:p>
        </p:txBody>
      </p:sp>
      <p:sp>
        <p:nvSpPr>
          <p:cNvPr id="42" name="Rounded Rectangle 41"/>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To decrypt, use the same key and reverse every stage.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VOCABULARY</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18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Five words you'll hear throughout.</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868680" y="1847088"/>
            <a:ext cx="10591495" cy="49377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47088"/>
            <a:ext cx="91440" cy="49377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1847088"/>
            <a:ext cx="2743200" cy="493776"/>
          </a:xfrm>
          <a:prstGeom prst="rect">
            <a:avLst/>
          </a:prstGeom>
          <a:noFill/>
        </p:spPr>
        <p:txBody>
          <a:bodyPr wrap="square" anchor="ctr" lIns="0" rIns="0" tIns="0" bIns="0">
            <a:spAutoFit/>
          </a:bodyPr>
          <a:lstStyle/>
          <a:p>
            <a:pPr algn="l">
              <a:lnSpc>
                <a:spcPct val="120000"/>
              </a:lnSpc>
            </a:pPr>
            <a:r>
              <a:rPr sz="1800" b="1" i="0">
                <a:solidFill>
                  <a:srgbClr val="0E7C7B"/>
                </a:solidFill>
                <a:latin typeface="Georgia"/>
              </a:rPr>
              <a:t>Plaintext</a:t>
            </a:r>
          </a:p>
        </p:txBody>
      </p:sp>
      <p:sp>
        <p:nvSpPr>
          <p:cNvPr id="12" name="TextBox 11"/>
          <p:cNvSpPr txBox="1"/>
          <p:nvPr/>
        </p:nvSpPr>
        <p:spPr>
          <a:xfrm>
            <a:off x="4069080" y="1847088"/>
            <a:ext cx="7116775" cy="493776"/>
          </a:xfrm>
          <a:prstGeom prst="rect">
            <a:avLst/>
          </a:prstGeom>
          <a:noFill/>
        </p:spPr>
        <p:txBody>
          <a:bodyPr wrap="square" anchor="ctr" lIns="0" rIns="0" tIns="0" bIns="0">
            <a:spAutoFit/>
          </a:bodyPr>
          <a:lstStyle/>
          <a:p>
            <a:pPr algn="l">
              <a:lnSpc>
                <a:spcPct val="120000"/>
              </a:lnSpc>
            </a:pPr>
            <a:r>
              <a:rPr sz="1500" b="0" i="0">
                <a:solidFill>
                  <a:srgbClr val="12222E"/>
                </a:solidFill>
                <a:latin typeface="Segoe UI"/>
              </a:rPr>
              <a:t>the original image data we want to protect</a:t>
            </a:r>
          </a:p>
        </p:txBody>
      </p:sp>
      <p:sp>
        <p:nvSpPr>
          <p:cNvPr id="13" name="Rounded Rectangle 12"/>
          <p:cNvSpPr/>
          <p:nvPr/>
        </p:nvSpPr>
        <p:spPr>
          <a:xfrm>
            <a:off x="868680" y="2386584"/>
            <a:ext cx="10591495" cy="493776"/>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386584"/>
            <a:ext cx="91440" cy="4937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386584"/>
            <a:ext cx="2743200" cy="493776"/>
          </a:xfrm>
          <a:prstGeom prst="rect">
            <a:avLst/>
          </a:prstGeom>
          <a:noFill/>
        </p:spPr>
        <p:txBody>
          <a:bodyPr wrap="square" anchor="ctr" lIns="0" rIns="0" tIns="0" bIns="0">
            <a:spAutoFit/>
          </a:bodyPr>
          <a:lstStyle/>
          <a:p>
            <a:pPr algn="l">
              <a:lnSpc>
                <a:spcPct val="120000"/>
              </a:lnSpc>
            </a:pPr>
            <a:r>
              <a:rPr sz="1800" b="1" i="0">
                <a:solidFill>
                  <a:srgbClr val="4F46E5"/>
                </a:solidFill>
                <a:latin typeface="Georgia"/>
              </a:rPr>
              <a:t>Ciphertext</a:t>
            </a:r>
          </a:p>
        </p:txBody>
      </p:sp>
      <p:sp>
        <p:nvSpPr>
          <p:cNvPr id="16" name="TextBox 15"/>
          <p:cNvSpPr txBox="1"/>
          <p:nvPr/>
        </p:nvSpPr>
        <p:spPr>
          <a:xfrm>
            <a:off x="4069080" y="2386584"/>
            <a:ext cx="7116775" cy="493776"/>
          </a:xfrm>
          <a:prstGeom prst="rect">
            <a:avLst/>
          </a:prstGeom>
          <a:noFill/>
        </p:spPr>
        <p:txBody>
          <a:bodyPr wrap="square" anchor="ctr" lIns="0" rIns="0" tIns="0" bIns="0">
            <a:spAutoFit/>
          </a:bodyPr>
          <a:lstStyle/>
          <a:p>
            <a:pPr algn="l">
              <a:lnSpc>
                <a:spcPct val="120000"/>
              </a:lnSpc>
            </a:pPr>
            <a:r>
              <a:rPr sz="1500" b="0" i="0">
                <a:solidFill>
                  <a:srgbClr val="12222E"/>
                </a:solidFill>
                <a:latin typeface="Segoe UI"/>
              </a:rPr>
              <a:t>the scrambled, noise-like output sent over the link</a:t>
            </a:r>
          </a:p>
        </p:txBody>
      </p:sp>
      <p:sp>
        <p:nvSpPr>
          <p:cNvPr id="17" name="Rounded Rectangle 16"/>
          <p:cNvSpPr/>
          <p:nvPr/>
        </p:nvSpPr>
        <p:spPr>
          <a:xfrm>
            <a:off x="868680" y="2926080"/>
            <a:ext cx="10591495" cy="49377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2926080"/>
            <a:ext cx="91440" cy="4937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2926080"/>
            <a:ext cx="2743200" cy="493776"/>
          </a:xfrm>
          <a:prstGeom prst="rect">
            <a:avLst/>
          </a:prstGeom>
          <a:noFill/>
        </p:spPr>
        <p:txBody>
          <a:bodyPr wrap="square" anchor="ctr" lIns="0" rIns="0" tIns="0" bIns="0">
            <a:spAutoFit/>
          </a:bodyPr>
          <a:lstStyle/>
          <a:p>
            <a:pPr algn="l">
              <a:lnSpc>
                <a:spcPct val="120000"/>
              </a:lnSpc>
            </a:pPr>
            <a:r>
              <a:rPr sz="1800" b="1" i="0">
                <a:solidFill>
                  <a:srgbClr val="4F46E5"/>
                </a:solidFill>
                <a:latin typeface="Georgia"/>
              </a:rPr>
              <a:t>Key</a:t>
            </a:r>
          </a:p>
        </p:txBody>
      </p:sp>
      <p:sp>
        <p:nvSpPr>
          <p:cNvPr id="20" name="TextBox 19"/>
          <p:cNvSpPr txBox="1"/>
          <p:nvPr/>
        </p:nvSpPr>
        <p:spPr>
          <a:xfrm>
            <a:off x="4069080" y="2926080"/>
            <a:ext cx="7116775" cy="493776"/>
          </a:xfrm>
          <a:prstGeom prst="rect">
            <a:avLst/>
          </a:prstGeom>
          <a:noFill/>
        </p:spPr>
        <p:txBody>
          <a:bodyPr wrap="square" anchor="ctr" lIns="0" rIns="0" tIns="0" bIns="0">
            <a:spAutoFit/>
          </a:bodyPr>
          <a:lstStyle/>
          <a:p>
            <a:pPr algn="l">
              <a:lnSpc>
                <a:spcPct val="120000"/>
              </a:lnSpc>
            </a:pPr>
            <a:r>
              <a:rPr sz="1500" b="0" i="0">
                <a:solidFill>
                  <a:srgbClr val="12222E"/>
                </a:solidFill>
                <a:latin typeface="Segoe UI"/>
              </a:rPr>
              <a:t>the secret numbers that drive — and reverse — encryption</a:t>
            </a:r>
          </a:p>
        </p:txBody>
      </p:sp>
      <p:sp>
        <p:nvSpPr>
          <p:cNvPr id="21" name="Rounded Rectangle 20"/>
          <p:cNvSpPr/>
          <p:nvPr/>
        </p:nvSpPr>
        <p:spPr>
          <a:xfrm>
            <a:off x="868680" y="3465576"/>
            <a:ext cx="10591495" cy="493776"/>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465576"/>
            <a:ext cx="91440" cy="49377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465576"/>
            <a:ext cx="2743200" cy="493776"/>
          </a:xfrm>
          <a:prstGeom prst="rect">
            <a:avLst/>
          </a:prstGeom>
          <a:noFill/>
        </p:spPr>
        <p:txBody>
          <a:bodyPr wrap="square" anchor="ctr" lIns="0" rIns="0" tIns="0" bIns="0">
            <a:spAutoFit/>
          </a:bodyPr>
          <a:lstStyle/>
          <a:p>
            <a:pPr algn="l">
              <a:lnSpc>
                <a:spcPct val="120000"/>
              </a:lnSpc>
            </a:pPr>
            <a:r>
              <a:rPr sz="1800" b="1" i="0">
                <a:solidFill>
                  <a:srgbClr val="0E7C7B"/>
                </a:solidFill>
                <a:latin typeface="Georgia"/>
              </a:rPr>
              <a:t>Confusion</a:t>
            </a:r>
          </a:p>
        </p:txBody>
      </p:sp>
      <p:sp>
        <p:nvSpPr>
          <p:cNvPr id="24" name="TextBox 23"/>
          <p:cNvSpPr txBox="1"/>
          <p:nvPr/>
        </p:nvSpPr>
        <p:spPr>
          <a:xfrm>
            <a:off x="4069080" y="3465576"/>
            <a:ext cx="7116775" cy="493776"/>
          </a:xfrm>
          <a:prstGeom prst="rect">
            <a:avLst/>
          </a:prstGeom>
          <a:noFill/>
        </p:spPr>
        <p:txBody>
          <a:bodyPr wrap="square" anchor="ctr" lIns="0" rIns="0" tIns="0" bIns="0">
            <a:spAutoFit/>
          </a:bodyPr>
          <a:lstStyle/>
          <a:p>
            <a:pPr algn="l">
              <a:lnSpc>
                <a:spcPct val="120000"/>
              </a:lnSpc>
            </a:pPr>
            <a:r>
              <a:rPr sz="1500" b="0" i="0">
                <a:solidFill>
                  <a:srgbClr val="12222E"/>
                </a:solidFill>
                <a:latin typeface="Segoe UI"/>
              </a:rPr>
              <a:t>rearranging where pixels sit (positions change)</a:t>
            </a:r>
          </a:p>
        </p:txBody>
      </p:sp>
      <p:sp>
        <p:nvSpPr>
          <p:cNvPr id="25" name="Rounded Rectangle 24"/>
          <p:cNvSpPr/>
          <p:nvPr/>
        </p:nvSpPr>
        <p:spPr>
          <a:xfrm>
            <a:off x="868680" y="4005072"/>
            <a:ext cx="10591495" cy="49377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4005072"/>
            <a:ext cx="91440" cy="493776"/>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4005072"/>
            <a:ext cx="2743200" cy="493776"/>
          </a:xfrm>
          <a:prstGeom prst="rect">
            <a:avLst/>
          </a:prstGeom>
          <a:noFill/>
        </p:spPr>
        <p:txBody>
          <a:bodyPr wrap="square" anchor="ctr" lIns="0" rIns="0" tIns="0" bIns="0">
            <a:spAutoFit/>
          </a:bodyPr>
          <a:lstStyle/>
          <a:p>
            <a:pPr algn="l">
              <a:lnSpc>
                <a:spcPct val="120000"/>
              </a:lnSpc>
            </a:pPr>
            <a:r>
              <a:rPr sz="1800" b="1" i="0">
                <a:solidFill>
                  <a:srgbClr val="C2710C"/>
                </a:solidFill>
                <a:latin typeface="Georgia"/>
              </a:rPr>
              <a:t>Diffusion</a:t>
            </a:r>
          </a:p>
        </p:txBody>
      </p:sp>
      <p:sp>
        <p:nvSpPr>
          <p:cNvPr id="28" name="TextBox 27"/>
          <p:cNvSpPr txBox="1"/>
          <p:nvPr/>
        </p:nvSpPr>
        <p:spPr>
          <a:xfrm>
            <a:off x="4069080" y="4005072"/>
            <a:ext cx="7116775" cy="493776"/>
          </a:xfrm>
          <a:prstGeom prst="rect">
            <a:avLst/>
          </a:prstGeom>
          <a:noFill/>
        </p:spPr>
        <p:txBody>
          <a:bodyPr wrap="square" anchor="ctr" lIns="0" rIns="0" tIns="0" bIns="0">
            <a:spAutoFit/>
          </a:bodyPr>
          <a:lstStyle/>
          <a:p>
            <a:pPr algn="l">
              <a:lnSpc>
                <a:spcPct val="120000"/>
              </a:lnSpc>
            </a:pPr>
            <a:r>
              <a:rPr sz="1500" b="0" i="0">
                <a:solidFill>
                  <a:srgbClr val="12222E"/>
                </a:solidFill>
                <a:latin typeface="Segoe UI"/>
              </a:rPr>
              <a:t>changing what pixels are worth (values change)</a:t>
            </a:r>
          </a:p>
        </p:txBody>
      </p:sp>
      <p:sp>
        <p:nvSpPr>
          <p:cNvPr id="29" name="Rounded Rectangle 28"/>
          <p:cNvSpPr/>
          <p:nvPr/>
        </p:nvSpPr>
        <p:spPr>
          <a:xfrm>
            <a:off x="868680" y="4800600"/>
            <a:ext cx="10591495" cy="118872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 y="4800600"/>
            <a:ext cx="91440" cy="1188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79576" y="508863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63624" y="4965192"/>
            <a:ext cx="9640519" cy="42976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Keep these five straight and the rest of the talk follows.</a:t>
            </a:r>
          </a:p>
        </p:txBody>
      </p:sp>
      <p:sp>
        <p:nvSpPr>
          <p:cNvPr id="33" name="Rounded Rectangle 32"/>
          <p:cNvSpPr/>
          <p:nvPr/>
        </p:nvSpPr>
        <p:spPr>
          <a:xfrm>
            <a:off x="1179576" y="5518404"/>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63624" y="5394959"/>
            <a:ext cx="9640519" cy="42976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The two to watch: confusion (positions) versus diffusion (values).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TOOL 1 — DWT</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19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One transform splits an image into four.</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pic>
        <p:nvPicPr>
          <p:cNvPr id="9" name="Picture 8" descr="dwt_bands.png"/>
          <p:cNvPicPr>
            <a:picLocks noChangeAspect="1"/>
          </p:cNvPicPr>
          <p:nvPr/>
        </p:nvPicPr>
        <p:blipFill>
          <a:blip r:embed="rId2"/>
          <a:stretch>
            <a:fillRect/>
          </a:stretch>
        </p:blipFill>
        <p:spPr>
          <a:xfrm>
            <a:off x="960120" y="1847088"/>
            <a:ext cx="2423160" cy="2423160"/>
          </a:xfrm>
          <a:prstGeom prst="rect">
            <a:avLst/>
          </a:prstGeom>
          <a:effectLst/>
        </p:spPr>
      </p:pic>
      <p:sp>
        <p:nvSpPr>
          <p:cNvPr id="10" name="Rectangle 9"/>
          <p:cNvSpPr/>
          <p:nvPr/>
        </p:nvSpPr>
        <p:spPr>
          <a:xfrm>
            <a:off x="960120" y="1847088"/>
            <a:ext cx="2423160" cy="242316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6200" y="1938528"/>
            <a:ext cx="7573975" cy="320040"/>
          </a:xfrm>
          <a:prstGeom prst="rect">
            <a:avLst/>
          </a:prstGeom>
          <a:noFill/>
        </p:spPr>
        <p:txBody>
          <a:bodyPr wrap="square" anchor="t" lIns="0" rIns="0" tIns="0" bIns="0">
            <a:spAutoFit/>
          </a:bodyPr>
          <a:lstStyle/>
          <a:p>
            <a:pPr algn="l">
              <a:lnSpc>
                <a:spcPct val="120000"/>
              </a:lnSpc>
            </a:pPr>
            <a:r>
              <a:rPr sz="2000" b="1" i="0">
                <a:solidFill>
                  <a:srgbClr val="0A4A47"/>
                </a:solidFill>
                <a:latin typeface="Georgia"/>
              </a:rPr>
              <a:t>LL   </a:t>
            </a:r>
            <a:r>
              <a:rPr sz="1400" b="0" i="0">
                <a:solidFill>
                  <a:srgbClr val="12222E"/>
                </a:solidFill>
                <a:latin typeface="Segoe UI"/>
              </a:rPr>
              <a:t>the rough visual base — half size — KEEP it</a:t>
            </a:r>
          </a:p>
        </p:txBody>
      </p:sp>
      <p:sp>
        <p:nvSpPr>
          <p:cNvPr id="12" name="TextBox 11"/>
          <p:cNvSpPr txBox="1"/>
          <p:nvPr/>
        </p:nvSpPr>
        <p:spPr>
          <a:xfrm>
            <a:off x="3886200" y="2505456"/>
            <a:ext cx="7573975" cy="320040"/>
          </a:xfrm>
          <a:prstGeom prst="rect">
            <a:avLst/>
          </a:prstGeom>
          <a:noFill/>
        </p:spPr>
        <p:txBody>
          <a:bodyPr wrap="square" anchor="t" lIns="0" rIns="0" tIns="0" bIns="0">
            <a:spAutoFit/>
          </a:bodyPr>
          <a:lstStyle/>
          <a:p>
            <a:pPr algn="l">
              <a:lnSpc>
                <a:spcPct val="120000"/>
              </a:lnSpc>
            </a:pPr>
            <a:r>
              <a:rPr sz="2000" b="1" i="0">
                <a:solidFill>
                  <a:srgbClr val="566571"/>
                </a:solidFill>
                <a:latin typeface="Georgia"/>
              </a:rPr>
              <a:t>LH   </a:t>
            </a:r>
            <a:r>
              <a:rPr sz="1400" b="0" i="0">
                <a:solidFill>
                  <a:srgbClr val="566571"/>
                </a:solidFill>
                <a:latin typeface="Segoe UI"/>
              </a:rPr>
              <a:t>horizontal edge detail — drop</a:t>
            </a:r>
          </a:p>
        </p:txBody>
      </p:sp>
      <p:sp>
        <p:nvSpPr>
          <p:cNvPr id="13" name="TextBox 12"/>
          <p:cNvSpPr txBox="1"/>
          <p:nvPr/>
        </p:nvSpPr>
        <p:spPr>
          <a:xfrm>
            <a:off x="3886200" y="3072384"/>
            <a:ext cx="7573975" cy="320040"/>
          </a:xfrm>
          <a:prstGeom prst="rect">
            <a:avLst/>
          </a:prstGeom>
          <a:noFill/>
        </p:spPr>
        <p:txBody>
          <a:bodyPr wrap="square" anchor="t" lIns="0" rIns="0" tIns="0" bIns="0">
            <a:spAutoFit/>
          </a:bodyPr>
          <a:lstStyle/>
          <a:p>
            <a:pPr algn="l">
              <a:lnSpc>
                <a:spcPct val="120000"/>
              </a:lnSpc>
            </a:pPr>
            <a:r>
              <a:rPr sz="2000" b="1" i="0">
                <a:solidFill>
                  <a:srgbClr val="566571"/>
                </a:solidFill>
                <a:latin typeface="Georgia"/>
              </a:rPr>
              <a:t>HL   </a:t>
            </a:r>
            <a:r>
              <a:rPr sz="1400" b="0" i="0">
                <a:solidFill>
                  <a:srgbClr val="566571"/>
                </a:solidFill>
                <a:latin typeface="Segoe UI"/>
              </a:rPr>
              <a:t>vertical edge detail — drop</a:t>
            </a:r>
          </a:p>
        </p:txBody>
      </p:sp>
      <p:sp>
        <p:nvSpPr>
          <p:cNvPr id="14" name="TextBox 13"/>
          <p:cNvSpPr txBox="1"/>
          <p:nvPr/>
        </p:nvSpPr>
        <p:spPr>
          <a:xfrm>
            <a:off x="3886200" y="3639312"/>
            <a:ext cx="7573975" cy="320040"/>
          </a:xfrm>
          <a:prstGeom prst="rect">
            <a:avLst/>
          </a:prstGeom>
          <a:noFill/>
        </p:spPr>
        <p:txBody>
          <a:bodyPr wrap="square" anchor="t" lIns="0" rIns="0" tIns="0" bIns="0">
            <a:spAutoFit/>
          </a:bodyPr>
          <a:lstStyle/>
          <a:p>
            <a:pPr algn="l">
              <a:lnSpc>
                <a:spcPct val="120000"/>
              </a:lnSpc>
            </a:pPr>
            <a:r>
              <a:rPr sz="2000" b="1" i="0">
                <a:solidFill>
                  <a:srgbClr val="566571"/>
                </a:solidFill>
                <a:latin typeface="Georgia"/>
              </a:rPr>
              <a:t>HH   </a:t>
            </a:r>
            <a:r>
              <a:rPr sz="1400" b="0" i="0">
                <a:solidFill>
                  <a:srgbClr val="566571"/>
                </a:solidFill>
                <a:latin typeface="Segoe UI"/>
              </a:rPr>
              <a:t>diagonal edge detail — drop</a:t>
            </a:r>
          </a:p>
        </p:txBody>
      </p:sp>
      <p:sp>
        <p:nvSpPr>
          <p:cNvPr id="15" name="Rounded Rectangle 14"/>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DWT is the wavelet cousin of the DCT used in JPEG.</a:t>
            </a:r>
          </a:p>
        </p:txBody>
      </p:sp>
      <p:sp>
        <p:nvSpPr>
          <p:cNvPr id="19" name="Rounded Rectangle 18"/>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It separates the rough base from the fine edge detail.</a:t>
            </a:r>
          </a:p>
        </p:txBody>
      </p:sp>
      <p:sp>
        <p:nvSpPr>
          <p:cNvPr id="21" name="Rounded Rectangle 20"/>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We keep the base because vision lives in low frequencies.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TOOL 1 — DWT</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20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Keep LL. Drop three-quarters.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pic>
        <p:nvPicPr>
          <p:cNvPr id="9" name="Picture 8" descr="source.png"/>
          <p:cNvPicPr>
            <a:picLocks noChangeAspect="1"/>
          </p:cNvPicPr>
          <p:nvPr/>
        </p:nvPicPr>
        <p:blipFill>
          <a:blip r:embed="rId2"/>
          <a:stretch>
            <a:fillRect/>
          </a:stretch>
        </p:blipFill>
        <p:spPr>
          <a:xfrm>
            <a:off x="1051560" y="1938528"/>
            <a:ext cx="2286000" cy="2286000"/>
          </a:xfrm>
          <a:prstGeom prst="rect">
            <a:avLst/>
          </a:prstGeom>
          <a:effectLst/>
        </p:spPr>
      </p:pic>
      <p:sp>
        <p:nvSpPr>
          <p:cNvPr id="10" name="Rectangle 9"/>
          <p:cNvSpPr/>
          <p:nvPr/>
        </p:nvSpPr>
        <p:spPr>
          <a:xfrm>
            <a:off x="1051560" y="1938528"/>
            <a:ext cx="2286000" cy="228600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97679"/>
            <a:ext cx="2286000" cy="228600"/>
          </a:xfrm>
          <a:prstGeom prst="rect">
            <a:avLst/>
          </a:prstGeom>
          <a:noFill/>
        </p:spPr>
        <p:txBody>
          <a:bodyPr wrap="square" anchor="t" lIns="0" rIns="0" tIns="0" bIns="0">
            <a:spAutoFit/>
          </a:bodyPr>
          <a:lstStyle/>
          <a:p>
            <a:pPr algn="ctr">
              <a:lnSpc>
                <a:spcPct val="120000"/>
              </a:lnSpc>
            </a:pPr>
            <a:r>
              <a:rPr sz="1100" b="1" i="0">
                <a:solidFill>
                  <a:srgbClr val="566571"/>
                </a:solidFill>
                <a:latin typeface="Segoe UI Semibold"/>
              </a:rPr>
              <a:t>ORIGINAL · 512²</a:t>
            </a:r>
          </a:p>
        </p:txBody>
      </p:sp>
      <p:cxnSp>
        <p:nvCxnSpPr>
          <p:cNvPr id="12" name="Connector 11"/>
          <p:cNvCxnSpPr/>
          <p:nvPr/>
        </p:nvCxnSpPr>
        <p:spPr>
          <a:xfrm>
            <a:off x="3566160" y="3081528"/>
            <a:ext cx="731520" cy="0"/>
          </a:xfrm>
          <a:prstGeom prst="line">
            <a:avLst/>
          </a:prstGeom>
          <a:ln w="3302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13" name="Picture 12" descr="ll_compressed.png"/>
          <p:cNvPicPr>
            <a:picLocks noChangeAspect="1"/>
          </p:cNvPicPr>
          <p:nvPr/>
        </p:nvPicPr>
        <p:blipFill>
          <a:blip r:embed="rId3"/>
          <a:stretch>
            <a:fillRect/>
          </a:stretch>
        </p:blipFill>
        <p:spPr>
          <a:xfrm>
            <a:off x="4572000" y="2624328"/>
            <a:ext cx="1143000" cy="1143000"/>
          </a:xfrm>
          <a:prstGeom prst="rect">
            <a:avLst/>
          </a:prstGeom>
          <a:effectLst/>
        </p:spPr>
      </p:pic>
      <p:sp>
        <p:nvSpPr>
          <p:cNvPr id="14" name="Rectangle 13"/>
          <p:cNvSpPr/>
          <p:nvPr/>
        </p:nvSpPr>
        <p:spPr>
          <a:xfrm>
            <a:off x="4572000" y="2624328"/>
            <a:ext cx="1143000" cy="114300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858768"/>
            <a:ext cx="1417320" cy="228600"/>
          </a:xfrm>
          <a:prstGeom prst="rect">
            <a:avLst/>
          </a:prstGeom>
          <a:noFill/>
        </p:spPr>
        <p:txBody>
          <a:bodyPr wrap="square" anchor="t" lIns="0" rIns="0" tIns="0" bIns="0">
            <a:spAutoFit/>
          </a:bodyPr>
          <a:lstStyle/>
          <a:p>
            <a:pPr algn="ctr">
              <a:lnSpc>
                <a:spcPct val="120000"/>
              </a:lnSpc>
            </a:pPr>
            <a:r>
              <a:rPr sz="1100" b="1" i="0">
                <a:solidFill>
                  <a:srgbClr val="0A4A47"/>
                </a:solidFill>
                <a:latin typeface="Segoe UI Semibold"/>
              </a:rPr>
              <a:t>LL · 256²</a:t>
            </a:r>
          </a:p>
        </p:txBody>
      </p:sp>
      <p:sp>
        <p:nvSpPr>
          <p:cNvPr id="16" name="TextBox 15"/>
          <p:cNvSpPr txBox="1"/>
          <p:nvPr/>
        </p:nvSpPr>
        <p:spPr>
          <a:xfrm>
            <a:off x="6446520" y="2212848"/>
            <a:ext cx="5013655" cy="502920"/>
          </a:xfrm>
          <a:prstGeom prst="rect">
            <a:avLst/>
          </a:prstGeom>
          <a:noFill/>
        </p:spPr>
        <p:txBody>
          <a:bodyPr wrap="square" anchor="t" lIns="0" rIns="0" tIns="0" bIns="0">
            <a:spAutoFit/>
          </a:bodyPr>
          <a:lstStyle/>
          <a:p>
            <a:pPr algn="l">
              <a:lnSpc>
                <a:spcPct val="120000"/>
              </a:lnSpc>
            </a:pPr>
            <a:r>
              <a:rPr sz="3200" b="1" i="0">
                <a:solidFill>
                  <a:srgbClr val="0A4A47"/>
                </a:solidFill>
                <a:latin typeface="Georgia"/>
              </a:rPr>
              <a:t>¼ the area</a:t>
            </a:r>
          </a:p>
        </p:txBody>
      </p:sp>
      <p:sp>
        <p:nvSpPr>
          <p:cNvPr id="17" name="TextBox 16"/>
          <p:cNvSpPr txBox="1"/>
          <p:nvPr/>
        </p:nvSpPr>
        <p:spPr>
          <a:xfrm>
            <a:off x="6446520" y="2944368"/>
            <a:ext cx="5013655" cy="274320"/>
          </a:xfrm>
          <a:prstGeom prst="rect">
            <a:avLst/>
          </a:prstGeom>
          <a:noFill/>
        </p:spPr>
        <p:txBody>
          <a:bodyPr wrap="square" anchor="t" lIns="0" rIns="0" tIns="0" bIns="0">
            <a:spAutoFit/>
          </a:bodyPr>
          <a:lstStyle/>
          <a:p>
            <a:pPr algn="l">
              <a:lnSpc>
                <a:spcPct val="120000"/>
              </a:lnSpc>
            </a:pPr>
            <a:r>
              <a:rPr sz="1300" b="1" i="0">
                <a:solidFill>
                  <a:srgbClr val="4F46E5"/>
                </a:solidFill>
                <a:latin typeface="Consolas"/>
              </a:rPr>
              <a:t>single-level DWT · Eq. 4</a:t>
            </a:r>
          </a:p>
        </p:txBody>
      </p:sp>
      <p:sp>
        <p:nvSpPr>
          <p:cNvPr id="18" name="Rounded Rectangle 17"/>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Keeping only LL drops 75% of the pixels.</a:t>
            </a:r>
          </a:p>
        </p:txBody>
      </p:sp>
      <p:sp>
        <p:nvSpPr>
          <p:cNvPr id="22" name="Rounded Rectangle 21"/>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Vision lives in low frequencies, so the eye barely notices.</a:t>
            </a:r>
          </a:p>
        </p:txBody>
      </p:sp>
      <p:sp>
        <p:nvSpPr>
          <p:cNvPr id="24" name="Rounded Rectangle 23"/>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Lossy, but the recovery still looks right.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TOOL 2 — CHAOS</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21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A chaotic map is deterministic randomness.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ectangle 8"/>
          <p:cNvSpPr/>
          <p:nvPr/>
        </p:nvSpPr>
        <p:spPr>
          <a:xfrm>
            <a:off x="868680" y="1847088"/>
            <a:ext cx="6400800" cy="2331720"/>
          </a:xfrm>
          <a:prstGeom prst="rect">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051560" y="2331262"/>
            <a:ext cx="208104" cy="81884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59664" y="2331262"/>
            <a:ext cx="208105" cy="1625428"/>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67769" y="3908373"/>
            <a:ext cx="208105" cy="48317"/>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75874" y="3725084"/>
            <a:ext cx="208105" cy="183289"/>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883979" y="3132690"/>
            <a:ext cx="208105" cy="592394"/>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92084" y="2331998"/>
            <a:ext cx="208104" cy="800692"/>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300188" y="2331998"/>
            <a:ext cx="208105" cy="1621774"/>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508293" y="3896982"/>
            <a:ext cx="208105" cy="56790"/>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716398" y="3683520"/>
            <a:ext cx="208105" cy="213462"/>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924503" y="3021010"/>
            <a:ext cx="208105" cy="662510"/>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132608" y="2371664"/>
            <a:ext cx="208105" cy="64934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0713" y="2371664"/>
            <a:ext cx="208104" cy="142858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548817" y="3355927"/>
            <a:ext cx="208105" cy="444323"/>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56922" y="2433954"/>
            <a:ext cx="208105" cy="921973"/>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65027" y="2433954"/>
            <a:ext cx="208105" cy="1140610"/>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173132" y="2768010"/>
            <a:ext cx="208105" cy="806554"/>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381237" y="2685189"/>
            <a:ext cx="208105" cy="82821"/>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89342" y="2685189"/>
            <a:ext cx="208104" cy="17005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797446" y="2542029"/>
            <a:ext cx="208105" cy="31321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005551" y="2542029"/>
            <a:ext cx="208105" cy="685595"/>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13656" y="2345829"/>
            <a:ext cx="208105" cy="881795"/>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21761" y="2345829"/>
            <a:ext cx="208105" cy="155354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629866" y="3692199"/>
            <a:ext cx="208105" cy="207176"/>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837971" y="3043639"/>
            <a:ext cx="208104" cy="648560"/>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046075" y="2358742"/>
            <a:ext cx="208105" cy="684897"/>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254180" y="2358742"/>
            <a:ext cx="208105" cy="1490685"/>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462285" y="3516800"/>
            <a:ext cx="208105" cy="332627"/>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670390" y="2657225"/>
            <a:ext cx="208105" cy="859575"/>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78495" y="2657225"/>
            <a:ext cx="208105" cy="262950"/>
          </a:xfrm>
          <a:prstGeom prst="line">
            <a:avLst/>
          </a:prstGeom>
          <a:ln w="25400">
            <a:solidFill>
              <a:srgbClr val="4F46E5"/>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51560" y="2331262"/>
            <a:ext cx="208104" cy="818846"/>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259664" y="2331262"/>
            <a:ext cx="208105" cy="1625428"/>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467769" y="3908373"/>
            <a:ext cx="208105" cy="48317"/>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675874" y="3725084"/>
            <a:ext cx="208105" cy="183289"/>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883979" y="3132690"/>
            <a:ext cx="208105" cy="592394"/>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092084" y="2331998"/>
            <a:ext cx="208104" cy="800692"/>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300188" y="2331998"/>
            <a:ext cx="208105" cy="1620128"/>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508293" y="3890575"/>
            <a:ext cx="208105" cy="61551"/>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716398" y="3660420"/>
            <a:ext cx="208105" cy="230155"/>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924503" y="2962563"/>
            <a:ext cx="208105" cy="697857"/>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132608" y="2416527"/>
            <a:ext cx="208105" cy="546036"/>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40713" y="2416527"/>
            <a:ext cx="208104" cy="1219281"/>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548817" y="2903138"/>
            <a:ext cx="208105" cy="732670"/>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56922" y="2479123"/>
            <a:ext cx="208105" cy="424015"/>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965027" y="2479123"/>
            <a:ext cx="208105" cy="943553"/>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173132" y="2511363"/>
            <a:ext cx="208105" cy="911313"/>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381237" y="2511363"/>
            <a:ext cx="208105" cy="808950"/>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589342" y="2401490"/>
            <a:ext cx="208104" cy="918823"/>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797446" y="2401490"/>
            <a:ext cx="208105" cy="1288347"/>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005551" y="3037445"/>
            <a:ext cx="208105" cy="652392"/>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213656" y="2362032"/>
            <a:ext cx="208105" cy="675413"/>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421761" y="2362032"/>
            <a:ext cx="208105" cy="1474796"/>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629866" y="3474467"/>
            <a:ext cx="208105" cy="362361"/>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837971" y="2586307"/>
            <a:ext cx="208104" cy="888160"/>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046075" y="2586307"/>
            <a:ext cx="208105" cy="515531"/>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254180" y="2336911"/>
            <a:ext cx="208105" cy="764927"/>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462285" y="2336911"/>
            <a:ext cx="208105" cy="1597433"/>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670390" y="3822195"/>
            <a:ext cx="208105" cy="112149"/>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78495" y="3426267"/>
            <a:ext cx="208105" cy="395928"/>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1097280" y="2011680"/>
            <a:ext cx="2103120" cy="310896"/>
          </a:xfrm>
          <a:prstGeom prst="roundRect">
            <a:avLst>
              <a:gd name="adj" fmla="val 6000"/>
            </a:avLst>
          </a:prstGeom>
          <a:solidFill>
            <a:srgbClr val="EC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97280" y="2011680"/>
            <a:ext cx="2103120" cy="310896"/>
          </a:xfrm>
          <a:prstGeom prst="rect">
            <a:avLst/>
          </a:prstGeom>
          <a:noFill/>
        </p:spPr>
        <p:txBody>
          <a:bodyPr wrap="square" anchor="ctr" lIns="0" rIns="0" tIns="0" bIns="0">
            <a:spAutoFit/>
          </a:bodyPr>
          <a:lstStyle/>
          <a:p>
            <a:pPr algn="ctr">
              <a:lnSpc>
                <a:spcPct val="120000"/>
              </a:lnSpc>
            </a:pPr>
            <a:r>
              <a:rPr sz="1050" b="1" i="0">
                <a:solidFill>
                  <a:srgbClr val="312E81"/>
                </a:solidFill>
                <a:latin typeface="Segoe UI Semibold"/>
              </a:rPr>
              <a:t>Key A   x0 = 0.5000</a:t>
            </a:r>
          </a:p>
        </p:txBody>
      </p:sp>
      <p:sp>
        <p:nvSpPr>
          <p:cNvPr id="70" name="Rounded Rectangle 69"/>
          <p:cNvSpPr/>
          <p:nvPr/>
        </p:nvSpPr>
        <p:spPr>
          <a:xfrm>
            <a:off x="3383280" y="2011680"/>
            <a:ext cx="2834640" cy="310896"/>
          </a:xfrm>
          <a:prstGeom prst="roundRect">
            <a:avLst>
              <a:gd name="adj" fmla="val 6000"/>
            </a:avLst>
          </a:prstGeom>
          <a:solidFill>
            <a:srgbClr val="FBE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383280" y="2011680"/>
            <a:ext cx="2834640" cy="310896"/>
          </a:xfrm>
          <a:prstGeom prst="rect">
            <a:avLst/>
          </a:prstGeom>
          <a:noFill/>
        </p:spPr>
        <p:txBody>
          <a:bodyPr wrap="square" anchor="ctr" lIns="0" rIns="0" tIns="0" bIns="0">
            <a:spAutoFit/>
          </a:bodyPr>
          <a:lstStyle/>
          <a:p>
            <a:pPr algn="ctr">
              <a:lnSpc>
                <a:spcPct val="120000"/>
              </a:lnSpc>
            </a:pPr>
            <a:r>
              <a:rPr sz="1050" b="1" i="0">
                <a:solidFill>
                  <a:srgbClr val="C2710C"/>
                </a:solidFill>
                <a:latin typeface="Segoe UI Semibold"/>
              </a:rPr>
              <a:t>Key B   x0 = 0.5000 + 10⁻¹⁵</a:t>
            </a:r>
          </a:p>
        </p:txBody>
      </p:sp>
      <p:sp>
        <p:nvSpPr>
          <p:cNvPr id="72" name="Rounded Rectangle 71"/>
          <p:cNvSpPr/>
          <p:nvPr/>
        </p:nvSpPr>
        <p:spPr>
          <a:xfrm>
            <a:off x="7635240" y="1847088"/>
            <a:ext cx="3824935" cy="233172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09560" y="2075688"/>
            <a:ext cx="2743200" cy="274320"/>
          </a:xfrm>
          <a:prstGeom prst="rect">
            <a:avLst/>
          </a:prstGeom>
          <a:noFill/>
        </p:spPr>
        <p:txBody>
          <a:bodyPr wrap="square" anchor="t" lIns="0" rIns="0" tIns="0" bIns="0">
            <a:spAutoFit/>
          </a:bodyPr>
          <a:lstStyle/>
          <a:p>
            <a:pPr algn="l">
              <a:lnSpc>
                <a:spcPct val="120000"/>
              </a:lnSpc>
            </a:pPr>
            <a:r>
              <a:rPr sz="1100" b="1" i="0">
                <a:solidFill>
                  <a:srgbClr val="312E81"/>
                </a:solidFill>
                <a:latin typeface="Segoe UI Semibold"/>
              </a:rPr>
              <a:t>THE KEY = 9 NUMBERS</a:t>
            </a:r>
          </a:p>
        </p:txBody>
      </p:sp>
      <p:sp>
        <p:nvSpPr>
          <p:cNvPr id="74" name="TextBox 73"/>
          <p:cNvSpPr txBox="1"/>
          <p:nvPr/>
        </p:nvSpPr>
        <p:spPr>
          <a:xfrm>
            <a:off x="7909560" y="2414016"/>
            <a:ext cx="2926080" cy="365760"/>
          </a:xfrm>
          <a:prstGeom prst="rect">
            <a:avLst/>
          </a:prstGeom>
          <a:noFill/>
        </p:spPr>
        <p:txBody>
          <a:bodyPr wrap="square" anchor="t" lIns="0" rIns="0" tIns="0" bIns="0">
            <a:spAutoFit/>
          </a:bodyPr>
          <a:lstStyle/>
          <a:p>
            <a:pPr algn="l">
              <a:lnSpc>
                <a:spcPct val="120000"/>
              </a:lnSpc>
            </a:pPr>
            <a:r>
              <a:rPr sz="2200" b="1" i="0">
                <a:solidFill>
                  <a:srgbClr val="312E81"/>
                </a:solidFill>
                <a:latin typeface="Consolas"/>
              </a:rPr>
              <a:t>a b c d e f</a:t>
            </a:r>
          </a:p>
        </p:txBody>
      </p:sp>
      <p:sp>
        <p:nvSpPr>
          <p:cNvPr id="75" name="TextBox 74"/>
          <p:cNvSpPr txBox="1"/>
          <p:nvPr/>
        </p:nvSpPr>
        <p:spPr>
          <a:xfrm>
            <a:off x="7909560" y="2834640"/>
            <a:ext cx="2926080" cy="365760"/>
          </a:xfrm>
          <a:prstGeom prst="rect">
            <a:avLst/>
          </a:prstGeom>
          <a:noFill/>
        </p:spPr>
        <p:txBody>
          <a:bodyPr wrap="square" anchor="t" lIns="0" rIns="0" tIns="0" bIns="0">
            <a:spAutoFit/>
          </a:bodyPr>
          <a:lstStyle/>
          <a:p>
            <a:pPr algn="l">
              <a:lnSpc>
                <a:spcPct val="120000"/>
              </a:lnSpc>
            </a:pPr>
            <a:r>
              <a:rPr sz="2200" b="1" i="0">
                <a:solidFill>
                  <a:srgbClr val="312E81"/>
                </a:solidFill>
                <a:latin typeface="Consolas"/>
              </a:rPr>
              <a:t>x0  y0  z0</a:t>
            </a:r>
          </a:p>
        </p:txBody>
      </p:sp>
      <p:sp>
        <p:nvSpPr>
          <p:cNvPr id="76" name="TextBox 75"/>
          <p:cNvSpPr txBox="1"/>
          <p:nvPr/>
        </p:nvSpPr>
        <p:spPr>
          <a:xfrm>
            <a:off x="7909560" y="3328416"/>
            <a:ext cx="2926080" cy="640080"/>
          </a:xfrm>
          <a:prstGeom prst="rect">
            <a:avLst/>
          </a:prstGeom>
          <a:noFill/>
        </p:spPr>
        <p:txBody>
          <a:bodyPr wrap="square" anchor="t" lIns="0" rIns="0" tIns="0" bIns="0">
            <a:spAutoFit/>
          </a:bodyPr>
          <a:lstStyle/>
          <a:p>
            <a:pPr algn="l">
              <a:lnSpc>
                <a:spcPct val="120000"/>
              </a:lnSpc>
            </a:pPr>
            <a:r>
              <a:rPr sz="1250" b="0" i="0">
                <a:solidFill>
                  <a:srgbClr val="566571"/>
                </a:solidFill>
                <a:latin typeface="Segoe UI"/>
              </a:rPr>
              <a:t>+ a 125,000-step burn-in,</a:t>
            </a:r>
          </a:p>
          <a:p>
            <a:pPr algn="l">
              <a:lnSpc>
                <a:spcPct val="120000"/>
              </a:lnSpc>
            </a:pPr>
            <a:r>
              <a:rPr sz="1250" b="0" i="0">
                <a:solidFill>
                  <a:srgbClr val="566571"/>
                </a:solidFill>
                <a:latin typeface="Segoe UI"/>
              </a:rPr>
              <a:t>tied to the image data</a:t>
            </a:r>
          </a:p>
        </p:txBody>
      </p:sp>
      <p:sp>
        <p:nvSpPr>
          <p:cNvPr id="77" name="Rounded Rectangle 76"/>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output looks random but is fully repeatable from its start.</a:t>
            </a:r>
          </a:p>
        </p:txBody>
      </p:sp>
      <p:sp>
        <p:nvSpPr>
          <p:cNvPr id="81" name="Rounded Rectangle 80"/>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Change one bit of the key → a completely different stream.</a:t>
            </a:r>
          </a:p>
        </p:txBody>
      </p:sp>
      <p:sp>
        <p:nvSpPr>
          <p:cNvPr id="83" name="Rounded Rectangle 82"/>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 125,000-step burn-in makes it pass randomness tests.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BUILDING THE CUBE</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22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Stack the LL bands into the plaintext cube C.</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ectangle 8"/>
          <p:cNvSpPr/>
          <p:nvPr/>
        </p:nvSpPr>
        <p:spPr>
          <a:xfrm>
            <a:off x="2514600" y="2029967"/>
            <a:ext cx="16916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31720" y="2157984"/>
            <a:ext cx="16916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48840" y="2286000"/>
            <a:ext cx="16916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65960" y="2414015"/>
            <a:ext cx="16916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83080" y="2542032"/>
            <a:ext cx="1691640" cy="1051560"/>
          </a:xfrm>
          <a:prstGeom prst="rect">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749039"/>
            <a:ext cx="2743200" cy="274320"/>
          </a:xfrm>
          <a:prstGeom prst="rect">
            <a:avLst/>
          </a:prstGeom>
          <a:noFill/>
        </p:spPr>
        <p:txBody>
          <a:bodyPr wrap="square" anchor="t" lIns="0" rIns="0" tIns="0" bIns="0">
            <a:spAutoFit/>
          </a:bodyPr>
          <a:lstStyle/>
          <a:p>
            <a:pPr algn="ctr">
              <a:lnSpc>
                <a:spcPct val="120000"/>
              </a:lnSpc>
            </a:pPr>
            <a:r>
              <a:rPr sz="1200" b="0" i="1">
                <a:solidFill>
                  <a:srgbClr val="566571"/>
                </a:solidFill>
                <a:latin typeface="Segoe UI"/>
              </a:rPr>
              <a:t>one layer per image channel</a:t>
            </a:r>
          </a:p>
        </p:txBody>
      </p:sp>
      <p:sp>
        <p:nvSpPr>
          <p:cNvPr id="15" name="TextBox 14"/>
          <p:cNvSpPr txBox="1"/>
          <p:nvPr/>
        </p:nvSpPr>
        <p:spPr>
          <a:xfrm>
            <a:off x="5257800" y="2532888"/>
            <a:ext cx="6202375" cy="365760"/>
          </a:xfrm>
          <a:prstGeom prst="rect">
            <a:avLst/>
          </a:prstGeom>
          <a:noFill/>
        </p:spPr>
        <p:txBody>
          <a:bodyPr wrap="square" anchor="t" lIns="0" rIns="0" tIns="0" bIns="0">
            <a:spAutoFit/>
          </a:bodyPr>
          <a:lstStyle/>
          <a:p>
            <a:pPr algn="l">
              <a:lnSpc>
                <a:spcPct val="120000"/>
              </a:lnSpc>
            </a:pPr>
            <a:r>
              <a:rPr sz="2400" b="1" i="0">
                <a:solidFill>
                  <a:srgbClr val="312E81"/>
                </a:solidFill>
                <a:latin typeface="Georgia"/>
              </a:rPr>
              <a:t>Cube C</a:t>
            </a:r>
          </a:p>
        </p:txBody>
      </p:sp>
      <p:sp>
        <p:nvSpPr>
          <p:cNvPr id="16" name="TextBox 15"/>
          <p:cNvSpPr txBox="1"/>
          <p:nvPr/>
        </p:nvSpPr>
        <p:spPr>
          <a:xfrm>
            <a:off x="5257800" y="3081528"/>
            <a:ext cx="6202375"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Consolas"/>
              </a:rPr>
              <a:t>(h_max⁄2) × (w_max⁄2) × depth</a:t>
            </a:r>
          </a:p>
        </p:txBody>
      </p:sp>
      <p:sp>
        <p:nvSpPr>
          <p:cNvPr id="17" name="TextBox 16"/>
          <p:cNvSpPr txBox="1"/>
          <p:nvPr/>
        </p:nvSpPr>
        <p:spPr>
          <a:xfrm>
            <a:off x="5257800" y="3538728"/>
            <a:ext cx="6202375"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Consolas"/>
              </a:rPr>
              <a:t>Eq. 5–6</a:t>
            </a:r>
          </a:p>
        </p:txBody>
      </p:sp>
      <p:sp>
        <p:nvSpPr>
          <p:cNvPr id="18" name="Rounded Rectangle 17"/>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Each image's LL band becomes one layer of the cube.</a:t>
            </a:r>
          </a:p>
        </p:txBody>
      </p:sp>
      <p:sp>
        <p:nvSpPr>
          <p:cNvPr id="22" name="Rounded Rectangle 21"/>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Smaller images are zero-padded to fit.</a:t>
            </a:r>
          </a:p>
        </p:txBody>
      </p:sp>
      <p:sp>
        <p:nvSpPr>
          <p:cNvPr id="24" name="Rounded Rectangle 23"/>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Six numbers from the cube fold into the key, so it depends on the images.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CONFUSION</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23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Confusion: move positions, keep values.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960120"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E</a:t>
            </a:r>
          </a:p>
        </p:txBody>
      </p:sp>
      <p:sp>
        <p:nvSpPr>
          <p:cNvPr id="11" name="Rounded Rectangle 10"/>
          <p:cNvSpPr/>
          <p:nvPr/>
        </p:nvSpPr>
        <p:spPr>
          <a:xfrm>
            <a:off x="1600200"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N</a:t>
            </a:r>
          </a:p>
        </p:txBody>
      </p:sp>
      <p:sp>
        <p:nvSpPr>
          <p:cNvPr id="13" name="Rounded Rectangle 12"/>
          <p:cNvSpPr/>
          <p:nvPr/>
        </p:nvSpPr>
        <p:spPr>
          <a:xfrm>
            <a:off x="2240280"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0280"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C</a:t>
            </a:r>
          </a:p>
        </p:txBody>
      </p:sp>
      <p:sp>
        <p:nvSpPr>
          <p:cNvPr id="15" name="Rounded Rectangle 14"/>
          <p:cNvSpPr/>
          <p:nvPr/>
        </p:nvSpPr>
        <p:spPr>
          <a:xfrm>
            <a:off x="2880359"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59"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R</a:t>
            </a:r>
          </a:p>
        </p:txBody>
      </p:sp>
      <p:sp>
        <p:nvSpPr>
          <p:cNvPr id="17" name="Rounded Rectangle 16"/>
          <p:cNvSpPr/>
          <p:nvPr/>
        </p:nvSpPr>
        <p:spPr>
          <a:xfrm>
            <a:off x="3520439"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39"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Y</a:t>
            </a:r>
          </a:p>
        </p:txBody>
      </p:sp>
      <p:sp>
        <p:nvSpPr>
          <p:cNvPr id="19" name="Rounded Rectangle 18"/>
          <p:cNvSpPr/>
          <p:nvPr/>
        </p:nvSpPr>
        <p:spPr>
          <a:xfrm>
            <a:off x="4160520"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0520"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P</a:t>
            </a:r>
          </a:p>
        </p:txBody>
      </p:sp>
      <p:sp>
        <p:nvSpPr>
          <p:cNvPr id="21" name="Rounded Rectangle 20"/>
          <p:cNvSpPr/>
          <p:nvPr/>
        </p:nvSpPr>
        <p:spPr>
          <a:xfrm>
            <a:off x="4800599" y="2075688"/>
            <a:ext cx="548640" cy="530352"/>
          </a:xfrm>
          <a:prstGeom prst="roundRect">
            <a:avLst>
              <a:gd name="adj" fmla="val 6000"/>
            </a:avLst>
          </a:prstGeom>
          <a:solidFill>
            <a:srgbClr val="ECEBFB"/>
          </a:solidFill>
          <a:ln w="1651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599" y="2075688"/>
            <a:ext cx="548640" cy="530352"/>
          </a:xfrm>
          <a:prstGeom prst="rect">
            <a:avLst/>
          </a:prstGeom>
          <a:noFill/>
        </p:spPr>
        <p:txBody>
          <a:bodyPr wrap="square" anchor="ctr" lIns="0" rIns="0" tIns="0" bIns="0">
            <a:spAutoFit/>
          </a:bodyPr>
          <a:lstStyle/>
          <a:p>
            <a:pPr algn="ctr">
              <a:lnSpc>
                <a:spcPct val="120000"/>
              </a:lnSpc>
            </a:pPr>
            <a:r>
              <a:rPr sz="1900" b="1" i="0">
                <a:solidFill>
                  <a:srgbClr val="312E81"/>
                </a:solidFill>
                <a:latin typeface="Consolas"/>
              </a:rPr>
              <a:t>T</a:t>
            </a:r>
          </a:p>
        </p:txBody>
      </p:sp>
      <p:cxnSp>
        <p:nvCxnSpPr>
          <p:cNvPr id="23" name="Connector 22"/>
          <p:cNvCxnSpPr/>
          <p:nvPr/>
        </p:nvCxnSpPr>
        <p:spPr>
          <a:xfrm>
            <a:off x="3063239" y="2898648"/>
            <a:ext cx="0" cy="411480"/>
          </a:xfrm>
          <a:prstGeom prst="line">
            <a:avLst/>
          </a:prstGeom>
          <a:ln w="2794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91839" y="2944368"/>
            <a:ext cx="2743200" cy="274320"/>
          </a:xfrm>
          <a:prstGeom prst="rect">
            <a:avLst/>
          </a:prstGeom>
          <a:noFill/>
        </p:spPr>
        <p:txBody>
          <a:bodyPr wrap="square" anchor="t" lIns="0" rIns="0" tIns="0" bIns="0">
            <a:spAutoFit/>
          </a:bodyPr>
          <a:lstStyle/>
          <a:p>
            <a:pPr algn="l">
              <a:lnSpc>
                <a:spcPct val="120000"/>
              </a:lnSpc>
            </a:pPr>
            <a:r>
              <a:rPr sz="1200" b="0" i="1">
                <a:solidFill>
                  <a:srgbClr val="566571"/>
                </a:solidFill>
                <a:latin typeface="Segoe UI"/>
              </a:rPr>
              <a:t>shuffle positions</a:t>
            </a:r>
          </a:p>
        </p:txBody>
      </p:sp>
      <p:sp>
        <p:nvSpPr>
          <p:cNvPr id="25" name="Rounded Rectangle 24"/>
          <p:cNvSpPr/>
          <p:nvPr/>
        </p:nvSpPr>
        <p:spPr>
          <a:xfrm>
            <a:off x="960120"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T</a:t>
            </a:r>
          </a:p>
        </p:txBody>
      </p:sp>
      <p:sp>
        <p:nvSpPr>
          <p:cNvPr id="27" name="Rounded Rectangle 26"/>
          <p:cNvSpPr/>
          <p:nvPr/>
        </p:nvSpPr>
        <p:spPr>
          <a:xfrm>
            <a:off x="1600200"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00200"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Y</a:t>
            </a:r>
          </a:p>
        </p:txBody>
      </p:sp>
      <p:sp>
        <p:nvSpPr>
          <p:cNvPr id="29" name="Rounded Rectangle 28"/>
          <p:cNvSpPr/>
          <p:nvPr/>
        </p:nvSpPr>
        <p:spPr>
          <a:xfrm>
            <a:off x="2240280"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40280"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R</a:t>
            </a:r>
          </a:p>
        </p:txBody>
      </p:sp>
      <p:sp>
        <p:nvSpPr>
          <p:cNvPr id="31" name="Rounded Rectangle 30"/>
          <p:cNvSpPr/>
          <p:nvPr/>
        </p:nvSpPr>
        <p:spPr>
          <a:xfrm>
            <a:off x="2880359"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80359"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E</a:t>
            </a:r>
          </a:p>
        </p:txBody>
      </p:sp>
      <p:sp>
        <p:nvSpPr>
          <p:cNvPr id="33" name="Rounded Rectangle 32"/>
          <p:cNvSpPr/>
          <p:nvPr/>
        </p:nvSpPr>
        <p:spPr>
          <a:xfrm>
            <a:off x="3520439"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20439"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P</a:t>
            </a:r>
          </a:p>
        </p:txBody>
      </p:sp>
      <p:sp>
        <p:nvSpPr>
          <p:cNvPr id="35" name="Rounded Rectangle 34"/>
          <p:cNvSpPr/>
          <p:nvPr/>
        </p:nvSpPr>
        <p:spPr>
          <a:xfrm>
            <a:off x="4160520"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60520"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N</a:t>
            </a:r>
          </a:p>
        </p:txBody>
      </p:sp>
      <p:sp>
        <p:nvSpPr>
          <p:cNvPr id="37" name="Rounded Rectangle 36"/>
          <p:cNvSpPr/>
          <p:nvPr/>
        </p:nvSpPr>
        <p:spPr>
          <a:xfrm>
            <a:off x="4800599" y="3493008"/>
            <a:ext cx="548640" cy="530352"/>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00599" y="3493008"/>
            <a:ext cx="548640" cy="530352"/>
          </a:xfrm>
          <a:prstGeom prst="rect">
            <a:avLst/>
          </a:prstGeom>
          <a:noFill/>
        </p:spPr>
        <p:txBody>
          <a:bodyPr wrap="square" anchor="ctr" lIns="0" rIns="0" tIns="0" bIns="0">
            <a:spAutoFit/>
          </a:bodyPr>
          <a:lstStyle/>
          <a:p>
            <a:pPr algn="ctr">
              <a:lnSpc>
                <a:spcPct val="120000"/>
              </a:lnSpc>
            </a:pPr>
            <a:r>
              <a:rPr sz="1900" b="1" i="0">
                <a:solidFill>
                  <a:srgbClr val="C2710C"/>
                </a:solidFill>
                <a:latin typeface="Consolas"/>
              </a:rPr>
              <a:t>C</a:t>
            </a:r>
          </a:p>
        </p:txBody>
      </p:sp>
      <p:sp>
        <p:nvSpPr>
          <p:cNvPr id="39" name="Rounded Rectangle 38"/>
          <p:cNvSpPr/>
          <p:nvPr/>
        </p:nvSpPr>
        <p:spPr>
          <a:xfrm>
            <a:off x="6446520" y="2029967"/>
            <a:ext cx="5013655"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0840" y="2258568"/>
            <a:ext cx="3474720" cy="274320"/>
          </a:xfrm>
          <a:prstGeom prst="rect">
            <a:avLst/>
          </a:prstGeom>
          <a:noFill/>
        </p:spPr>
        <p:txBody>
          <a:bodyPr wrap="square" anchor="t" lIns="0" rIns="0" tIns="0" bIns="0">
            <a:spAutoFit/>
          </a:bodyPr>
          <a:lstStyle/>
          <a:p>
            <a:pPr algn="l">
              <a:lnSpc>
                <a:spcPct val="120000"/>
              </a:lnSpc>
            </a:pPr>
            <a:r>
              <a:rPr sz="1250" b="1" i="0">
                <a:solidFill>
                  <a:srgbClr val="566571"/>
                </a:solidFill>
                <a:latin typeface="Segoe UI Semibold"/>
              </a:rPr>
              <a:t>VALUES</a:t>
            </a:r>
          </a:p>
        </p:txBody>
      </p:sp>
      <p:sp>
        <p:nvSpPr>
          <p:cNvPr id="41" name="TextBox 40"/>
          <p:cNvSpPr txBox="1"/>
          <p:nvPr/>
        </p:nvSpPr>
        <p:spPr>
          <a:xfrm>
            <a:off x="6720840" y="2532888"/>
            <a:ext cx="3474720" cy="365760"/>
          </a:xfrm>
          <a:prstGeom prst="rect">
            <a:avLst/>
          </a:prstGeom>
          <a:noFill/>
        </p:spPr>
        <p:txBody>
          <a:bodyPr wrap="square" anchor="t" lIns="0" rIns="0" tIns="0" bIns="0">
            <a:spAutoFit/>
          </a:bodyPr>
          <a:lstStyle/>
          <a:p>
            <a:pPr algn="l">
              <a:lnSpc>
                <a:spcPct val="120000"/>
              </a:lnSpc>
            </a:pPr>
            <a:r>
              <a:rPr sz="2200" b="1" i="0">
                <a:solidFill>
                  <a:srgbClr val="0A4A47"/>
                </a:solidFill>
                <a:latin typeface="Georgia"/>
              </a:rPr>
              <a:t>unchanged</a:t>
            </a:r>
          </a:p>
        </p:txBody>
      </p:sp>
      <p:sp>
        <p:nvSpPr>
          <p:cNvPr id="42" name="TextBox 41"/>
          <p:cNvSpPr txBox="1"/>
          <p:nvPr/>
        </p:nvSpPr>
        <p:spPr>
          <a:xfrm>
            <a:off x="6720840" y="3081528"/>
            <a:ext cx="3474720" cy="274320"/>
          </a:xfrm>
          <a:prstGeom prst="rect">
            <a:avLst/>
          </a:prstGeom>
          <a:noFill/>
        </p:spPr>
        <p:txBody>
          <a:bodyPr wrap="square" anchor="t" lIns="0" rIns="0" tIns="0" bIns="0">
            <a:spAutoFit/>
          </a:bodyPr>
          <a:lstStyle/>
          <a:p>
            <a:pPr algn="l">
              <a:lnSpc>
                <a:spcPct val="120000"/>
              </a:lnSpc>
            </a:pPr>
            <a:r>
              <a:rPr sz="1250" b="1" i="0">
                <a:solidFill>
                  <a:srgbClr val="566571"/>
                </a:solidFill>
                <a:latin typeface="Segoe UI Semibold"/>
              </a:rPr>
              <a:t>POSITIONS</a:t>
            </a:r>
          </a:p>
        </p:txBody>
      </p:sp>
      <p:sp>
        <p:nvSpPr>
          <p:cNvPr id="43" name="TextBox 42"/>
          <p:cNvSpPr txBox="1"/>
          <p:nvPr/>
        </p:nvSpPr>
        <p:spPr>
          <a:xfrm>
            <a:off x="6720840" y="3355848"/>
            <a:ext cx="3474720" cy="365760"/>
          </a:xfrm>
          <a:prstGeom prst="rect">
            <a:avLst/>
          </a:prstGeom>
          <a:noFill/>
        </p:spPr>
        <p:txBody>
          <a:bodyPr wrap="square" anchor="t" lIns="0" rIns="0" tIns="0" bIns="0">
            <a:spAutoFit/>
          </a:bodyPr>
          <a:lstStyle/>
          <a:p>
            <a:pPr algn="l">
              <a:lnSpc>
                <a:spcPct val="120000"/>
              </a:lnSpc>
            </a:pPr>
            <a:r>
              <a:rPr sz="2200" b="1" i="0">
                <a:solidFill>
                  <a:srgbClr val="C2710C"/>
                </a:solidFill>
                <a:latin typeface="Georgia"/>
              </a:rPr>
              <a:t>scrambled</a:t>
            </a:r>
          </a:p>
        </p:txBody>
      </p:sp>
      <p:sp>
        <p:nvSpPr>
          <p:cNvPr id="44" name="Rounded Rectangle 43"/>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Confusion = move positions, keep the values.</a:t>
            </a:r>
          </a:p>
        </p:txBody>
      </p:sp>
      <p:sp>
        <p:nvSpPr>
          <p:cNvPr id="48" name="Rounded Rectangle 47"/>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Like shuffling Scrabble tiles: same letters, nonsense board.</a:t>
            </a:r>
          </a:p>
        </p:txBody>
      </p:sp>
      <p:sp>
        <p:nvSpPr>
          <p:cNvPr id="50" name="Rounded Rectangle 49"/>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Shannon's first requirement for a strong cipher.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CONFUSION</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24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How confusion chooses each move.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TextBox 8"/>
          <p:cNvSpPr txBox="1"/>
          <p:nvPr/>
        </p:nvSpPr>
        <p:spPr>
          <a:xfrm>
            <a:off x="1143000" y="1847088"/>
            <a:ext cx="1645920" cy="228600"/>
          </a:xfrm>
          <a:prstGeom prst="rect">
            <a:avLst/>
          </a:prstGeom>
          <a:noFill/>
        </p:spPr>
        <p:txBody>
          <a:bodyPr wrap="square" anchor="t" lIns="0" rIns="0" tIns="0" bIns="0">
            <a:spAutoFit/>
          </a:bodyPr>
          <a:lstStyle/>
          <a:p>
            <a:pPr algn="ctr">
              <a:lnSpc>
                <a:spcPct val="120000"/>
              </a:lnSpc>
            </a:pPr>
            <a:r>
              <a:rPr sz="1150" b="1" i="0">
                <a:solidFill>
                  <a:srgbClr val="566571"/>
                </a:solidFill>
                <a:latin typeface="Segoe UI Semibold"/>
              </a:rPr>
              <a:t>before</a:t>
            </a:r>
          </a:p>
        </p:txBody>
      </p:sp>
      <p:sp>
        <p:nvSpPr>
          <p:cNvPr id="10" name="TextBox 9"/>
          <p:cNvSpPr txBox="1"/>
          <p:nvPr/>
        </p:nvSpPr>
        <p:spPr>
          <a:xfrm>
            <a:off x="3520439" y="1847088"/>
            <a:ext cx="1645920" cy="228600"/>
          </a:xfrm>
          <a:prstGeom prst="rect">
            <a:avLst/>
          </a:prstGeom>
          <a:noFill/>
        </p:spPr>
        <p:txBody>
          <a:bodyPr wrap="square" anchor="t" lIns="0" rIns="0" tIns="0" bIns="0">
            <a:spAutoFit/>
          </a:bodyPr>
          <a:lstStyle/>
          <a:p>
            <a:pPr algn="ctr">
              <a:lnSpc>
                <a:spcPct val="120000"/>
              </a:lnSpc>
            </a:pPr>
            <a:r>
              <a:rPr sz="1150" b="1" i="0">
                <a:solidFill>
                  <a:srgbClr val="0A4A47"/>
                </a:solidFill>
                <a:latin typeface="Segoe UI Semibold"/>
              </a:rPr>
              <a:t>after</a:t>
            </a:r>
          </a:p>
        </p:txBody>
      </p:sp>
      <p:sp>
        <p:nvSpPr>
          <p:cNvPr id="11" name="Rectangle 10"/>
          <p:cNvSpPr/>
          <p:nvPr/>
        </p:nvSpPr>
        <p:spPr>
          <a:xfrm>
            <a:off x="1143000"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72184"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01368"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30552"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59736"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72184" y="2468879"/>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2184" y="2468879"/>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A</a:t>
            </a:r>
          </a:p>
        </p:txBody>
      </p:sp>
      <p:sp>
        <p:nvSpPr>
          <p:cNvPr id="19" name="Rectangle 18"/>
          <p:cNvSpPr/>
          <p:nvPr/>
        </p:nvSpPr>
        <p:spPr>
          <a:xfrm>
            <a:off x="1801368"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30552"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59736"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43000"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72184"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01368"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30552"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59736" y="2798063"/>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59736" y="2798063"/>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C</a:t>
            </a:r>
          </a:p>
        </p:txBody>
      </p:sp>
      <p:sp>
        <p:nvSpPr>
          <p:cNvPr id="28" name="Rectangle 27"/>
          <p:cNvSpPr/>
          <p:nvPr/>
        </p:nvSpPr>
        <p:spPr>
          <a:xfrm>
            <a:off x="1143000"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72184"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01368"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130552" y="3127248"/>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30552" y="3127248"/>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B</a:t>
            </a:r>
          </a:p>
        </p:txBody>
      </p:sp>
      <p:sp>
        <p:nvSpPr>
          <p:cNvPr id="33" name="Rectangle 32"/>
          <p:cNvSpPr/>
          <p:nvPr/>
        </p:nvSpPr>
        <p:spPr>
          <a:xfrm>
            <a:off x="2459736"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43000"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472184"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01368"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130552"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459736"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520439"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9624"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78807"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07992" y="2139696"/>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37175" y="2139696"/>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37175" y="2139696"/>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B</a:t>
            </a:r>
          </a:p>
        </p:txBody>
      </p:sp>
      <p:sp>
        <p:nvSpPr>
          <p:cNvPr id="45" name="Rectangle 44"/>
          <p:cNvSpPr/>
          <p:nvPr/>
        </p:nvSpPr>
        <p:spPr>
          <a:xfrm>
            <a:off x="3520439"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49624"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78807"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07992"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837175" y="2468879"/>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520439"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849624"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178807"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07992"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837175" y="2798063"/>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520439" y="3127248"/>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520439" y="3127248"/>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A</a:t>
            </a:r>
          </a:p>
        </p:txBody>
      </p:sp>
      <p:sp>
        <p:nvSpPr>
          <p:cNvPr id="57" name="Rectangle 56"/>
          <p:cNvSpPr/>
          <p:nvPr/>
        </p:nvSpPr>
        <p:spPr>
          <a:xfrm>
            <a:off x="3849624"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178807"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07992"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837175" y="3127248"/>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520439"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849624"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178807" y="3456432"/>
            <a:ext cx="329184" cy="329184"/>
          </a:xfrm>
          <a:prstGeom prst="rect">
            <a:avLst/>
          </a:prstGeom>
          <a:solidFill>
            <a:srgbClr val="4F46E5"/>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78807" y="3456432"/>
            <a:ext cx="329184" cy="329184"/>
          </a:xfrm>
          <a:prstGeom prst="rect">
            <a:avLst/>
          </a:prstGeom>
          <a:noFill/>
        </p:spPr>
        <p:txBody>
          <a:bodyPr wrap="square" anchor="ctr" lIns="0" rIns="0" tIns="0" bIns="0">
            <a:spAutoFit/>
          </a:bodyPr>
          <a:lstStyle/>
          <a:p>
            <a:pPr algn="ctr">
              <a:lnSpc>
                <a:spcPct val="120000"/>
              </a:lnSpc>
            </a:pPr>
            <a:r>
              <a:rPr sz="1100" b="1" i="0">
                <a:solidFill>
                  <a:srgbClr val="FFFFFF"/>
                </a:solidFill>
                <a:latin typeface="Segoe UI Semibold"/>
              </a:rPr>
              <a:t>C</a:t>
            </a:r>
          </a:p>
        </p:txBody>
      </p:sp>
      <p:sp>
        <p:nvSpPr>
          <p:cNvPr id="65" name="Rectangle 64"/>
          <p:cNvSpPr/>
          <p:nvPr/>
        </p:nvSpPr>
        <p:spPr>
          <a:xfrm>
            <a:off x="4507992"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837175" y="3456432"/>
            <a:ext cx="329184" cy="329184"/>
          </a:xfrm>
          <a:prstGeom prst="rect">
            <a:avLst/>
          </a:prstGeom>
          <a:solidFill>
            <a:srgbClr val="FFFFFF"/>
          </a:solidFill>
          <a:ln w="1016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2880360" y="2944368"/>
            <a:ext cx="548640" cy="0"/>
          </a:xfrm>
          <a:prstGeom prst="line">
            <a:avLst/>
          </a:prstGeom>
          <a:ln w="2794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15000" y="2258568"/>
            <a:ext cx="5745175" cy="365760"/>
          </a:xfrm>
          <a:prstGeom prst="rect">
            <a:avLst/>
          </a:prstGeom>
          <a:noFill/>
        </p:spPr>
        <p:txBody>
          <a:bodyPr wrap="square" anchor="t" lIns="0" rIns="0" tIns="0" bIns="0">
            <a:spAutoFit/>
          </a:bodyPr>
          <a:lstStyle/>
          <a:p>
            <a:pPr algn="l">
              <a:lnSpc>
                <a:spcPct val="120000"/>
              </a:lnSpc>
            </a:pPr>
            <a:r>
              <a:rPr sz="2000" b="1" i="0">
                <a:solidFill>
                  <a:srgbClr val="312E81"/>
                </a:solidFill>
                <a:latin typeface="Georgia"/>
              </a:rPr>
              <a:t>3 offsets → 9 swap cases</a:t>
            </a:r>
          </a:p>
        </p:txBody>
      </p:sp>
      <p:sp>
        <p:nvSpPr>
          <p:cNvPr id="69" name="TextBox 68"/>
          <p:cNvSpPr txBox="1"/>
          <p:nvPr/>
        </p:nvSpPr>
        <p:spPr>
          <a:xfrm>
            <a:off x="5715000" y="2852928"/>
            <a:ext cx="5745175" cy="274320"/>
          </a:xfrm>
          <a:prstGeom prst="rect">
            <a:avLst/>
          </a:prstGeom>
          <a:noFill/>
        </p:spPr>
        <p:txBody>
          <a:bodyPr wrap="square" anchor="t" lIns="0" rIns="0" tIns="0" bIns="0">
            <a:spAutoFit/>
          </a:bodyPr>
          <a:lstStyle/>
          <a:p>
            <a:pPr algn="l">
              <a:lnSpc>
                <a:spcPct val="120000"/>
              </a:lnSpc>
            </a:pPr>
            <a:r>
              <a:rPr sz="1300" b="0" i="0">
                <a:solidFill>
                  <a:srgbClr val="12222E"/>
                </a:solidFill>
                <a:latin typeface="Consolas"/>
              </a:rPr>
              <a:t>S1, T1, U1 · one per axis · Eq. 8–10</a:t>
            </a:r>
          </a:p>
        </p:txBody>
      </p:sp>
      <p:sp>
        <p:nvSpPr>
          <p:cNvPr id="70" name="Rounded Rectangle 69"/>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The chaotic map decides every swap, so it's fully key-driven.</a:t>
            </a:r>
          </a:p>
        </p:txBody>
      </p:sp>
      <p:sp>
        <p:nvSpPr>
          <p:cNvPr id="74" name="Rounded Rectangle 73"/>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Only the same key can walk the swaps backwards.</a:t>
            </a:r>
          </a:p>
        </p:txBody>
      </p:sp>
      <p:sp>
        <p:nvSpPr>
          <p:cNvPr id="76" name="Rounded Rectangle 75"/>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Pixel values are never touched — this stage only moves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DIFFUSION</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25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Diffusion: change values, keep positions.</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960120" y="2121408"/>
            <a:ext cx="713232" cy="512064"/>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121408"/>
            <a:ext cx="713232" cy="512064"/>
          </a:xfrm>
          <a:prstGeom prst="rect">
            <a:avLst/>
          </a:prstGeom>
          <a:noFill/>
        </p:spPr>
        <p:txBody>
          <a:bodyPr wrap="square" anchor="ctr" lIns="0" rIns="0" tIns="0" bIns="0">
            <a:spAutoFit/>
          </a:bodyPr>
          <a:lstStyle/>
          <a:p>
            <a:pPr algn="ctr">
              <a:lnSpc>
                <a:spcPct val="120000"/>
              </a:lnSpc>
            </a:pPr>
            <a:r>
              <a:rPr sz="1700" b="1" i="0">
                <a:solidFill>
                  <a:srgbClr val="0A4A47"/>
                </a:solidFill>
                <a:latin typeface="Consolas"/>
              </a:rPr>
              <a:t>41</a:t>
            </a:r>
          </a:p>
        </p:txBody>
      </p:sp>
      <p:sp>
        <p:nvSpPr>
          <p:cNvPr id="11" name="Rounded Rectangle 10"/>
          <p:cNvSpPr/>
          <p:nvPr/>
        </p:nvSpPr>
        <p:spPr>
          <a:xfrm>
            <a:off x="1819656" y="2121408"/>
            <a:ext cx="713232" cy="512064"/>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19656" y="2121408"/>
            <a:ext cx="713232" cy="512064"/>
          </a:xfrm>
          <a:prstGeom prst="rect">
            <a:avLst/>
          </a:prstGeom>
          <a:noFill/>
        </p:spPr>
        <p:txBody>
          <a:bodyPr wrap="square" anchor="ctr" lIns="0" rIns="0" tIns="0" bIns="0">
            <a:spAutoFit/>
          </a:bodyPr>
          <a:lstStyle/>
          <a:p>
            <a:pPr algn="ctr">
              <a:lnSpc>
                <a:spcPct val="120000"/>
              </a:lnSpc>
            </a:pPr>
            <a:r>
              <a:rPr sz="1700" b="1" i="0">
                <a:solidFill>
                  <a:srgbClr val="0A4A47"/>
                </a:solidFill>
                <a:latin typeface="Consolas"/>
              </a:rPr>
              <a:t>7F</a:t>
            </a:r>
          </a:p>
        </p:txBody>
      </p:sp>
      <p:sp>
        <p:nvSpPr>
          <p:cNvPr id="13" name="Rounded Rectangle 12"/>
          <p:cNvSpPr/>
          <p:nvPr/>
        </p:nvSpPr>
        <p:spPr>
          <a:xfrm>
            <a:off x="2679192" y="2121408"/>
            <a:ext cx="713232" cy="512064"/>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79192" y="2121408"/>
            <a:ext cx="713232" cy="512064"/>
          </a:xfrm>
          <a:prstGeom prst="rect">
            <a:avLst/>
          </a:prstGeom>
          <a:noFill/>
        </p:spPr>
        <p:txBody>
          <a:bodyPr wrap="square" anchor="ctr" lIns="0" rIns="0" tIns="0" bIns="0">
            <a:spAutoFit/>
          </a:bodyPr>
          <a:lstStyle/>
          <a:p>
            <a:pPr algn="ctr">
              <a:lnSpc>
                <a:spcPct val="120000"/>
              </a:lnSpc>
            </a:pPr>
            <a:r>
              <a:rPr sz="1700" b="1" i="0">
                <a:solidFill>
                  <a:srgbClr val="0A4A47"/>
                </a:solidFill>
                <a:latin typeface="Consolas"/>
              </a:rPr>
              <a:t>08</a:t>
            </a:r>
          </a:p>
        </p:txBody>
      </p:sp>
      <p:sp>
        <p:nvSpPr>
          <p:cNvPr id="15" name="Rounded Rectangle 14"/>
          <p:cNvSpPr/>
          <p:nvPr/>
        </p:nvSpPr>
        <p:spPr>
          <a:xfrm>
            <a:off x="3538728" y="2121408"/>
            <a:ext cx="713232" cy="512064"/>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8728" y="2121408"/>
            <a:ext cx="713232" cy="512064"/>
          </a:xfrm>
          <a:prstGeom prst="rect">
            <a:avLst/>
          </a:prstGeom>
          <a:noFill/>
        </p:spPr>
        <p:txBody>
          <a:bodyPr wrap="square" anchor="ctr" lIns="0" rIns="0" tIns="0" bIns="0">
            <a:spAutoFit/>
          </a:bodyPr>
          <a:lstStyle/>
          <a:p>
            <a:pPr algn="ctr">
              <a:lnSpc>
                <a:spcPct val="120000"/>
              </a:lnSpc>
            </a:pPr>
            <a:r>
              <a:rPr sz="1700" b="1" i="0">
                <a:solidFill>
                  <a:srgbClr val="0A4A47"/>
                </a:solidFill>
                <a:latin typeface="Consolas"/>
              </a:rPr>
              <a:t>C3</a:t>
            </a:r>
          </a:p>
        </p:txBody>
      </p:sp>
      <p:sp>
        <p:nvSpPr>
          <p:cNvPr id="17" name="Rounded Rectangle 16"/>
          <p:cNvSpPr/>
          <p:nvPr/>
        </p:nvSpPr>
        <p:spPr>
          <a:xfrm>
            <a:off x="4398264" y="2121408"/>
            <a:ext cx="713232" cy="512064"/>
          </a:xfrm>
          <a:prstGeom prst="roundRect">
            <a:avLst>
              <a:gd name="adj" fmla="val 6000"/>
            </a:avLst>
          </a:prstGeom>
          <a:solidFill>
            <a:srgbClr val="EAF1F6"/>
          </a:solidFill>
          <a:ln w="1651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8264" y="2121408"/>
            <a:ext cx="713232" cy="512064"/>
          </a:xfrm>
          <a:prstGeom prst="rect">
            <a:avLst/>
          </a:prstGeom>
          <a:noFill/>
        </p:spPr>
        <p:txBody>
          <a:bodyPr wrap="square" anchor="ctr" lIns="0" rIns="0" tIns="0" bIns="0">
            <a:spAutoFit/>
          </a:bodyPr>
          <a:lstStyle/>
          <a:p>
            <a:pPr algn="ctr">
              <a:lnSpc>
                <a:spcPct val="120000"/>
              </a:lnSpc>
            </a:pPr>
            <a:r>
              <a:rPr sz="1700" b="1" i="0">
                <a:solidFill>
                  <a:srgbClr val="0A4A47"/>
                </a:solidFill>
                <a:latin typeface="Consolas"/>
              </a:rPr>
              <a:t>92</a:t>
            </a:r>
          </a:p>
        </p:txBody>
      </p:sp>
      <p:cxnSp>
        <p:nvCxnSpPr>
          <p:cNvPr id="19" name="Connector 18"/>
          <p:cNvCxnSpPr/>
          <p:nvPr/>
        </p:nvCxnSpPr>
        <p:spPr>
          <a:xfrm>
            <a:off x="2834639" y="2852928"/>
            <a:ext cx="0" cy="411480"/>
          </a:xfrm>
          <a:prstGeom prst="line">
            <a:avLst/>
          </a:prstGeom>
          <a:ln w="2794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063239" y="2898648"/>
            <a:ext cx="2743200" cy="274320"/>
          </a:xfrm>
          <a:prstGeom prst="rect">
            <a:avLst/>
          </a:prstGeom>
          <a:noFill/>
        </p:spPr>
        <p:txBody>
          <a:bodyPr wrap="square" anchor="t" lIns="0" rIns="0" tIns="0" bIns="0">
            <a:spAutoFit/>
          </a:bodyPr>
          <a:lstStyle/>
          <a:p>
            <a:pPr algn="l">
              <a:lnSpc>
                <a:spcPct val="120000"/>
              </a:lnSpc>
            </a:pPr>
            <a:r>
              <a:rPr sz="1200" b="0" i="1">
                <a:solidFill>
                  <a:srgbClr val="566571"/>
                </a:solidFill>
                <a:latin typeface="Segoe UI"/>
              </a:rPr>
              <a:t>XOR with chaos</a:t>
            </a:r>
          </a:p>
        </p:txBody>
      </p:sp>
      <p:sp>
        <p:nvSpPr>
          <p:cNvPr id="21" name="Rounded Rectangle 20"/>
          <p:cNvSpPr/>
          <p:nvPr/>
        </p:nvSpPr>
        <p:spPr>
          <a:xfrm>
            <a:off x="960120" y="3447288"/>
            <a:ext cx="713232" cy="512064"/>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447288"/>
            <a:ext cx="713232" cy="512064"/>
          </a:xfrm>
          <a:prstGeom prst="rect">
            <a:avLst/>
          </a:prstGeom>
          <a:noFill/>
        </p:spPr>
        <p:txBody>
          <a:bodyPr wrap="square" anchor="ctr" lIns="0" rIns="0" tIns="0" bIns="0">
            <a:spAutoFit/>
          </a:bodyPr>
          <a:lstStyle/>
          <a:p>
            <a:pPr algn="ctr">
              <a:lnSpc>
                <a:spcPct val="120000"/>
              </a:lnSpc>
            </a:pPr>
            <a:r>
              <a:rPr sz="1700" b="1" i="0">
                <a:solidFill>
                  <a:srgbClr val="C2710C"/>
                </a:solidFill>
                <a:latin typeface="Consolas"/>
              </a:rPr>
              <a:t>D6</a:t>
            </a:r>
          </a:p>
        </p:txBody>
      </p:sp>
      <p:sp>
        <p:nvSpPr>
          <p:cNvPr id="23" name="Rounded Rectangle 22"/>
          <p:cNvSpPr/>
          <p:nvPr/>
        </p:nvSpPr>
        <p:spPr>
          <a:xfrm>
            <a:off x="1819656" y="3447288"/>
            <a:ext cx="713232" cy="512064"/>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19656" y="3447288"/>
            <a:ext cx="713232" cy="512064"/>
          </a:xfrm>
          <a:prstGeom prst="rect">
            <a:avLst/>
          </a:prstGeom>
          <a:noFill/>
        </p:spPr>
        <p:txBody>
          <a:bodyPr wrap="square" anchor="ctr" lIns="0" rIns="0" tIns="0" bIns="0">
            <a:spAutoFit/>
          </a:bodyPr>
          <a:lstStyle/>
          <a:p>
            <a:pPr algn="ctr">
              <a:lnSpc>
                <a:spcPct val="120000"/>
              </a:lnSpc>
            </a:pPr>
            <a:r>
              <a:rPr sz="1700" b="1" i="0">
                <a:solidFill>
                  <a:srgbClr val="C2710C"/>
                </a:solidFill>
                <a:latin typeface="Consolas"/>
              </a:rPr>
              <a:t>1A</a:t>
            </a:r>
          </a:p>
        </p:txBody>
      </p:sp>
      <p:sp>
        <p:nvSpPr>
          <p:cNvPr id="25" name="Rounded Rectangle 24"/>
          <p:cNvSpPr/>
          <p:nvPr/>
        </p:nvSpPr>
        <p:spPr>
          <a:xfrm>
            <a:off x="2679192" y="3447288"/>
            <a:ext cx="713232" cy="512064"/>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79192" y="3447288"/>
            <a:ext cx="713232" cy="512064"/>
          </a:xfrm>
          <a:prstGeom prst="rect">
            <a:avLst/>
          </a:prstGeom>
          <a:noFill/>
        </p:spPr>
        <p:txBody>
          <a:bodyPr wrap="square" anchor="ctr" lIns="0" rIns="0" tIns="0" bIns="0">
            <a:spAutoFit/>
          </a:bodyPr>
          <a:lstStyle/>
          <a:p>
            <a:pPr algn="ctr">
              <a:lnSpc>
                <a:spcPct val="120000"/>
              </a:lnSpc>
            </a:pPr>
            <a:r>
              <a:rPr sz="1700" b="1" i="0">
                <a:solidFill>
                  <a:srgbClr val="C2710C"/>
                </a:solidFill>
                <a:latin typeface="Consolas"/>
              </a:rPr>
              <a:t>BB</a:t>
            </a:r>
          </a:p>
        </p:txBody>
      </p:sp>
      <p:sp>
        <p:nvSpPr>
          <p:cNvPr id="27" name="Rounded Rectangle 26"/>
          <p:cNvSpPr/>
          <p:nvPr/>
        </p:nvSpPr>
        <p:spPr>
          <a:xfrm>
            <a:off x="3538728" y="3447288"/>
            <a:ext cx="713232" cy="512064"/>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38728" y="3447288"/>
            <a:ext cx="713232" cy="512064"/>
          </a:xfrm>
          <a:prstGeom prst="rect">
            <a:avLst/>
          </a:prstGeom>
          <a:noFill/>
        </p:spPr>
        <p:txBody>
          <a:bodyPr wrap="square" anchor="ctr" lIns="0" rIns="0" tIns="0" bIns="0">
            <a:spAutoFit/>
          </a:bodyPr>
          <a:lstStyle/>
          <a:p>
            <a:pPr algn="ctr">
              <a:lnSpc>
                <a:spcPct val="120000"/>
              </a:lnSpc>
            </a:pPr>
            <a:r>
              <a:rPr sz="1700" b="1" i="0">
                <a:solidFill>
                  <a:srgbClr val="C2710C"/>
                </a:solidFill>
                <a:latin typeface="Consolas"/>
              </a:rPr>
              <a:t>57</a:t>
            </a:r>
          </a:p>
        </p:txBody>
      </p:sp>
      <p:sp>
        <p:nvSpPr>
          <p:cNvPr id="29" name="Rounded Rectangle 28"/>
          <p:cNvSpPr/>
          <p:nvPr/>
        </p:nvSpPr>
        <p:spPr>
          <a:xfrm>
            <a:off x="4398264" y="3447288"/>
            <a:ext cx="713232" cy="512064"/>
          </a:xfrm>
          <a:prstGeom prst="roundRect">
            <a:avLst>
              <a:gd name="adj" fmla="val 6000"/>
            </a:avLst>
          </a:prstGeom>
          <a:solidFill>
            <a:srgbClr val="FBEBD6"/>
          </a:solidFill>
          <a:ln w="1651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98264" y="3447288"/>
            <a:ext cx="713232" cy="512064"/>
          </a:xfrm>
          <a:prstGeom prst="rect">
            <a:avLst/>
          </a:prstGeom>
          <a:noFill/>
        </p:spPr>
        <p:txBody>
          <a:bodyPr wrap="square" anchor="ctr" lIns="0" rIns="0" tIns="0" bIns="0">
            <a:spAutoFit/>
          </a:bodyPr>
          <a:lstStyle/>
          <a:p>
            <a:pPr algn="ctr">
              <a:lnSpc>
                <a:spcPct val="120000"/>
              </a:lnSpc>
            </a:pPr>
            <a:r>
              <a:rPr sz="1700" b="1" i="0">
                <a:solidFill>
                  <a:srgbClr val="C2710C"/>
                </a:solidFill>
                <a:latin typeface="Consolas"/>
              </a:rPr>
              <a:t>2E</a:t>
            </a:r>
          </a:p>
        </p:txBody>
      </p:sp>
      <p:sp>
        <p:nvSpPr>
          <p:cNvPr id="31" name="Rounded Rectangle 30"/>
          <p:cNvSpPr/>
          <p:nvPr/>
        </p:nvSpPr>
        <p:spPr>
          <a:xfrm>
            <a:off x="6172200" y="2029967"/>
            <a:ext cx="5287975" cy="210312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258568"/>
            <a:ext cx="3840480" cy="274320"/>
          </a:xfrm>
          <a:prstGeom prst="rect">
            <a:avLst/>
          </a:prstGeom>
          <a:noFill/>
        </p:spPr>
        <p:txBody>
          <a:bodyPr wrap="square" anchor="t" lIns="0" rIns="0" tIns="0" bIns="0">
            <a:spAutoFit/>
          </a:bodyPr>
          <a:lstStyle/>
          <a:p>
            <a:pPr algn="l">
              <a:lnSpc>
                <a:spcPct val="120000"/>
              </a:lnSpc>
            </a:pPr>
            <a:r>
              <a:rPr sz="1250" b="1" i="0">
                <a:solidFill>
                  <a:srgbClr val="566571"/>
                </a:solidFill>
                <a:latin typeface="Segoe UI Semibold"/>
              </a:rPr>
              <a:t>POSITIONS</a:t>
            </a:r>
          </a:p>
        </p:txBody>
      </p:sp>
      <p:sp>
        <p:nvSpPr>
          <p:cNvPr id="33" name="TextBox 32"/>
          <p:cNvSpPr txBox="1"/>
          <p:nvPr/>
        </p:nvSpPr>
        <p:spPr>
          <a:xfrm>
            <a:off x="6446520" y="2532888"/>
            <a:ext cx="3840480" cy="365760"/>
          </a:xfrm>
          <a:prstGeom prst="rect">
            <a:avLst/>
          </a:prstGeom>
          <a:noFill/>
        </p:spPr>
        <p:txBody>
          <a:bodyPr wrap="square" anchor="t" lIns="0" rIns="0" tIns="0" bIns="0">
            <a:spAutoFit/>
          </a:bodyPr>
          <a:lstStyle/>
          <a:p>
            <a:pPr algn="l">
              <a:lnSpc>
                <a:spcPct val="120000"/>
              </a:lnSpc>
            </a:pPr>
            <a:r>
              <a:rPr sz="2200" b="1" i="0">
                <a:solidFill>
                  <a:srgbClr val="0A4A47"/>
                </a:solidFill>
                <a:latin typeface="Georgia"/>
              </a:rPr>
              <a:t>unchanged</a:t>
            </a:r>
          </a:p>
        </p:txBody>
      </p:sp>
      <p:sp>
        <p:nvSpPr>
          <p:cNvPr id="34" name="TextBox 33"/>
          <p:cNvSpPr txBox="1"/>
          <p:nvPr/>
        </p:nvSpPr>
        <p:spPr>
          <a:xfrm>
            <a:off x="6446520" y="3081528"/>
            <a:ext cx="3840480" cy="274320"/>
          </a:xfrm>
          <a:prstGeom prst="rect">
            <a:avLst/>
          </a:prstGeom>
          <a:noFill/>
        </p:spPr>
        <p:txBody>
          <a:bodyPr wrap="square" anchor="t" lIns="0" rIns="0" tIns="0" bIns="0">
            <a:spAutoFit/>
          </a:bodyPr>
          <a:lstStyle/>
          <a:p>
            <a:pPr algn="l">
              <a:lnSpc>
                <a:spcPct val="120000"/>
              </a:lnSpc>
            </a:pPr>
            <a:r>
              <a:rPr sz="1250" b="1" i="0">
                <a:solidFill>
                  <a:srgbClr val="566571"/>
                </a:solidFill>
                <a:latin typeface="Segoe UI Semibold"/>
              </a:rPr>
              <a:t>VALUES</a:t>
            </a:r>
          </a:p>
        </p:txBody>
      </p:sp>
      <p:sp>
        <p:nvSpPr>
          <p:cNvPr id="35" name="TextBox 34"/>
          <p:cNvSpPr txBox="1"/>
          <p:nvPr/>
        </p:nvSpPr>
        <p:spPr>
          <a:xfrm>
            <a:off x="6446520" y="3355848"/>
            <a:ext cx="3840480" cy="365760"/>
          </a:xfrm>
          <a:prstGeom prst="rect">
            <a:avLst/>
          </a:prstGeom>
          <a:noFill/>
        </p:spPr>
        <p:txBody>
          <a:bodyPr wrap="square" anchor="t" lIns="0" rIns="0" tIns="0" bIns="0">
            <a:spAutoFit/>
          </a:bodyPr>
          <a:lstStyle/>
          <a:p>
            <a:pPr algn="l">
              <a:lnSpc>
                <a:spcPct val="120000"/>
              </a:lnSpc>
            </a:pPr>
            <a:r>
              <a:rPr sz="1800" b="1" i="0">
                <a:solidFill>
                  <a:srgbClr val="C2710C"/>
                </a:solidFill>
                <a:latin typeface="Georgia"/>
              </a:rPr>
              <a:t>flipped (separate stream)</a:t>
            </a:r>
          </a:p>
        </p:txBody>
      </p:sp>
      <p:sp>
        <p:nvSpPr>
          <p:cNvPr id="36" name="Rounded Rectangle 35"/>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Diffusion = change values, keep positions.</a:t>
            </a:r>
          </a:p>
        </p:txBody>
      </p:sp>
      <p:sp>
        <p:nvSpPr>
          <p:cNvPr id="40" name="Rounded Rectangle 39"/>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Each value is XORed with a byte from a separate chaos stream.</a:t>
            </a:r>
          </a:p>
        </p:txBody>
      </p:sp>
      <p:sp>
        <p:nvSpPr>
          <p:cNvPr id="42" name="Rounded Rectangle 41"/>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Separate stream — reusing confusion's would leak structure.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DIFFUSION</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26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The diffusion equation.</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1508760" y="2029967"/>
            <a:ext cx="9311335" cy="118872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029967"/>
            <a:ext cx="9311335" cy="1188720"/>
          </a:xfrm>
          <a:prstGeom prst="rect">
            <a:avLst/>
          </a:prstGeom>
          <a:noFill/>
        </p:spPr>
        <p:txBody>
          <a:bodyPr wrap="square" anchor="ctr" lIns="0" rIns="0" tIns="0" bIns="0">
            <a:spAutoFit/>
          </a:bodyPr>
          <a:lstStyle/>
          <a:p>
            <a:pPr algn="ctr">
              <a:lnSpc>
                <a:spcPct val="120000"/>
              </a:lnSpc>
            </a:pPr>
            <a:r>
              <a:rPr sz="3400" b="1" i="0">
                <a:solidFill>
                  <a:srgbClr val="312E81"/>
                </a:solidFill>
                <a:latin typeface="Consolas"/>
              </a:rPr>
              <a:t>D[k]</a:t>
            </a:r>
            <a:r>
              <a:rPr sz="3000" b="0" i="0">
                <a:solidFill>
                  <a:srgbClr val="566571"/>
                </a:solidFill>
                <a:latin typeface="Consolas"/>
              </a:rPr>
              <a:t>  =  </a:t>
            </a:r>
            <a:r>
              <a:rPr sz="3400" b="1" i="0">
                <a:solidFill>
                  <a:srgbClr val="0A4A47"/>
                </a:solidFill>
                <a:latin typeface="Consolas"/>
              </a:rPr>
              <a:t>V[k]</a:t>
            </a:r>
            <a:r>
              <a:rPr sz="2800" b="1" i="0">
                <a:solidFill>
                  <a:srgbClr val="C2710C"/>
                </a:solidFill>
                <a:latin typeface="Segoe UI"/>
              </a:rPr>
              <a:t>  ⊕  </a:t>
            </a:r>
            <a:r>
              <a:rPr sz="3400" b="1" i="0">
                <a:solidFill>
                  <a:srgbClr val="4F46E5"/>
                </a:solidFill>
                <a:latin typeface="Consolas"/>
              </a:rPr>
              <a:t>chaos[k mod 3]</a:t>
            </a:r>
            <a:r>
              <a:rPr sz="2800" b="1" i="0">
                <a:solidFill>
                  <a:srgbClr val="C2710C"/>
                </a:solidFill>
                <a:latin typeface="Segoe UI"/>
              </a:rPr>
              <a:t>  ⊕  </a:t>
            </a:r>
            <a:r>
              <a:rPr sz="3400" b="1" i="0">
                <a:solidFill>
                  <a:srgbClr val="12222E"/>
                </a:solidFill>
                <a:latin typeface="Consolas"/>
              </a:rPr>
              <a:t>D[k-1]</a:t>
            </a:r>
          </a:p>
        </p:txBody>
      </p:sp>
      <p:sp>
        <p:nvSpPr>
          <p:cNvPr id="11" name="TextBox 10"/>
          <p:cNvSpPr txBox="1"/>
          <p:nvPr/>
        </p:nvSpPr>
        <p:spPr>
          <a:xfrm>
            <a:off x="1783080" y="3447288"/>
            <a:ext cx="3017520" cy="274320"/>
          </a:xfrm>
          <a:prstGeom prst="rect">
            <a:avLst/>
          </a:prstGeom>
          <a:noFill/>
        </p:spPr>
        <p:txBody>
          <a:bodyPr wrap="square" anchor="t" lIns="0" rIns="0" tIns="0" bIns="0">
            <a:spAutoFit/>
          </a:bodyPr>
          <a:lstStyle/>
          <a:p>
            <a:pPr algn="l">
              <a:lnSpc>
                <a:spcPct val="120000"/>
              </a:lnSpc>
            </a:pPr>
            <a:r>
              <a:rPr sz="1400" b="1" i="0">
                <a:solidFill>
                  <a:srgbClr val="0A4A47"/>
                </a:solidFill>
                <a:latin typeface="Consolas"/>
              </a:rPr>
              <a:t>V[k]</a:t>
            </a:r>
          </a:p>
        </p:txBody>
      </p:sp>
      <p:sp>
        <p:nvSpPr>
          <p:cNvPr id="12" name="TextBox 11"/>
          <p:cNvSpPr txBox="1"/>
          <p:nvPr/>
        </p:nvSpPr>
        <p:spPr>
          <a:xfrm>
            <a:off x="1783080" y="3749039"/>
            <a:ext cx="3108960" cy="457200"/>
          </a:xfrm>
          <a:prstGeom prst="rect">
            <a:avLst/>
          </a:prstGeom>
          <a:noFill/>
        </p:spPr>
        <p:txBody>
          <a:bodyPr wrap="square" anchor="t" lIns="0" rIns="0" tIns="0" bIns="0">
            <a:spAutoFit/>
          </a:bodyPr>
          <a:lstStyle/>
          <a:p>
            <a:pPr algn="l">
              <a:lnSpc>
                <a:spcPct val="110000"/>
              </a:lnSpc>
            </a:pPr>
            <a:r>
              <a:rPr sz="1250" b="0" i="0">
                <a:solidFill>
                  <a:srgbClr val="566571"/>
                </a:solidFill>
                <a:latin typeface="Segoe UI"/>
              </a:rPr>
              <a:t>value from confusion</a:t>
            </a:r>
          </a:p>
        </p:txBody>
      </p:sp>
      <p:sp>
        <p:nvSpPr>
          <p:cNvPr id="13" name="TextBox 12"/>
          <p:cNvSpPr txBox="1"/>
          <p:nvPr/>
        </p:nvSpPr>
        <p:spPr>
          <a:xfrm>
            <a:off x="4892040" y="3447288"/>
            <a:ext cx="3017520" cy="274320"/>
          </a:xfrm>
          <a:prstGeom prst="rect">
            <a:avLst/>
          </a:prstGeom>
          <a:noFill/>
        </p:spPr>
        <p:txBody>
          <a:bodyPr wrap="square" anchor="t" lIns="0" rIns="0" tIns="0" bIns="0">
            <a:spAutoFit/>
          </a:bodyPr>
          <a:lstStyle/>
          <a:p>
            <a:pPr algn="l">
              <a:lnSpc>
                <a:spcPct val="120000"/>
              </a:lnSpc>
            </a:pPr>
            <a:r>
              <a:rPr sz="1400" b="1" i="0">
                <a:solidFill>
                  <a:srgbClr val="4F46E5"/>
                </a:solidFill>
                <a:latin typeface="Consolas"/>
              </a:rPr>
              <a:t>chaos[k mod 3]</a:t>
            </a:r>
          </a:p>
        </p:txBody>
      </p:sp>
      <p:sp>
        <p:nvSpPr>
          <p:cNvPr id="14" name="TextBox 13"/>
          <p:cNvSpPr txBox="1"/>
          <p:nvPr/>
        </p:nvSpPr>
        <p:spPr>
          <a:xfrm>
            <a:off x="4892040" y="3749039"/>
            <a:ext cx="3108960" cy="457200"/>
          </a:xfrm>
          <a:prstGeom prst="rect">
            <a:avLst/>
          </a:prstGeom>
          <a:noFill/>
        </p:spPr>
        <p:txBody>
          <a:bodyPr wrap="square" anchor="t" lIns="0" rIns="0" tIns="0" bIns="0">
            <a:spAutoFit/>
          </a:bodyPr>
          <a:lstStyle/>
          <a:p>
            <a:pPr algn="l">
              <a:lnSpc>
                <a:spcPct val="110000"/>
              </a:lnSpc>
            </a:pPr>
            <a:r>
              <a:rPr sz="1250" b="0" i="0">
                <a:solidFill>
                  <a:srgbClr val="566571"/>
                </a:solidFill>
                <a:latin typeface="Segoe UI"/>
              </a:rPr>
              <a:t>a byte from the chaos stream</a:t>
            </a:r>
          </a:p>
        </p:txBody>
      </p:sp>
      <p:sp>
        <p:nvSpPr>
          <p:cNvPr id="15" name="TextBox 14"/>
          <p:cNvSpPr txBox="1"/>
          <p:nvPr/>
        </p:nvSpPr>
        <p:spPr>
          <a:xfrm>
            <a:off x="8366759" y="3447288"/>
            <a:ext cx="3017520" cy="274320"/>
          </a:xfrm>
          <a:prstGeom prst="rect">
            <a:avLst/>
          </a:prstGeom>
          <a:noFill/>
        </p:spPr>
        <p:txBody>
          <a:bodyPr wrap="square" anchor="t" lIns="0" rIns="0" tIns="0" bIns="0">
            <a:spAutoFit/>
          </a:bodyPr>
          <a:lstStyle/>
          <a:p>
            <a:pPr algn="l">
              <a:lnSpc>
                <a:spcPct val="120000"/>
              </a:lnSpc>
            </a:pPr>
            <a:r>
              <a:rPr sz="1400" b="1" i="0">
                <a:solidFill>
                  <a:srgbClr val="12222E"/>
                </a:solidFill>
                <a:latin typeface="Consolas"/>
              </a:rPr>
              <a:t>D[k-1]</a:t>
            </a:r>
          </a:p>
        </p:txBody>
      </p:sp>
      <p:sp>
        <p:nvSpPr>
          <p:cNvPr id="16" name="TextBox 15"/>
          <p:cNvSpPr txBox="1"/>
          <p:nvPr/>
        </p:nvSpPr>
        <p:spPr>
          <a:xfrm>
            <a:off x="8366759" y="3749039"/>
            <a:ext cx="3108960" cy="457200"/>
          </a:xfrm>
          <a:prstGeom prst="rect">
            <a:avLst/>
          </a:prstGeom>
          <a:noFill/>
        </p:spPr>
        <p:txBody>
          <a:bodyPr wrap="square" anchor="t" lIns="0" rIns="0" tIns="0" bIns="0">
            <a:spAutoFit/>
          </a:bodyPr>
          <a:lstStyle/>
          <a:p>
            <a:pPr algn="l">
              <a:lnSpc>
                <a:spcPct val="110000"/>
              </a:lnSpc>
            </a:pPr>
            <a:r>
              <a:rPr sz="1250" b="0" i="0">
                <a:solidFill>
                  <a:srgbClr val="566571"/>
                </a:solidFill>
                <a:latin typeface="Segoe UI"/>
              </a:rPr>
              <a:t>previous cipher byte = the chain</a:t>
            </a:r>
          </a:p>
        </p:txBody>
      </p:sp>
      <p:sp>
        <p:nvSpPr>
          <p:cNvPr id="17" name="Rounded Rectangle 16"/>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Cipher byte = confused value XOR chaos byte XOR the previous byte.</a:t>
            </a:r>
          </a:p>
        </p:txBody>
      </p:sp>
      <p:sp>
        <p:nvSpPr>
          <p:cNvPr id="21" name="Rounded Rectangle 20"/>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That last term chains outputs — like CBC mode at the pixel level.</a:t>
            </a:r>
          </a:p>
        </p:txBody>
      </p:sp>
      <p:sp>
        <p:nvSpPr>
          <p:cNvPr id="23" name="Rounded Rectangle 22"/>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XOR is its own inverse, so the same key undoes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4F46E5"/>
                </a:solidFill>
                <a:latin typeface="Segoe UI Semibold"/>
              </a:rPr>
              <a:t>METHODOLOGY · DIFFUSION</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27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One flipped bit cascades through everything.</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4F46E5"/>
                </a:solidFill>
                <a:latin typeface="Segoe UI Semibold"/>
              </a:rPr>
              <a:t>METHODOLOGY</a:t>
            </a:r>
          </a:p>
        </p:txBody>
      </p:sp>
      <p:sp>
        <p:nvSpPr>
          <p:cNvPr id="9" name="Rounded Rectangle 8"/>
          <p:cNvSpPr/>
          <p:nvPr/>
        </p:nvSpPr>
        <p:spPr>
          <a:xfrm>
            <a:off x="1747875" y="2258568"/>
            <a:ext cx="896112" cy="822960"/>
          </a:xfrm>
          <a:prstGeom prst="roundRect">
            <a:avLst>
              <a:gd name="adj" fmla="val 6000"/>
            </a:avLst>
          </a:prstGeom>
          <a:solidFill>
            <a:srgbClr val="FBEBD6"/>
          </a:solidFill>
          <a:ln w="1778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47875" y="2368296"/>
            <a:ext cx="896112" cy="365760"/>
          </a:xfrm>
          <a:prstGeom prst="rect">
            <a:avLst/>
          </a:prstGeom>
          <a:noFill/>
        </p:spPr>
        <p:txBody>
          <a:bodyPr wrap="square" anchor="t" lIns="0" rIns="0" tIns="0" bIns="0">
            <a:spAutoFit/>
          </a:bodyPr>
          <a:lstStyle/>
          <a:p>
            <a:pPr algn="ctr">
              <a:lnSpc>
                <a:spcPct val="120000"/>
              </a:lnSpc>
            </a:pPr>
            <a:r>
              <a:rPr sz="1400" b="1" i="0">
                <a:solidFill>
                  <a:srgbClr val="C2710C"/>
                </a:solidFill>
                <a:latin typeface="Consolas"/>
              </a:rPr>
              <a:t>D[0]</a:t>
            </a:r>
          </a:p>
        </p:txBody>
      </p:sp>
      <p:sp>
        <p:nvSpPr>
          <p:cNvPr id="11" name="TextBox 10"/>
          <p:cNvSpPr txBox="1"/>
          <p:nvPr/>
        </p:nvSpPr>
        <p:spPr>
          <a:xfrm>
            <a:off x="1747875" y="2715768"/>
            <a:ext cx="896112" cy="292608"/>
          </a:xfrm>
          <a:prstGeom prst="rect">
            <a:avLst/>
          </a:prstGeom>
          <a:noFill/>
        </p:spPr>
        <p:txBody>
          <a:bodyPr wrap="square" anchor="t" lIns="0" rIns="0" tIns="0" bIns="0">
            <a:spAutoFit/>
          </a:bodyPr>
          <a:lstStyle/>
          <a:p>
            <a:pPr algn="ctr">
              <a:lnSpc>
                <a:spcPct val="120000"/>
              </a:lnSpc>
            </a:pPr>
            <a:r>
              <a:rPr sz="1100" b="0" i="0">
                <a:solidFill>
                  <a:srgbClr val="C2710C"/>
                </a:solidFill>
                <a:latin typeface="Segoe UI"/>
              </a:rPr>
              <a:t>flip</a:t>
            </a:r>
          </a:p>
        </p:txBody>
      </p:sp>
      <p:cxnSp>
        <p:nvCxnSpPr>
          <p:cNvPr id="12" name="Connector 11"/>
          <p:cNvCxnSpPr/>
          <p:nvPr/>
        </p:nvCxnSpPr>
        <p:spPr>
          <a:xfrm>
            <a:off x="2662275"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1731"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1731"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D[1]</a:t>
            </a:r>
          </a:p>
        </p:txBody>
      </p:sp>
      <p:sp>
        <p:nvSpPr>
          <p:cNvPr id="15" name="TextBox 14"/>
          <p:cNvSpPr txBox="1"/>
          <p:nvPr/>
        </p:nvSpPr>
        <p:spPr>
          <a:xfrm>
            <a:off x="2881731"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16" name="Connector 15"/>
          <p:cNvCxnSpPr/>
          <p:nvPr/>
        </p:nvCxnSpPr>
        <p:spPr>
          <a:xfrm>
            <a:off x="3796131"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15587"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15587"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D[2]</a:t>
            </a:r>
          </a:p>
        </p:txBody>
      </p:sp>
      <p:sp>
        <p:nvSpPr>
          <p:cNvPr id="19" name="TextBox 18"/>
          <p:cNvSpPr txBox="1"/>
          <p:nvPr/>
        </p:nvSpPr>
        <p:spPr>
          <a:xfrm>
            <a:off x="4015587"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20" name="Connector 19"/>
          <p:cNvCxnSpPr/>
          <p:nvPr/>
        </p:nvCxnSpPr>
        <p:spPr>
          <a:xfrm>
            <a:off x="4929987"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49443"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49443"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D[3]</a:t>
            </a:r>
          </a:p>
        </p:txBody>
      </p:sp>
      <p:sp>
        <p:nvSpPr>
          <p:cNvPr id="23" name="TextBox 22"/>
          <p:cNvSpPr txBox="1"/>
          <p:nvPr/>
        </p:nvSpPr>
        <p:spPr>
          <a:xfrm>
            <a:off x="5149443"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24" name="Connector 23"/>
          <p:cNvCxnSpPr/>
          <p:nvPr/>
        </p:nvCxnSpPr>
        <p:spPr>
          <a:xfrm>
            <a:off x="6063843"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83299"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3299"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D[4]</a:t>
            </a:r>
          </a:p>
        </p:txBody>
      </p:sp>
      <p:sp>
        <p:nvSpPr>
          <p:cNvPr id="27" name="TextBox 26"/>
          <p:cNvSpPr txBox="1"/>
          <p:nvPr/>
        </p:nvSpPr>
        <p:spPr>
          <a:xfrm>
            <a:off x="6283299"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28" name="Connector 27"/>
          <p:cNvCxnSpPr/>
          <p:nvPr/>
        </p:nvCxnSpPr>
        <p:spPr>
          <a:xfrm>
            <a:off x="7197699"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417155"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17155"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D[5]</a:t>
            </a:r>
          </a:p>
        </p:txBody>
      </p:sp>
      <p:sp>
        <p:nvSpPr>
          <p:cNvPr id="31" name="TextBox 30"/>
          <p:cNvSpPr txBox="1"/>
          <p:nvPr/>
        </p:nvSpPr>
        <p:spPr>
          <a:xfrm>
            <a:off x="7417155"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32" name="Connector 31"/>
          <p:cNvCxnSpPr/>
          <p:nvPr/>
        </p:nvCxnSpPr>
        <p:spPr>
          <a:xfrm>
            <a:off x="8331555"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551011"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51011"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D[6]</a:t>
            </a:r>
          </a:p>
        </p:txBody>
      </p:sp>
      <p:sp>
        <p:nvSpPr>
          <p:cNvPr id="35" name="TextBox 34"/>
          <p:cNvSpPr txBox="1"/>
          <p:nvPr/>
        </p:nvSpPr>
        <p:spPr>
          <a:xfrm>
            <a:off x="8551011"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cxnSp>
        <p:nvCxnSpPr>
          <p:cNvPr id="36" name="Connector 35"/>
          <p:cNvCxnSpPr/>
          <p:nvPr/>
        </p:nvCxnSpPr>
        <p:spPr>
          <a:xfrm>
            <a:off x="9465411" y="2670048"/>
            <a:ext cx="201168" cy="0"/>
          </a:xfrm>
          <a:prstGeom prst="line">
            <a:avLst/>
          </a:prstGeom>
          <a:ln w="19050">
            <a:solidFill>
              <a:srgbClr val="8A98A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684867" y="2258568"/>
            <a:ext cx="896112" cy="822960"/>
          </a:xfrm>
          <a:prstGeom prst="roundRect">
            <a:avLst>
              <a:gd name="adj" fmla="val 6000"/>
            </a:avLst>
          </a:prstGeom>
          <a:solidFill>
            <a:srgbClr val="E4F2F1"/>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84867" y="2368296"/>
            <a:ext cx="896112" cy="365760"/>
          </a:xfrm>
          <a:prstGeom prst="rect">
            <a:avLst/>
          </a:prstGeom>
          <a:noFill/>
        </p:spPr>
        <p:txBody>
          <a:bodyPr wrap="square" anchor="t" lIns="0" rIns="0" tIns="0" bIns="0">
            <a:spAutoFit/>
          </a:bodyPr>
          <a:lstStyle/>
          <a:p>
            <a:pPr algn="ctr">
              <a:lnSpc>
                <a:spcPct val="120000"/>
              </a:lnSpc>
            </a:pPr>
            <a:r>
              <a:rPr sz="1400" b="1" i="0">
                <a:solidFill>
                  <a:srgbClr val="0A4A47"/>
                </a:solidFill>
                <a:latin typeface="Consolas"/>
              </a:rPr>
              <a:t>D[7]</a:t>
            </a:r>
          </a:p>
        </p:txBody>
      </p:sp>
      <p:sp>
        <p:nvSpPr>
          <p:cNvPr id="39" name="TextBox 38"/>
          <p:cNvSpPr txBox="1"/>
          <p:nvPr/>
        </p:nvSpPr>
        <p:spPr>
          <a:xfrm>
            <a:off x="9684867" y="2715768"/>
            <a:ext cx="896112" cy="292608"/>
          </a:xfrm>
          <a:prstGeom prst="rect">
            <a:avLst/>
          </a:prstGeom>
          <a:noFill/>
        </p:spPr>
        <p:txBody>
          <a:bodyPr wrap="square" anchor="t" lIns="0" rIns="0" tIns="0" bIns="0">
            <a:spAutoFit/>
          </a:bodyPr>
          <a:lstStyle/>
          <a:p>
            <a:pPr algn="ctr">
              <a:lnSpc>
                <a:spcPct val="120000"/>
              </a:lnSpc>
            </a:pPr>
            <a:r>
              <a:rPr sz="1100" b="0" i="0">
                <a:solidFill>
                  <a:srgbClr val="0A4A47"/>
                </a:solidFill>
                <a:latin typeface="Segoe UI"/>
              </a:rPr>
              <a:t>changed</a:t>
            </a:r>
          </a:p>
        </p:txBody>
      </p:sp>
      <p:sp>
        <p:nvSpPr>
          <p:cNvPr id="40" name="Rounded Rectangle 39"/>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4498848"/>
            <a:ext cx="91440" cy="14813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179576" y="4727448"/>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Each byte depends on the one before it.</a:t>
            </a:r>
          </a:p>
        </p:txBody>
      </p:sp>
      <p:sp>
        <p:nvSpPr>
          <p:cNvPr id="44" name="Rounded Rectangle 43"/>
          <p:cNvSpPr/>
          <p:nvPr/>
        </p:nvSpPr>
        <p:spPr>
          <a:xfrm>
            <a:off x="1179576" y="5148072"/>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Flip one bit at the start → every later byte changes.</a:t>
            </a:r>
          </a:p>
        </p:txBody>
      </p:sp>
      <p:sp>
        <p:nvSpPr>
          <p:cNvPr id="46" name="Rounded Rectangle 45"/>
          <p:cNvSpPr/>
          <p:nvPr/>
        </p:nvSpPr>
        <p:spPr>
          <a:xfrm>
            <a:off x="1179576" y="5568696"/>
            <a:ext cx="182880" cy="182880"/>
          </a:xfrm>
          <a:prstGeom prst="roundRect">
            <a:avLst>
              <a:gd name="adj" fmla="val 3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That cascade is why NPCR ≈ 99.65%.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C1B26"/>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60120"/>
            <a:ext cx="5486400" cy="365760"/>
          </a:xfrm>
          <a:prstGeom prst="rect">
            <a:avLst/>
          </a:prstGeom>
          <a:noFill/>
        </p:spPr>
        <p:txBody>
          <a:bodyPr wrap="square" anchor="t" lIns="0" rIns="0" tIns="0" bIns="0">
            <a:spAutoFit/>
          </a:bodyPr>
          <a:lstStyle/>
          <a:p>
            <a:pPr algn="l">
              <a:lnSpc>
                <a:spcPct val="120000"/>
              </a:lnSpc>
            </a:pPr>
            <a:r>
              <a:rPr sz="1300" b="1" i="0">
                <a:solidFill>
                  <a:srgbClr val="8FA6B0"/>
                </a:solidFill>
                <a:latin typeface="Segoe UI Semibold"/>
              </a:rPr>
              <a:t>PART 3 OF 3</a:t>
            </a:r>
          </a:p>
        </p:txBody>
      </p:sp>
      <p:sp>
        <p:nvSpPr>
          <p:cNvPr id="4" name="TextBox 3"/>
          <p:cNvSpPr txBox="1"/>
          <p:nvPr/>
        </p:nvSpPr>
        <p:spPr>
          <a:xfrm>
            <a:off x="7680960" y="457200"/>
            <a:ext cx="4297680" cy="3840480"/>
          </a:xfrm>
          <a:prstGeom prst="rect">
            <a:avLst/>
          </a:prstGeom>
          <a:noFill/>
        </p:spPr>
        <p:txBody>
          <a:bodyPr wrap="square" anchor="ctr" lIns="0" rIns="0" tIns="0" bIns="0">
            <a:spAutoFit/>
          </a:bodyPr>
          <a:lstStyle/>
          <a:p>
            <a:pPr algn="r">
              <a:lnSpc>
                <a:spcPct val="120000"/>
              </a:lnSpc>
            </a:pPr>
            <a:r>
              <a:rPr sz="30000" b="1" i="0">
                <a:solidFill>
                  <a:srgbClr val="173541"/>
                </a:solidFill>
                <a:latin typeface="Georgia"/>
              </a:rPr>
              <a:t>3</a:t>
            </a:r>
          </a:p>
        </p:txBody>
      </p:sp>
      <p:sp>
        <p:nvSpPr>
          <p:cNvPr id="5" name="TextBox 4"/>
          <p:cNvSpPr txBox="1"/>
          <p:nvPr/>
        </p:nvSpPr>
        <p:spPr>
          <a:xfrm>
            <a:off x="868680" y="2148840"/>
            <a:ext cx="10515600" cy="1554480"/>
          </a:xfrm>
          <a:prstGeom prst="rect">
            <a:avLst/>
          </a:prstGeom>
          <a:noFill/>
        </p:spPr>
        <p:txBody>
          <a:bodyPr wrap="square" anchor="t" lIns="0" rIns="0" tIns="0" bIns="0">
            <a:spAutoFit/>
          </a:bodyPr>
          <a:lstStyle/>
          <a:p>
            <a:pPr algn="l">
              <a:lnSpc>
                <a:spcPct val="120000"/>
              </a:lnSpc>
            </a:pPr>
            <a:r>
              <a:rPr sz="9200" b="1" i="0">
                <a:solidFill>
                  <a:srgbClr val="C2710C"/>
                </a:solidFill>
                <a:latin typeface="Georgia"/>
              </a:rPr>
              <a:t>Findings</a:t>
            </a:r>
          </a:p>
        </p:txBody>
      </p:sp>
      <p:sp>
        <p:nvSpPr>
          <p:cNvPr id="6" name="TextBox 5"/>
          <p:cNvSpPr txBox="1"/>
          <p:nvPr/>
        </p:nvSpPr>
        <p:spPr>
          <a:xfrm>
            <a:off x="868680" y="4069080"/>
            <a:ext cx="9144000" cy="548640"/>
          </a:xfrm>
          <a:prstGeom prst="rect">
            <a:avLst/>
          </a:prstGeom>
          <a:noFill/>
        </p:spPr>
        <p:txBody>
          <a:bodyPr wrap="square" anchor="t" lIns="0" rIns="0" tIns="0" bIns="0">
            <a:spAutoFit/>
          </a:bodyPr>
          <a:lstStyle/>
          <a:p>
            <a:pPr algn="l">
              <a:lnSpc>
                <a:spcPct val="120000"/>
              </a:lnSpc>
            </a:pPr>
            <a:r>
              <a:rPr sz="2600" b="0" i="1">
                <a:solidFill>
                  <a:srgbClr val="FFFFFF"/>
                </a:solidFill>
                <a:latin typeface="Georgia"/>
              </a:rPr>
              <a:t>Does it actually work?</a:t>
            </a:r>
          </a:p>
        </p:txBody>
      </p:sp>
      <p:cxnSp>
        <p:nvCxnSpPr>
          <p:cNvPr id="7" name="Connector 6"/>
          <p:cNvCxnSpPr/>
          <p:nvPr/>
        </p:nvCxnSpPr>
        <p:spPr>
          <a:xfrm>
            <a:off x="868680" y="4846320"/>
            <a:ext cx="5029200" cy="0"/>
          </a:xfrm>
          <a:prstGeom prst="line">
            <a:avLst/>
          </a:prstGeom>
          <a:ln w="25400">
            <a:solidFill>
              <a:srgbClr val="17354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5074920"/>
            <a:ext cx="9601200" cy="548640"/>
          </a:xfrm>
          <a:prstGeom prst="rect">
            <a:avLst/>
          </a:prstGeom>
          <a:noFill/>
        </p:spPr>
        <p:txBody>
          <a:bodyPr wrap="square" anchor="t" lIns="0" rIns="0" tIns="0" bIns="0">
            <a:spAutoFit/>
          </a:bodyPr>
          <a:lstStyle/>
          <a:p>
            <a:pPr algn="l">
              <a:lnSpc>
                <a:spcPct val="125000"/>
              </a:lnSpc>
            </a:pPr>
            <a:r>
              <a:rPr sz="1450" b="0" i="0">
                <a:solidFill>
                  <a:srgbClr val="AFC1CB"/>
                </a:solidFill>
                <a:latin typeface="Segoe UI"/>
              </a:rPr>
              <a:t>Near-lossless recovery, and five standard security tests that all land in the ideal range.</a:t>
            </a:r>
          </a:p>
        </p:txBody>
      </p:sp>
      <p:sp>
        <p:nvSpPr>
          <p:cNvPr id="9" name="TextBox 8"/>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46606C"/>
                </a:solidFill>
                <a:latin typeface="Segoe UI"/>
              </a:rPr>
              <a:t>CMP4221 · Multimedia Systems   |   Xu, Gao, Cao &amp; Mou · ACM TOMM, Vol. 22(3), 2026 · DOI 10.1145/3769123</a:t>
            </a:r>
          </a:p>
        </p:txBody>
      </p:sp>
      <p:sp>
        <p:nvSpPr>
          <p:cNvPr id="10" name="TextBox 9"/>
          <p:cNvSpPr txBox="1"/>
          <p:nvPr/>
        </p:nvSpPr>
        <p:spPr>
          <a:xfrm>
            <a:off x="9997135" y="6455664"/>
            <a:ext cx="1463040" cy="228600"/>
          </a:xfrm>
          <a:prstGeom prst="rect">
            <a:avLst/>
          </a:prstGeom>
          <a:noFill/>
        </p:spPr>
        <p:txBody>
          <a:bodyPr wrap="square" anchor="t" lIns="0" rIns="0" tIns="0" bIns="0">
            <a:spAutoFit/>
          </a:bodyPr>
          <a:lstStyle/>
          <a:p>
            <a:pPr algn="r">
              <a:lnSpc>
                <a:spcPct val="120000"/>
              </a:lnSpc>
            </a:pPr>
            <a:r>
              <a:rPr sz="900" b="1" i="0">
                <a:solidFill>
                  <a:srgbClr val="46606C"/>
                </a:solidFill>
                <a:latin typeface="Segoe UI Semibold"/>
              </a:rPr>
              <a:t>28 / 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REVERSIBILITY</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29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Encrypt to noise, decrypt back.</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pic>
        <p:nvPicPr>
          <p:cNvPr id="9" name="Picture 8" descr="source.png"/>
          <p:cNvPicPr>
            <a:picLocks noChangeAspect="1"/>
          </p:cNvPicPr>
          <p:nvPr/>
        </p:nvPicPr>
        <p:blipFill>
          <a:blip r:embed="rId2"/>
          <a:stretch>
            <a:fillRect/>
          </a:stretch>
        </p:blipFill>
        <p:spPr>
          <a:xfrm>
            <a:off x="1234440" y="1938528"/>
            <a:ext cx="2057400" cy="2057400"/>
          </a:xfrm>
          <a:prstGeom prst="rect">
            <a:avLst/>
          </a:prstGeom>
          <a:effectLst/>
        </p:spPr>
      </p:pic>
      <p:sp>
        <p:nvSpPr>
          <p:cNvPr id="10" name="Rectangle 9"/>
          <p:cNvSpPr/>
          <p:nvPr/>
        </p:nvSpPr>
        <p:spPr>
          <a:xfrm>
            <a:off x="1234440" y="1938528"/>
            <a:ext cx="2057400" cy="205740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ipher.png"/>
          <p:cNvPicPr>
            <a:picLocks noChangeAspect="1"/>
          </p:cNvPicPr>
          <p:nvPr/>
        </p:nvPicPr>
        <p:blipFill>
          <a:blip r:embed="rId3"/>
          <a:stretch>
            <a:fillRect/>
          </a:stretch>
        </p:blipFill>
        <p:spPr>
          <a:xfrm>
            <a:off x="4800600" y="1938528"/>
            <a:ext cx="2057400" cy="2057400"/>
          </a:xfrm>
          <a:prstGeom prst="rect">
            <a:avLst/>
          </a:prstGeom>
          <a:effectLst/>
        </p:spPr>
      </p:pic>
      <p:sp>
        <p:nvSpPr>
          <p:cNvPr id="12" name="Rectangle 11"/>
          <p:cNvSpPr/>
          <p:nvPr/>
        </p:nvSpPr>
        <p:spPr>
          <a:xfrm>
            <a:off x="4800600" y="1938528"/>
            <a:ext cx="2057400" cy="205740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covered.png"/>
          <p:cNvPicPr>
            <a:picLocks noChangeAspect="1"/>
          </p:cNvPicPr>
          <p:nvPr/>
        </p:nvPicPr>
        <p:blipFill>
          <a:blip r:embed="rId4"/>
          <a:stretch>
            <a:fillRect/>
          </a:stretch>
        </p:blipFill>
        <p:spPr>
          <a:xfrm>
            <a:off x="8366759" y="1938528"/>
            <a:ext cx="2057400" cy="2057400"/>
          </a:xfrm>
          <a:prstGeom prst="rect">
            <a:avLst/>
          </a:prstGeom>
          <a:effectLst/>
        </p:spPr>
      </p:pic>
      <p:sp>
        <p:nvSpPr>
          <p:cNvPr id="14" name="Rectangle 13"/>
          <p:cNvSpPr/>
          <p:nvPr/>
        </p:nvSpPr>
        <p:spPr>
          <a:xfrm>
            <a:off x="8366759" y="1938528"/>
            <a:ext cx="2057400" cy="2057400"/>
          </a:xfrm>
          <a:prstGeom prst="rect">
            <a:avLst/>
          </a:prstGeom>
          <a:noFill/>
          <a:ln w="15875">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87368"/>
            <a:ext cx="2514600" cy="274320"/>
          </a:xfrm>
          <a:prstGeom prst="rect">
            <a:avLst/>
          </a:prstGeom>
          <a:noFill/>
        </p:spPr>
        <p:txBody>
          <a:bodyPr wrap="square" anchor="t" lIns="0" rIns="0" tIns="0" bIns="0">
            <a:spAutoFit/>
          </a:bodyPr>
          <a:lstStyle/>
          <a:p>
            <a:pPr algn="ctr">
              <a:lnSpc>
                <a:spcPct val="120000"/>
              </a:lnSpc>
            </a:pPr>
            <a:r>
              <a:rPr sz="1200" b="1" i="0">
                <a:solidFill>
                  <a:srgbClr val="0A4A47"/>
                </a:solidFill>
                <a:latin typeface="Segoe UI Semibold"/>
              </a:rPr>
              <a:t>original</a:t>
            </a:r>
          </a:p>
        </p:txBody>
      </p:sp>
      <p:sp>
        <p:nvSpPr>
          <p:cNvPr id="16" name="TextBox 15"/>
          <p:cNvSpPr txBox="1"/>
          <p:nvPr/>
        </p:nvSpPr>
        <p:spPr>
          <a:xfrm>
            <a:off x="4572000" y="4087368"/>
            <a:ext cx="2514600" cy="274320"/>
          </a:xfrm>
          <a:prstGeom prst="rect">
            <a:avLst/>
          </a:prstGeom>
          <a:noFill/>
        </p:spPr>
        <p:txBody>
          <a:bodyPr wrap="square" anchor="t" lIns="0" rIns="0" tIns="0" bIns="0">
            <a:spAutoFit/>
          </a:bodyPr>
          <a:lstStyle/>
          <a:p>
            <a:pPr algn="ctr">
              <a:lnSpc>
                <a:spcPct val="120000"/>
              </a:lnSpc>
            </a:pPr>
            <a:r>
              <a:rPr sz="1200" b="1" i="0">
                <a:solidFill>
                  <a:srgbClr val="312E81"/>
                </a:solidFill>
                <a:latin typeface="Segoe UI Semibold"/>
              </a:rPr>
              <a:t>cipher cube D — noise</a:t>
            </a:r>
          </a:p>
        </p:txBody>
      </p:sp>
      <p:sp>
        <p:nvSpPr>
          <p:cNvPr id="17" name="TextBox 16"/>
          <p:cNvSpPr txBox="1"/>
          <p:nvPr/>
        </p:nvSpPr>
        <p:spPr>
          <a:xfrm>
            <a:off x="8138159" y="4087368"/>
            <a:ext cx="2514600" cy="274320"/>
          </a:xfrm>
          <a:prstGeom prst="rect">
            <a:avLst/>
          </a:prstGeom>
          <a:noFill/>
        </p:spPr>
        <p:txBody>
          <a:bodyPr wrap="square" anchor="t" lIns="0" rIns="0" tIns="0" bIns="0">
            <a:spAutoFit/>
          </a:bodyPr>
          <a:lstStyle/>
          <a:p>
            <a:pPr algn="ctr">
              <a:lnSpc>
                <a:spcPct val="120000"/>
              </a:lnSpc>
            </a:pPr>
            <a:r>
              <a:rPr sz="1200" b="1" i="0">
                <a:solidFill>
                  <a:srgbClr val="0A4A47"/>
                </a:solidFill>
                <a:latin typeface="Segoe UI Semibold"/>
              </a:rPr>
              <a:t>recovered</a:t>
            </a:r>
          </a:p>
        </p:txBody>
      </p:sp>
      <p:cxnSp>
        <p:nvCxnSpPr>
          <p:cNvPr id="18" name="Connector 17"/>
          <p:cNvCxnSpPr/>
          <p:nvPr/>
        </p:nvCxnSpPr>
        <p:spPr>
          <a:xfrm>
            <a:off x="3474720" y="2967228"/>
            <a:ext cx="1143000" cy="0"/>
          </a:xfrm>
          <a:prstGeom prst="line">
            <a:avLst/>
          </a:prstGeom>
          <a:ln w="33020">
            <a:solidFill>
              <a:srgbClr val="4F46E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37560" y="2601468"/>
            <a:ext cx="1188720" cy="228600"/>
          </a:xfrm>
          <a:prstGeom prst="rect">
            <a:avLst/>
          </a:prstGeom>
          <a:noFill/>
        </p:spPr>
        <p:txBody>
          <a:bodyPr wrap="square" anchor="t" lIns="0" rIns="0" tIns="0" bIns="0">
            <a:spAutoFit/>
          </a:bodyPr>
          <a:lstStyle/>
          <a:p>
            <a:pPr algn="ctr">
              <a:lnSpc>
                <a:spcPct val="120000"/>
              </a:lnSpc>
            </a:pPr>
            <a:r>
              <a:rPr sz="1100" b="1" i="0">
                <a:solidFill>
                  <a:srgbClr val="4F46E5"/>
                </a:solidFill>
                <a:latin typeface="Segoe UI Semibold"/>
              </a:rPr>
              <a:t>encrypt</a:t>
            </a:r>
          </a:p>
        </p:txBody>
      </p:sp>
      <p:cxnSp>
        <p:nvCxnSpPr>
          <p:cNvPr id="20" name="Connector 19"/>
          <p:cNvCxnSpPr/>
          <p:nvPr/>
        </p:nvCxnSpPr>
        <p:spPr>
          <a:xfrm>
            <a:off x="7040880" y="2967228"/>
            <a:ext cx="1142999" cy="0"/>
          </a:xfrm>
          <a:prstGeom prst="line">
            <a:avLst/>
          </a:prstGeom>
          <a:ln w="3302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03720" y="2601468"/>
            <a:ext cx="1188720" cy="228600"/>
          </a:xfrm>
          <a:prstGeom prst="rect">
            <a:avLst/>
          </a:prstGeom>
          <a:noFill/>
        </p:spPr>
        <p:txBody>
          <a:bodyPr wrap="square" anchor="t" lIns="0" rIns="0" tIns="0" bIns="0">
            <a:spAutoFit/>
          </a:bodyPr>
          <a:lstStyle/>
          <a:p>
            <a:pPr algn="ctr">
              <a:lnSpc>
                <a:spcPct val="120000"/>
              </a:lnSpc>
            </a:pPr>
            <a:r>
              <a:rPr sz="1100" b="1" i="0">
                <a:solidFill>
                  <a:srgbClr val="0A4A47"/>
                </a:solidFill>
                <a:latin typeface="Segoe UI Semibold"/>
              </a:rPr>
              <a:t>decrypt</a:t>
            </a:r>
          </a:p>
        </p:txBody>
      </p:sp>
      <p:sp>
        <p:nvSpPr>
          <p:cNvPr id="22" name="Rounded Rectangle 21"/>
          <p:cNvSpPr/>
          <p:nvPr/>
        </p:nvSpPr>
        <p:spPr>
          <a:xfrm>
            <a:off x="868680" y="4370832"/>
            <a:ext cx="10591495" cy="1591056"/>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4370832"/>
            <a:ext cx="91440" cy="1591056"/>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79576" y="4617720"/>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63624" y="4480560"/>
            <a:ext cx="9640519" cy="457200"/>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Encrypt the cube → it becomes pure noise.</a:t>
            </a:r>
          </a:p>
        </p:txBody>
      </p:sp>
      <p:sp>
        <p:nvSpPr>
          <p:cNvPr id="26" name="Rounded Rectangle 25"/>
          <p:cNvSpPr/>
          <p:nvPr/>
        </p:nvSpPr>
        <p:spPr>
          <a:xfrm>
            <a:off x="1179576" y="5074920"/>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63624" y="4937760"/>
            <a:ext cx="9640519" cy="457200"/>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Decrypt with the key and inverse-DWT → the image returns.</a:t>
            </a:r>
          </a:p>
        </p:txBody>
      </p:sp>
      <p:sp>
        <p:nvSpPr>
          <p:cNvPr id="28" name="Rounded Rectangle 27"/>
          <p:cNvSpPr/>
          <p:nvPr/>
        </p:nvSpPr>
        <p:spPr>
          <a:xfrm>
            <a:off x="1179576" y="5532120"/>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63624" y="5394960"/>
            <a:ext cx="9640519" cy="457200"/>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Our Haar demo recovers at 32.16 dB ≈ the paper's 32.06 dB.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IMAGE QUALITY</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30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Recovered quality: 32.06 dB.</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sp>
        <p:nvSpPr>
          <p:cNvPr id="9" name="TextBox 8"/>
          <p:cNvSpPr txBox="1"/>
          <p:nvPr/>
        </p:nvSpPr>
        <p:spPr>
          <a:xfrm>
            <a:off x="868680" y="1984248"/>
            <a:ext cx="6858000" cy="365760"/>
          </a:xfrm>
          <a:prstGeom prst="rect">
            <a:avLst/>
          </a:prstGeom>
          <a:noFill/>
        </p:spPr>
        <p:txBody>
          <a:bodyPr wrap="square" anchor="t" lIns="0" rIns="0" tIns="0" bIns="0">
            <a:spAutoFit/>
          </a:bodyPr>
          <a:lstStyle/>
          <a:p>
            <a:pPr algn="l">
              <a:lnSpc>
                <a:spcPct val="120000"/>
              </a:lnSpc>
            </a:pPr>
            <a:r>
              <a:rPr sz="1700" b="1" i="0">
                <a:solidFill>
                  <a:srgbClr val="566571"/>
                </a:solidFill>
                <a:latin typeface="Segoe UI Semibold"/>
              </a:rPr>
              <a:t>Average PSNR over 12 test images</a:t>
            </a:r>
          </a:p>
        </p:txBody>
      </p:sp>
      <p:sp>
        <p:nvSpPr>
          <p:cNvPr id="10" name="TextBox 9"/>
          <p:cNvSpPr txBox="1"/>
          <p:nvPr/>
        </p:nvSpPr>
        <p:spPr>
          <a:xfrm>
            <a:off x="822959" y="2350008"/>
            <a:ext cx="7772400" cy="1463040"/>
          </a:xfrm>
          <a:prstGeom prst="rect">
            <a:avLst/>
          </a:prstGeom>
          <a:noFill/>
        </p:spPr>
        <p:txBody>
          <a:bodyPr wrap="square" anchor="t" lIns="0" rIns="0" tIns="0" bIns="0">
            <a:spAutoFit/>
          </a:bodyPr>
          <a:lstStyle/>
          <a:p>
            <a:pPr algn="l">
              <a:lnSpc>
                <a:spcPct val="120000"/>
              </a:lnSpc>
            </a:pPr>
            <a:r>
              <a:rPr sz="12000" b="1" i="0">
                <a:solidFill>
                  <a:srgbClr val="12222E"/>
                </a:solidFill>
                <a:latin typeface="Georgia"/>
              </a:rPr>
              <a:t>32.06</a:t>
            </a:r>
            <a:r>
              <a:rPr sz="4800" b="1" i="0">
                <a:solidFill>
                  <a:srgbClr val="0E7C7B"/>
                </a:solidFill>
                <a:latin typeface="Georgia"/>
              </a:rPr>
              <a:t> dB</a:t>
            </a:r>
          </a:p>
        </p:txBody>
      </p:sp>
      <p:sp>
        <p:nvSpPr>
          <p:cNvPr id="11" name="Rounded Rectangle 10"/>
          <p:cNvSpPr/>
          <p:nvPr/>
        </p:nvSpPr>
        <p:spPr>
          <a:xfrm>
            <a:off x="7802575" y="2167128"/>
            <a:ext cx="3657600" cy="201168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2615" y="2377440"/>
            <a:ext cx="3108960" cy="274320"/>
          </a:xfrm>
          <a:prstGeom prst="rect">
            <a:avLst/>
          </a:prstGeom>
          <a:noFill/>
        </p:spPr>
        <p:txBody>
          <a:bodyPr wrap="square" anchor="t" lIns="0" rIns="0" tIns="0" bIns="0">
            <a:spAutoFit/>
          </a:bodyPr>
          <a:lstStyle/>
          <a:p>
            <a:pPr algn="l">
              <a:lnSpc>
                <a:spcPct val="120000"/>
              </a:lnSpc>
            </a:pPr>
            <a:r>
              <a:rPr sz="1100" b="1" i="0">
                <a:solidFill>
                  <a:srgbClr val="0A4A47"/>
                </a:solidFill>
                <a:latin typeface="Segoe UI Semibold"/>
              </a:rPr>
              <a:t>RULE OF THUMB</a:t>
            </a:r>
          </a:p>
        </p:txBody>
      </p:sp>
      <p:sp>
        <p:nvSpPr>
          <p:cNvPr id="13" name="TextBox 12"/>
          <p:cNvSpPr txBox="1"/>
          <p:nvPr/>
        </p:nvSpPr>
        <p:spPr>
          <a:xfrm>
            <a:off x="8122615" y="2688336"/>
            <a:ext cx="3108960" cy="548640"/>
          </a:xfrm>
          <a:prstGeom prst="rect">
            <a:avLst/>
          </a:prstGeom>
          <a:noFill/>
        </p:spPr>
        <p:txBody>
          <a:bodyPr wrap="square" anchor="t" lIns="0" rIns="0" tIns="0" bIns="0">
            <a:spAutoFit/>
          </a:bodyPr>
          <a:lstStyle/>
          <a:p>
            <a:pPr algn="l">
              <a:lnSpc>
                <a:spcPct val="120000"/>
              </a:lnSpc>
            </a:pPr>
            <a:r>
              <a:rPr sz="2600" b="1" i="0">
                <a:solidFill>
                  <a:srgbClr val="0A4A47"/>
                </a:solidFill>
                <a:latin typeface="Georgia"/>
              </a:rPr>
              <a:t>above 30 dB</a:t>
            </a:r>
          </a:p>
        </p:txBody>
      </p:sp>
      <p:sp>
        <p:nvSpPr>
          <p:cNvPr id="14" name="TextBox 13"/>
          <p:cNvSpPr txBox="1"/>
          <p:nvPr/>
        </p:nvSpPr>
        <p:spPr>
          <a:xfrm>
            <a:off x="8122615" y="3236976"/>
            <a:ext cx="3108960" cy="822960"/>
          </a:xfrm>
          <a:prstGeom prst="rect">
            <a:avLst/>
          </a:prstGeom>
          <a:noFill/>
        </p:spPr>
        <p:txBody>
          <a:bodyPr wrap="square" anchor="t" lIns="0" rIns="0" tIns="0" bIns="0">
            <a:spAutoFit/>
          </a:bodyPr>
          <a:lstStyle/>
          <a:p>
            <a:pPr algn="l">
              <a:lnSpc>
                <a:spcPct val="120000"/>
              </a:lnSpc>
            </a:pPr>
            <a:r>
              <a:rPr sz="1550" b="1" i="0">
                <a:solidFill>
                  <a:srgbClr val="12222E"/>
                </a:solidFill>
                <a:latin typeface="Segoe UI"/>
              </a:rPr>
              <a:t>= visually identical to the original.</a:t>
            </a:r>
          </a:p>
        </p:txBody>
      </p:sp>
      <p:sp>
        <p:nvSpPr>
          <p:cNvPr id="15" name="Rounded Rectangle 14"/>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680" y="4498848"/>
            <a:ext cx="91440" cy="1481328"/>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79576" y="4727448"/>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Average PSNR is 32.06 dB over 12 images.</a:t>
            </a:r>
          </a:p>
        </p:txBody>
      </p:sp>
      <p:sp>
        <p:nvSpPr>
          <p:cNvPr id="19" name="Rounded Rectangle 18"/>
          <p:cNvSpPr/>
          <p:nvPr/>
        </p:nvSpPr>
        <p:spPr>
          <a:xfrm>
            <a:off x="1179576" y="5148072"/>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That's after compression AND a full encrypt-decrypt cycle.</a:t>
            </a:r>
          </a:p>
        </p:txBody>
      </p:sp>
      <p:sp>
        <p:nvSpPr>
          <p:cNvPr id="21" name="Rounded Rectangle 20"/>
          <p:cNvSpPr/>
          <p:nvPr/>
        </p:nvSpPr>
        <p:spPr>
          <a:xfrm>
            <a:off x="1179576" y="5568696"/>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Above 30 dB = visually identical to the original.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VS PRIOR WORK</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31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Above the line; prior work below it.</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cxnSp>
        <p:nvCxnSpPr>
          <p:cNvPr id="9" name="Connector 8"/>
          <p:cNvCxnSpPr/>
          <p:nvPr/>
        </p:nvCxnSpPr>
        <p:spPr>
          <a:xfrm>
            <a:off x="6870031" y="2093976"/>
            <a:ext cx="0" cy="2578608"/>
          </a:xfrm>
          <a:prstGeom prst="line">
            <a:avLst/>
          </a:prstGeom>
          <a:ln w="25400">
            <a:solidFill>
              <a:srgbClr val="C2710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2791" y="1783080"/>
            <a:ext cx="1554480" cy="228600"/>
          </a:xfrm>
          <a:prstGeom prst="rect">
            <a:avLst/>
          </a:prstGeom>
          <a:noFill/>
        </p:spPr>
        <p:txBody>
          <a:bodyPr wrap="square" anchor="t" lIns="0" rIns="0" tIns="0" bIns="0">
            <a:spAutoFit/>
          </a:bodyPr>
          <a:lstStyle/>
          <a:p>
            <a:pPr algn="ctr">
              <a:lnSpc>
                <a:spcPct val="120000"/>
              </a:lnSpc>
            </a:pPr>
            <a:r>
              <a:rPr sz="1050" b="1" i="0">
                <a:solidFill>
                  <a:srgbClr val="C2710C"/>
                </a:solidFill>
                <a:latin typeface="Segoe UI Semibold"/>
              </a:rPr>
              <a:t>30 dB threshold</a:t>
            </a:r>
          </a:p>
        </p:txBody>
      </p:sp>
      <p:sp>
        <p:nvSpPr>
          <p:cNvPr id="11" name="TextBox 10"/>
          <p:cNvSpPr txBox="1"/>
          <p:nvPr/>
        </p:nvSpPr>
        <p:spPr>
          <a:xfrm>
            <a:off x="777240" y="2212848"/>
            <a:ext cx="1508760" cy="365760"/>
          </a:xfrm>
          <a:prstGeom prst="rect">
            <a:avLst/>
          </a:prstGeom>
          <a:noFill/>
        </p:spPr>
        <p:txBody>
          <a:bodyPr wrap="square" anchor="t" lIns="0" rIns="0" tIns="0" bIns="0">
            <a:spAutoFit/>
          </a:bodyPr>
          <a:lstStyle/>
          <a:p>
            <a:pPr algn="r">
              <a:lnSpc>
                <a:spcPct val="120000"/>
              </a:lnSpc>
            </a:pPr>
            <a:r>
              <a:rPr sz="1350" b="1" i="0">
                <a:solidFill>
                  <a:srgbClr val="12222E"/>
                </a:solidFill>
                <a:latin typeface="Segoe UI Semibold"/>
              </a:rPr>
              <a:t>This paper</a:t>
            </a:r>
          </a:p>
        </p:txBody>
      </p:sp>
      <p:sp>
        <p:nvSpPr>
          <p:cNvPr id="12" name="Rectangle 11"/>
          <p:cNvSpPr/>
          <p:nvPr/>
        </p:nvSpPr>
        <p:spPr>
          <a:xfrm>
            <a:off x="2423160" y="2167128"/>
            <a:ext cx="5973630" cy="38404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6518" y="2185416"/>
            <a:ext cx="1371600" cy="365760"/>
          </a:xfrm>
          <a:prstGeom prst="rect">
            <a:avLst/>
          </a:prstGeom>
          <a:noFill/>
        </p:spPr>
        <p:txBody>
          <a:bodyPr wrap="square" anchor="t" lIns="0" rIns="0" tIns="0" bIns="0">
            <a:spAutoFit/>
          </a:bodyPr>
          <a:lstStyle/>
          <a:p>
            <a:pPr algn="l">
              <a:lnSpc>
                <a:spcPct val="120000"/>
              </a:lnSpc>
            </a:pPr>
            <a:r>
              <a:rPr sz="1500" b="1" i="0">
                <a:solidFill>
                  <a:srgbClr val="0A4A47"/>
                </a:solidFill>
                <a:latin typeface="Georgia"/>
              </a:rPr>
              <a:t>32.06</a:t>
            </a:r>
            <a:r>
              <a:rPr sz="1100" b="0" i="0">
                <a:solidFill>
                  <a:srgbClr val="566571"/>
                </a:solidFill>
                <a:latin typeface="Segoe UI"/>
              </a:rPr>
              <a:t> dB</a:t>
            </a:r>
          </a:p>
        </p:txBody>
      </p:sp>
      <p:sp>
        <p:nvSpPr>
          <p:cNvPr id="14" name="TextBox 13"/>
          <p:cNvSpPr txBox="1"/>
          <p:nvPr/>
        </p:nvSpPr>
        <p:spPr>
          <a:xfrm>
            <a:off x="777240" y="2724912"/>
            <a:ext cx="1508760" cy="365760"/>
          </a:xfrm>
          <a:prstGeom prst="rect">
            <a:avLst/>
          </a:prstGeom>
          <a:noFill/>
        </p:spPr>
        <p:txBody>
          <a:bodyPr wrap="square" anchor="t" lIns="0" rIns="0" tIns="0" bIns="0">
            <a:spAutoFit/>
          </a:bodyPr>
          <a:lstStyle/>
          <a:p>
            <a:pPr algn="r">
              <a:lnSpc>
                <a:spcPct val="120000"/>
              </a:lnSpc>
            </a:pPr>
            <a:r>
              <a:rPr sz="1350" b="0" i="0">
                <a:solidFill>
                  <a:srgbClr val="566571"/>
                </a:solidFill>
                <a:latin typeface="Segoe UI Semibold"/>
              </a:rPr>
              <a:t>Ref. 22</a:t>
            </a:r>
          </a:p>
        </p:txBody>
      </p:sp>
      <p:sp>
        <p:nvSpPr>
          <p:cNvPr id="15" name="Rectangle 14"/>
          <p:cNvSpPr/>
          <p:nvPr/>
        </p:nvSpPr>
        <p:spPr>
          <a:xfrm>
            <a:off x="2423160" y="2679192"/>
            <a:ext cx="2734826" cy="384048"/>
          </a:xfrm>
          <a:prstGeom prst="rect">
            <a:avLst/>
          </a:prstGeom>
          <a:solidFill>
            <a:srgbClr val="8A98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7714" y="2697480"/>
            <a:ext cx="1371600" cy="365760"/>
          </a:xfrm>
          <a:prstGeom prst="rect">
            <a:avLst/>
          </a:prstGeom>
          <a:noFill/>
        </p:spPr>
        <p:txBody>
          <a:bodyPr wrap="square" anchor="t" lIns="0" rIns="0" tIns="0" bIns="0">
            <a:spAutoFit/>
          </a:bodyPr>
          <a:lstStyle/>
          <a:p>
            <a:pPr algn="l">
              <a:lnSpc>
                <a:spcPct val="120000"/>
              </a:lnSpc>
            </a:pPr>
            <a:r>
              <a:rPr sz="1500" b="1" i="0">
                <a:solidFill>
                  <a:srgbClr val="566571"/>
                </a:solidFill>
                <a:latin typeface="Georgia"/>
              </a:rPr>
              <a:t>27.69</a:t>
            </a:r>
            <a:r>
              <a:rPr sz="1100" b="0" i="0">
                <a:solidFill>
                  <a:srgbClr val="566571"/>
                </a:solidFill>
                <a:latin typeface="Segoe UI"/>
              </a:rPr>
              <a:t> dB</a:t>
            </a:r>
          </a:p>
        </p:txBody>
      </p:sp>
      <p:sp>
        <p:nvSpPr>
          <p:cNvPr id="17" name="TextBox 16"/>
          <p:cNvSpPr txBox="1"/>
          <p:nvPr/>
        </p:nvSpPr>
        <p:spPr>
          <a:xfrm>
            <a:off x="777240" y="3236976"/>
            <a:ext cx="1508760" cy="365760"/>
          </a:xfrm>
          <a:prstGeom prst="rect">
            <a:avLst/>
          </a:prstGeom>
          <a:noFill/>
        </p:spPr>
        <p:txBody>
          <a:bodyPr wrap="square" anchor="t" lIns="0" rIns="0" tIns="0" bIns="0">
            <a:spAutoFit/>
          </a:bodyPr>
          <a:lstStyle/>
          <a:p>
            <a:pPr algn="r">
              <a:lnSpc>
                <a:spcPct val="120000"/>
              </a:lnSpc>
            </a:pPr>
            <a:r>
              <a:rPr sz="1350" b="0" i="0">
                <a:solidFill>
                  <a:srgbClr val="566571"/>
                </a:solidFill>
                <a:latin typeface="Segoe UI Semibold"/>
              </a:rPr>
              <a:t>Ref. 19</a:t>
            </a:r>
          </a:p>
        </p:txBody>
      </p:sp>
      <p:sp>
        <p:nvSpPr>
          <p:cNvPr id="18" name="Rectangle 17"/>
          <p:cNvSpPr/>
          <p:nvPr/>
        </p:nvSpPr>
        <p:spPr>
          <a:xfrm>
            <a:off x="2423160" y="3191256"/>
            <a:ext cx="2586596" cy="384048"/>
          </a:xfrm>
          <a:prstGeom prst="rect">
            <a:avLst/>
          </a:prstGeom>
          <a:solidFill>
            <a:srgbClr val="8A98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19484" y="3209544"/>
            <a:ext cx="1371600" cy="365760"/>
          </a:xfrm>
          <a:prstGeom prst="rect">
            <a:avLst/>
          </a:prstGeom>
          <a:noFill/>
        </p:spPr>
        <p:txBody>
          <a:bodyPr wrap="square" anchor="t" lIns="0" rIns="0" tIns="0" bIns="0">
            <a:spAutoFit/>
          </a:bodyPr>
          <a:lstStyle/>
          <a:p>
            <a:pPr algn="l">
              <a:lnSpc>
                <a:spcPct val="120000"/>
              </a:lnSpc>
            </a:pPr>
            <a:r>
              <a:rPr sz="1500" b="1" i="0">
                <a:solidFill>
                  <a:srgbClr val="566571"/>
                </a:solidFill>
                <a:latin typeface="Georgia"/>
              </a:rPr>
              <a:t>27.49</a:t>
            </a:r>
            <a:r>
              <a:rPr sz="1100" b="0" i="0">
                <a:solidFill>
                  <a:srgbClr val="566571"/>
                </a:solidFill>
                <a:latin typeface="Segoe UI"/>
              </a:rPr>
              <a:t> dB</a:t>
            </a:r>
          </a:p>
        </p:txBody>
      </p:sp>
      <p:sp>
        <p:nvSpPr>
          <p:cNvPr id="20" name="TextBox 19"/>
          <p:cNvSpPr txBox="1"/>
          <p:nvPr/>
        </p:nvSpPr>
        <p:spPr>
          <a:xfrm>
            <a:off x="777240" y="3749040"/>
            <a:ext cx="1508760" cy="365760"/>
          </a:xfrm>
          <a:prstGeom prst="rect">
            <a:avLst/>
          </a:prstGeom>
          <a:noFill/>
        </p:spPr>
        <p:txBody>
          <a:bodyPr wrap="square" anchor="t" lIns="0" rIns="0" tIns="0" bIns="0">
            <a:spAutoFit/>
          </a:bodyPr>
          <a:lstStyle/>
          <a:p>
            <a:pPr algn="r">
              <a:lnSpc>
                <a:spcPct val="120000"/>
              </a:lnSpc>
            </a:pPr>
            <a:r>
              <a:rPr sz="1350" b="0" i="0">
                <a:solidFill>
                  <a:srgbClr val="566571"/>
                </a:solidFill>
                <a:latin typeface="Segoe UI Semibold"/>
              </a:rPr>
              <a:t>Ref. 46</a:t>
            </a:r>
          </a:p>
        </p:txBody>
      </p:sp>
      <p:sp>
        <p:nvSpPr>
          <p:cNvPr id="21" name="Rectangle 20"/>
          <p:cNvSpPr/>
          <p:nvPr/>
        </p:nvSpPr>
        <p:spPr>
          <a:xfrm>
            <a:off x="2423160" y="3703320"/>
            <a:ext cx="2475425" cy="384048"/>
          </a:xfrm>
          <a:prstGeom prst="rect">
            <a:avLst/>
          </a:prstGeom>
          <a:solidFill>
            <a:srgbClr val="8A98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8313" y="3721608"/>
            <a:ext cx="1371600" cy="365760"/>
          </a:xfrm>
          <a:prstGeom prst="rect">
            <a:avLst/>
          </a:prstGeom>
          <a:noFill/>
        </p:spPr>
        <p:txBody>
          <a:bodyPr wrap="square" anchor="t" lIns="0" rIns="0" tIns="0" bIns="0">
            <a:spAutoFit/>
          </a:bodyPr>
          <a:lstStyle/>
          <a:p>
            <a:pPr algn="l">
              <a:lnSpc>
                <a:spcPct val="120000"/>
              </a:lnSpc>
            </a:pPr>
            <a:r>
              <a:rPr sz="1500" b="1" i="0">
                <a:solidFill>
                  <a:srgbClr val="566571"/>
                </a:solidFill>
                <a:latin typeface="Georgia"/>
              </a:rPr>
              <a:t>27.34</a:t>
            </a:r>
            <a:r>
              <a:rPr sz="1100" b="0" i="0">
                <a:solidFill>
                  <a:srgbClr val="566571"/>
                </a:solidFill>
                <a:latin typeface="Segoe UI"/>
              </a:rPr>
              <a:t> dB</a:t>
            </a:r>
          </a:p>
        </p:txBody>
      </p:sp>
      <p:sp>
        <p:nvSpPr>
          <p:cNvPr id="23" name="TextBox 22"/>
          <p:cNvSpPr txBox="1"/>
          <p:nvPr/>
        </p:nvSpPr>
        <p:spPr>
          <a:xfrm>
            <a:off x="777240" y="4261104"/>
            <a:ext cx="1508760" cy="365760"/>
          </a:xfrm>
          <a:prstGeom prst="rect">
            <a:avLst/>
          </a:prstGeom>
          <a:noFill/>
        </p:spPr>
        <p:txBody>
          <a:bodyPr wrap="square" anchor="t" lIns="0" rIns="0" tIns="0" bIns="0">
            <a:spAutoFit/>
          </a:bodyPr>
          <a:lstStyle/>
          <a:p>
            <a:pPr algn="r">
              <a:lnSpc>
                <a:spcPct val="120000"/>
              </a:lnSpc>
            </a:pPr>
            <a:r>
              <a:rPr sz="1350" b="0" i="0">
                <a:solidFill>
                  <a:srgbClr val="566571"/>
                </a:solidFill>
                <a:latin typeface="Segoe UI Semibold"/>
              </a:rPr>
              <a:t>Ref. 8</a:t>
            </a:r>
          </a:p>
        </p:txBody>
      </p:sp>
      <p:sp>
        <p:nvSpPr>
          <p:cNvPr id="24" name="Rectangle 23"/>
          <p:cNvSpPr/>
          <p:nvPr/>
        </p:nvSpPr>
        <p:spPr>
          <a:xfrm>
            <a:off x="2423160" y="4215384"/>
            <a:ext cx="1697222" cy="384048"/>
          </a:xfrm>
          <a:prstGeom prst="rect">
            <a:avLst/>
          </a:prstGeom>
          <a:solidFill>
            <a:srgbClr val="8A98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30110" y="4233672"/>
            <a:ext cx="1371600" cy="365760"/>
          </a:xfrm>
          <a:prstGeom prst="rect">
            <a:avLst/>
          </a:prstGeom>
          <a:noFill/>
        </p:spPr>
        <p:txBody>
          <a:bodyPr wrap="square" anchor="t" lIns="0" rIns="0" tIns="0" bIns="0">
            <a:spAutoFit/>
          </a:bodyPr>
          <a:lstStyle/>
          <a:p>
            <a:pPr algn="l">
              <a:lnSpc>
                <a:spcPct val="120000"/>
              </a:lnSpc>
            </a:pPr>
            <a:r>
              <a:rPr sz="1500" b="1" i="0">
                <a:solidFill>
                  <a:srgbClr val="566571"/>
                </a:solidFill>
                <a:latin typeface="Georgia"/>
              </a:rPr>
              <a:t>26.29</a:t>
            </a:r>
            <a:r>
              <a:rPr sz="1100" b="0" i="0">
                <a:solidFill>
                  <a:srgbClr val="566571"/>
                </a:solidFill>
                <a:latin typeface="Segoe UI"/>
              </a:rPr>
              <a:t> dB</a:t>
            </a:r>
          </a:p>
        </p:txBody>
      </p:sp>
      <p:sp>
        <p:nvSpPr>
          <p:cNvPr id="26" name="Rounded Rectangle 25"/>
          <p:cNvSpPr/>
          <p:nvPr/>
        </p:nvSpPr>
        <p:spPr>
          <a:xfrm>
            <a:off x="868680" y="4892040"/>
            <a:ext cx="10591495" cy="109728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8680" y="4892040"/>
            <a:ext cx="91440" cy="109728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79576" y="5157216"/>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63624" y="5056631"/>
            <a:ext cx="9640519" cy="38404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Prior chaos-based schemes sit at 26–28 dB; this one reaches 32.06.</a:t>
            </a:r>
          </a:p>
        </p:txBody>
      </p:sp>
      <p:sp>
        <p:nvSpPr>
          <p:cNvPr id="30" name="Rounded Rectangle 29"/>
          <p:cNvSpPr/>
          <p:nvPr/>
        </p:nvSpPr>
        <p:spPr>
          <a:xfrm>
            <a:off x="1179576" y="5541264"/>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63624" y="5440679"/>
            <a:ext cx="9640519" cy="38404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PSNR is logarithmic — a 4–6 dB gap ≈ 2.5–4× less error.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STATISTICAL SECURITY</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32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The cipher behaves like pure noise.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pic>
        <p:nvPicPr>
          <p:cNvPr id="9" name="Picture 8" descr="hist_compare.png"/>
          <p:cNvPicPr>
            <a:picLocks noChangeAspect="1"/>
          </p:cNvPicPr>
          <p:nvPr/>
        </p:nvPicPr>
        <p:blipFill>
          <a:blip r:embed="rId2"/>
          <a:stretch>
            <a:fillRect/>
          </a:stretch>
        </p:blipFill>
        <p:spPr>
          <a:xfrm>
            <a:off x="868680" y="2212848"/>
            <a:ext cx="4846320" cy="1591056"/>
          </a:xfrm>
          <a:prstGeom prst="rect">
            <a:avLst/>
          </a:prstGeom>
          <a:effectLst/>
        </p:spPr>
      </p:pic>
      <p:pic>
        <p:nvPicPr>
          <p:cNvPr id="10" name="Picture 9" descr="corr_scatter.png"/>
          <p:cNvPicPr>
            <a:picLocks noChangeAspect="1"/>
          </p:cNvPicPr>
          <p:nvPr/>
        </p:nvPicPr>
        <p:blipFill>
          <a:blip r:embed="rId3"/>
          <a:stretch>
            <a:fillRect/>
          </a:stretch>
        </p:blipFill>
        <p:spPr>
          <a:xfrm>
            <a:off x="6309360" y="2185415"/>
            <a:ext cx="3749039" cy="1737360"/>
          </a:xfrm>
          <a:prstGeom prst="rect">
            <a:avLst/>
          </a:prstGeom>
          <a:effectLst/>
        </p:spPr>
      </p:pic>
      <p:sp>
        <p:nvSpPr>
          <p:cNvPr id="11" name="Rounded Rectangle 10"/>
          <p:cNvSpPr/>
          <p:nvPr/>
        </p:nvSpPr>
        <p:spPr>
          <a:xfrm>
            <a:off x="868680" y="4800600"/>
            <a:ext cx="10591495" cy="1188720"/>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4800600"/>
            <a:ext cx="91440" cy="118872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79576" y="5088636"/>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63624" y="4965192"/>
            <a:ext cx="9640519" cy="42976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Histogram goes spiky → flat, so frequency analysis fails.</a:t>
            </a:r>
          </a:p>
        </p:txBody>
      </p:sp>
      <p:sp>
        <p:nvSpPr>
          <p:cNvPr id="15" name="Rounded Rectangle 14"/>
          <p:cNvSpPr/>
          <p:nvPr/>
        </p:nvSpPr>
        <p:spPr>
          <a:xfrm>
            <a:off x="1179576" y="5518404"/>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63624" y="5394959"/>
            <a:ext cx="9640519" cy="429768"/>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Adjacent-pixel correlation collapses to a random cloud.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SECURITY SCORECARD</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33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Five standard tests — all in the ideal zone.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sp>
        <p:nvSpPr>
          <p:cNvPr id="9" name="TextBox 8"/>
          <p:cNvSpPr txBox="1"/>
          <p:nvPr/>
        </p:nvSpPr>
        <p:spPr>
          <a:xfrm>
            <a:off x="3977639" y="1801368"/>
            <a:ext cx="2286000" cy="228600"/>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ACHIEVED</a:t>
            </a:r>
          </a:p>
        </p:txBody>
      </p:sp>
      <p:sp>
        <p:nvSpPr>
          <p:cNvPr id="10" name="TextBox 9"/>
          <p:cNvSpPr txBox="1"/>
          <p:nvPr/>
        </p:nvSpPr>
        <p:spPr>
          <a:xfrm>
            <a:off x="6903720" y="1801368"/>
            <a:ext cx="1828800" cy="228600"/>
          </a:xfrm>
          <a:prstGeom prst="rect">
            <a:avLst/>
          </a:prstGeom>
          <a:noFill/>
        </p:spPr>
        <p:txBody>
          <a:bodyPr wrap="square" anchor="t" lIns="0" rIns="0" tIns="0" bIns="0">
            <a:spAutoFit/>
          </a:bodyPr>
          <a:lstStyle/>
          <a:p>
            <a:pPr algn="l">
              <a:lnSpc>
                <a:spcPct val="120000"/>
              </a:lnSpc>
            </a:pPr>
            <a:r>
              <a:rPr sz="1050" b="1" i="0">
                <a:solidFill>
                  <a:srgbClr val="566571"/>
                </a:solidFill>
                <a:latin typeface="Segoe UI Semibold"/>
              </a:rPr>
              <a:t>TARGET</a:t>
            </a:r>
          </a:p>
        </p:txBody>
      </p:sp>
      <p:cxnSp>
        <p:nvCxnSpPr>
          <p:cNvPr id="11" name="Connector 10"/>
          <p:cNvCxnSpPr/>
          <p:nvPr/>
        </p:nvCxnSpPr>
        <p:spPr>
          <a:xfrm>
            <a:off x="868680" y="207568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51560" y="2185416"/>
            <a:ext cx="2743200" cy="365760"/>
          </a:xfrm>
          <a:prstGeom prst="rect">
            <a:avLst/>
          </a:prstGeom>
          <a:noFill/>
        </p:spPr>
        <p:txBody>
          <a:bodyPr wrap="square" anchor="t" lIns="0" rIns="0" tIns="0" bIns="0">
            <a:spAutoFit/>
          </a:bodyPr>
          <a:lstStyle/>
          <a:p>
            <a:pPr algn="l">
              <a:lnSpc>
                <a:spcPct val="120000"/>
              </a:lnSpc>
            </a:pPr>
            <a:r>
              <a:rPr sz="1700" b="1" i="0">
                <a:solidFill>
                  <a:srgbClr val="0A4A47"/>
                </a:solidFill>
                <a:latin typeface="Georgia"/>
              </a:rPr>
              <a:t>NIST suite</a:t>
            </a:r>
          </a:p>
        </p:txBody>
      </p:sp>
      <p:sp>
        <p:nvSpPr>
          <p:cNvPr id="13" name="TextBox 12"/>
          <p:cNvSpPr txBox="1"/>
          <p:nvPr/>
        </p:nvSpPr>
        <p:spPr>
          <a:xfrm>
            <a:off x="3977639" y="2203704"/>
            <a:ext cx="2743200"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Segoe UI Semibold"/>
              </a:rPr>
              <a:t>15 / 15 pass</a:t>
            </a:r>
          </a:p>
        </p:txBody>
      </p:sp>
      <p:sp>
        <p:nvSpPr>
          <p:cNvPr id="14" name="TextBox 13"/>
          <p:cNvSpPr txBox="1"/>
          <p:nvPr/>
        </p:nvSpPr>
        <p:spPr>
          <a:xfrm>
            <a:off x="6903720" y="2221992"/>
            <a:ext cx="2286000" cy="32004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Semibold"/>
              </a:rPr>
              <a:t>p ≥ 0.01</a:t>
            </a:r>
          </a:p>
        </p:txBody>
      </p:sp>
      <p:cxnSp>
        <p:nvCxnSpPr>
          <p:cNvPr id="15" name="Connector 14"/>
          <p:cNvCxnSpPr/>
          <p:nvPr/>
        </p:nvCxnSpPr>
        <p:spPr>
          <a:xfrm>
            <a:off x="868680" y="2624328"/>
            <a:ext cx="10591495" cy="0"/>
          </a:xfrm>
          <a:prstGeom prst="line">
            <a:avLst/>
          </a:prstGeom>
          <a:ln w="762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1560" y="2697480"/>
            <a:ext cx="2743200" cy="365760"/>
          </a:xfrm>
          <a:prstGeom prst="rect">
            <a:avLst/>
          </a:prstGeom>
          <a:noFill/>
        </p:spPr>
        <p:txBody>
          <a:bodyPr wrap="square" anchor="t" lIns="0" rIns="0" tIns="0" bIns="0">
            <a:spAutoFit/>
          </a:bodyPr>
          <a:lstStyle/>
          <a:p>
            <a:pPr algn="l">
              <a:lnSpc>
                <a:spcPct val="120000"/>
              </a:lnSpc>
            </a:pPr>
            <a:r>
              <a:rPr sz="1700" b="1" i="0">
                <a:solidFill>
                  <a:srgbClr val="0A4A47"/>
                </a:solidFill>
                <a:latin typeface="Georgia"/>
              </a:rPr>
              <a:t>NPCR</a:t>
            </a:r>
          </a:p>
        </p:txBody>
      </p:sp>
      <p:sp>
        <p:nvSpPr>
          <p:cNvPr id="17" name="TextBox 16"/>
          <p:cNvSpPr txBox="1"/>
          <p:nvPr/>
        </p:nvSpPr>
        <p:spPr>
          <a:xfrm>
            <a:off x="3977639" y="2715768"/>
            <a:ext cx="2743200"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Segoe UI Semibold"/>
              </a:rPr>
              <a:t>99.6533%</a:t>
            </a:r>
          </a:p>
        </p:txBody>
      </p:sp>
      <p:sp>
        <p:nvSpPr>
          <p:cNvPr id="18" name="TextBox 17"/>
          <p:cNvSpPr txBox="1"/>
          <p:nvPr/>
        </p:nvSpPr>
        <p:spPr>
          <a:xfrm>
            <a:off x="6903720" y="2734056"/>
            <a:ext cx="2286000" cy="32004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Semibold"/>
              </a:rPr>
              <a:t>99.6094%</a:t>
            </a:r>
          </a:p>
        </p:txBody>
      </p:sp>
      <p:cxnSp>
        <p:nvCxnSpPr>
          <p:cNvPr id="19" name="Connector 18"/>
          <p:cNvCxnSpPr/>
          <p:nvPr/>
        </p:nvCxnSpPr>
        <p:spPr>
          <a:xfrm>
            <a:off x="868680" y="3136392"/>
            <a:ext cx="10591495" cy="0"/>
          </a:xfrm>
          <a:prstGeom prst="line">
            <a:avLst/>
          </a:prstGeom>
          <a:ln w="762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51560" y="3209544"/>
            <a:ext cx="2743200" cy="365760"/>
          </a:xfrm>
          <a:prstGeom prst="rect">
            <a:avLst/>
          </a:prstGeom>
          <a:noFill/>
        </p:spPr>
        <p:txBody>
          <a:bodyPr wrap="square" anchor="t" lIns="0" rIns="0" tIns="0" bIns="0">
            <a:spAutoFit/>
          </a:bodyPr>
          <a:lstStyle/>
          <a:p>
            <a:pPr algn="l">
              <a:lnSpc>
                <a:spcPct val="120000"/>
              </a:lnSpc>
            </a:pPr>
            <a:r>
              <a:rPr sz="1700" b="1" i="0">
                <a:solidFill>
                  <a:srgbClr val="0A4A47"/>
                </a:solidFill>
                <a:latin typeface="Georgia"/>
              </a:rPr>
              <a:t>UACI</a:t>
            </a:r>
          </a:p>
        </p:txBody>
      </p:sp>
      <p:sp>
        <p:nvSpPr>
          <p:cNvPr id="21" name="TextBox 20"/>
          <p:cNvSpPr txBox="1"/>
          <p:nvPr/>
        </p:nvSpPr>
        <p:spPr>
          <a:xfrm>
            <a:off x="3977639" y="3227832"/>
            <a:ext cx="2743200"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Segoe UI Semibold"/>
              </a:rPr>
              <a:t>33.4887%</a:t>
            </a:r>
          </a:p>
        </p:txBody>
      </p:sp>
      <p:sp>
        <p:nvSpPr>
          <p:cNvPr id="22" name="TextBox 21"/>
          <p:cNvSpPr txBox="1"/>
          <p:nvPr/>
        </p:nvSpPr>
        <p:spPr>
          <a:xfrm>
            <a:off x="6903720" y="3246120"/>
            <a:ext cx="2286000" cy="32004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Semibold"/>
              </a:rPr>
              <a:t>33.4635%</a:t>
            </a:r>
          </a:p>
        </p:txBody>
      </p:sp>
      <p:cxnSp>
        <p:nvCxnSpPr>
          <p:cNvPr id="23" name="Connector 22"/>
          <p:cNvCxnSpPr/>
          <p:nvPr/>
        </p:nvCxnSpPr>
        <p:spPr>
          <a:xfrm>
            <a:off x="868680" y="3648456"/>
            <a:ext cx="10591495" cy="0"/>
          </a:xfrm>
          <a:prstGeom prst="line">
            <a:avLst/>
          </a:prstGeom>
          <a:ln w="762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51560" y="3721608"/>
            <a:ext cx="2743200" cy="365760"/>
          </a:xfrm>
          <a:prstGeom prst="rect">
            <a:avLst/>
          </a:prstGeom>
          <a:noFill/>
        </p:spPr>
        <p:txBody>
          <a:bodyPr wrap="square" anchor="t" lIns="0" rIns="0" tIns="0" bIns="0">
            <a:spAutoFit/>
          </a:bodyPr>
          <a:lstStyle/>
          <a:p>
            <a:pPr algn="l">
              <a:lnSpc>
                <a:spcPct val="120000"/>
              </a:lnSpc>
            </a:pPr>
            <a:r>
              <a:rPr sz="1700" b="1" i="0">
                <a:solidFill>
                  <a:srgbClr val="0A4A47"/>
                </a:solidFill>
                <a:latin typeface="Georgia"/>
              </a:rPr>
              <a:t>Entropy</a:t>
            </a:r>
          </a:p>
        </p:txBody>
      </p:sp>
      <p:sp>
        <p:nvSpPr>
          <p:cNvPr id="25" name="TextBox 24"/>
          <p:cNvSpPr txBox="1"/>
          <p:nvPr/>
        </p:nvSpPr>
        <p:spPr>
          <a:xfrm>
            <a:off x="3977639" y="3739896"/>
            <a:ext cx="2743200"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Segoe UI Semibold"/>
              </a:rPr>
              <a:t>7.9994 / 8</a:t>
            </a:r>
          </a:p>
        </p:txBody>
      </p:sp>
      <p:sp>
        <p:nvSpPr>
          <p:cNvPr id="26" name="TextBox 25"/>
          <p:cNvSpPr txBox="1"/>
          <p:nvPr/>
        </p:nvSpPr>
        <p:spPr>
          <a:xfrm>
            <a:off x="6903720" y="3758184"/>
            <a:ext cx="2286000" cy="32004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Semibold"/>
              </a:rPr>
              <a:t>8.0000</a:t>
            </a:r>
          </a:p>
        </p:txBody>
      </p:sp>
      <p:cxnSp>
        <p:nvCxnSpPr>
          <p:cNvPr id="27" name="Connector 26"/>
          <p:cNvCxnSpPr/>
          <p:nvPr/>
        </p:nvCxnSpPr>
        <p:spPr>
          <a:xfrm>
            <a:off x="868680" y="4160520"/>
            <a:ext cx="10591495" cy="0"/>
          </a:xfrm>
          <a:prstGeom prst="line">
            <a:avLst/>
          </a:prstGeom>
          <a:ln w="762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51560" y="4233672"/>
            <a:ext cx="2743200" cy="365760"/>
          </a:xfrm>
          <a:prstGeom prst="rect">
            <a:avLst/>
          </a:prstGeom>
          <a:noFill/>
        </p:spPr>
        <p:txBody>
          <a:bodyPr wrap="square" anchor="t" lIns="0" rIns="0" tIns="0" bIns="0">
            <a:spAutoFit/>
          </a:bodyPr>
          <a:lstStyle/>
          <a:p>
            <a:pPr algn="l">
              <a:lnSpc>
                <a:spcPct val="120000"/>
              </a:lnSpc>
            </a:pPr>
            <a:r>
              <a:rPr sz="1700" b="1" i="0">
                <a:solidFill>
                  <a:srgbClr val="0A4A47"/>
                </a:solidFill>
                <a:latin typeface="Georgia"/>
              </a:rPr>
              <a:t>Key space</a:t>
            </a:r>
          </a:p>
        </p:txBody>
      </p:sp>
      <p:sp>
        <p:nvSpPr>
          <p:cNvPr id="29" name="TextBox 28"/>
          <p:cNvSpPr txBox="1"/>
          <p:nvPr/>
        </p:nvSpPr>
        <p:spPr>
          <a:xfrm>
            <a:off x="3977639" y="4251960"/>
            <a:ext cx="2743200" cy="365760"/>
          </a:xfrm>
          <a:prstGeom prst="rect">
            <a:avLst/>
          </a:prstGeom>
          <a:noFill/>
        </p:spPr>
        <p:txBody>
          <a:bodyPr wrap="square" anchor="t" lIns="0" rIns="0" tIns="0" bIns="0">
            <a:spAutoFit/>
          </a:bodyPr>
          <a:lstStyle/>
          <a:p>
            <a:pPr algn="l">
              <a:lnSpc>
                <a:spcPct val="120000"/>
              </a:lnSpc>
            </a:pPr>
            <a:r>
              <a:rPr sz="1700" b="1" i="0">
                <a:solidFill>
                  <a:srgbClr val="12222E"/>
                </a:solidFill>
                <a:latin typeface="Segoe UI Semibold"/>
              </a:rPr>
              <a:t>≈ 2⁴⁴⁸</a:t>
            </a:r>
          </a:p>
        </p:txBody>
      </p:sp>
      <p:sp>
        <p:nvSpPr>
          <p:cNvPr id="30" name="TextBox 29"/>
          <p:cNvSpPr txBox="1"/>
          <p:nvPr/>
        </p:nvSpPr>
        <p:spPr>
          <a:xfrm>
            <a:off x="6903720" y="4270248"/>
            <a:ext cx="2286000" cy="320040"/>
          </a:xfrm>
          <a:prstGeom prst="rect">
            <a:avLst/>
          </a:prstGeom>
          <a:noFill/>
        </p:spPr>
        <p:txBody>
          <a:bodyPr wrap="square" anchor="t" lIns="0" rIns="0" tIns="0" bIns="0">
            <a:spAutoFit/>
          </a:bodyPr>
          <a:lstStyle/>
          <a:p>
            <a:pPr algn="l">
              <a:lnSpc>
                <a:spcPct val="120000"/>
              </a:lnSpc>
            </a:pPr>
            <a:r>
              <a:rPr sz="1350" b="0" i="0">
                <a:solidFill>
                  <a:srgbClr val="566571"/>
                </a:solidFill>
                <a:latin typeface="Segoe UI Semibold"/>
              </a:rPr>
              <a:t>&gt; 2¹⁰⁰</a:t>
            </a:r>
          </a:p>
        </p:txBody>
      </p:sp>
      <p:cxnSp>
        <p:nvCxnSpPr>
          <p:cNvPr id="31" name="Connector 30"/>
          <p:cNvCxnSpPr/>
          <p:nvPr/>
        </p:nvCxnSpPr>
        <p:spPr>
          <a:xfrm>
            <a:off x="868680" y="4672584"/>
            <a:ext cx="10591495" cy="0"/>
          </a:xfrm>
          <a:prstGeom prst="line">
            <a:avLst/>
          </a:prstGeom>
          <a:ln w="762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68680" y="4736592"/>
            <a:ext cx="10591495" cy="1243584"/>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8680" y="4736592"/>
            <a:ext cx="91440" cy="1243584"/>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179576" y="5038344"/>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63624" y="4901183"/>
            <a:ext cx="9640519" cy="457200"/>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Every test lands at or beyond its ideal target.</a:t>
            </a:r>
          </a:p>
        </p:txBody>
      </p:sp>
      <p:sp>
        <p:nvSpPr>
          <p:cNvPr id="36" name="Rounded Rectangle 35"/>
          <p:cNvSpPr/>
          <p:nvPr/>
        </p:nvSpPr>
        <p:spPr>
          <a:xfrm>
            <a:off x="1179576" y="5495544"/>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63624" y="5358383"/>
            <a:ext cx="9640519" cy="457200"/>
          </a:xfrm>
          <a:prstGeom prst="rect">
            <a:avLst/>
          </a:prstGeom>
          <a:noFill/>
        </p:spPr>
        <p:txBody>
          <a:bodyPr wrap="square" anchor="ctr" lIns="0" rIns="0" tIns="0" bIns="0">
            <a:spAutoFit/>
          </a:bodyPr>
          <a:lstStyle/>
          <a:p>
            <a:pPr algn="l">
              <a:lnSpc>
                <a:spcPct val="105000"/>
              </a:lnSpc>
            </a:pPr>
            <a:r>
              <a:rPr sz="1450" b="0" i="0">
                <a:solidFill>
                  <a:srgbClr val="12222E"/>
                </a:solidFill>
                <a:latin typeface="Segoe UI"/>
              </a:rPr>
              <a:t>Honest caveat: strong statistical evidence — not a formal proof like AES.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C2710C"/>
                </a:solidFill>
                <a:latin typeface="Segoe UI Semibold"/>
              </a:rPr>
              <a:t>FINDINGS · THE HONEST LIMIT</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34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The cost: zero-padding and a slow chain.</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C2710C"/>
                </a:solidFill>
                <a:latin typeface="Segoe UI Semibold"/>
              </a:rPr>
              <a:t>FINDINGS</a:t>
            </a:r>
          </a:p>
        </p:txBody>
      </p:sp>
      <p:sp>
        <p:nvSpPr>
          <p:cNvPr id="9" name="Rectangle 8"/>
          <p:cNvSpPr/>
          <p:nvPr/>
        </p:nvSpPr>
        <p:spPr>
          <a:xfrm>
            <a:off x="1508760" y="2359151"/>
            <a:ext cx="1737360" cy="1463040"/>
          </a:xfrm>
          <a:prstGeom prst="rect">
            <a:avLst/>
          </a:prstGeom>
          <a:solidFill>
            <a:srgbClr val="FFFFFF"/>
          </a:solidFill>
          <a:ln w="1524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55063" y="2249424"/>
            <a:ext cx="1737360" cy="1463040"/>
          </a:xfrm>
          <a:prstGeom prst="rect">
            <a:avLst/>
          </a:prstGeom>
          <a:solidFill>
            <a:srgbClr val="FFFFFF"/>
          </a:solidFill>
          <a:ln w="1524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01368" y="2139696"/>
            <a:ext cx="1737360" cy="1463040"/>
          </a:xfrm>
          <a:prstGeom prst="rect">
            <a:avLst/>
          </a:prstGeom>
          <a:solidFill>
            <a:srgbClr val="FFFFFF"/>
          </a:solidFill>
          <a:ln w="1524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47672" y="2029967"/>
            <a:ext cx="1737360" cy="1463040"/>
          </a:xfrm>
          <a:prstGeom prst="rect">
            <a:avLst/>
          </a:prstGeom>
          <a:solidFill>
            <a:srgbClr val="FFFFFF"/>
          </a:solidFill>
          <a:ln w="15240">
            <a:solidFill>
              <a:srgbClr val="C27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4600" y="2322575"/>
            <a:ext cx="731519" cy="1170432"/>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08760" y="3035808"/>
            <a:ext cx="1737360" cy="4572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3950208"/>
            <a:ext cx="2103120" cy="274320"/>
          </a:xfrm>
          <a:prstGeom prst="rect">
            <a:avLst/>
          </a:prstGeom>
          <a:noFill/>
        </p:spPr>
        <p:txBody>
          <a:bodyPr wrap="square" anchor="t" lIns="0" rIns="0" tIns="0" bIns="0">
            <a:spAutoFit/>
          </a:bodyPr>
          <a:lstStyle/>
          <a:p>
            <a:pPr algn="ctr">
              <a:lnSpc>
                <a:spcPct val="120000"/>
              </a:lnSpc>
            </a:pPr>
            <a:r>
              <a:rPr sz="1200" b="1" i="1">
                <a:solidFill>
                  <a:srgbClr val="C2710C"/>
                </a:solidFill>
                <a:latin typeface="Segoe UI Semibold"/>
              </a:rPr>
              <a:t>wasted padding</a:t>
            </a:r>
          </a:p>
        </p:txBody>
      </p:sp>
      <p:sp>
        <p:nvSpPr>
          <p:cNvPr id="16" name="TextBox 15"/>
          <p:cNvSpPr txBox="1"/>
          <p:nvPr/>
        </p:nvSpPr>
        <p:spPr>
          <a:xfrm>
            <a:off x="4800600" y="2670048"/>
            <a:ext cx="6659575" cy="365760"/>
          </a:xfrm>
          <a:prstGeom prst="rect">
            <a:avLst/>
          </a:prstGeom>
          <a:noFill/>
        </p:spPr>
        <p:txBody>
          <a:bodyPr wrap="square" anchor="t" lIns="0" rIns="0" tIns="0" bIns="0">
            <a:spAutoFit/>
          </a:bodyPr>
          <a:lstStyle/>
          <a:p>
            <a:pPr algn="l">
              <a:lnSpc>
                <a:spcPct val="120000"/>
              </a:lnSpc>
            </a:pPr>
            <a:r>
              <a:rPr sz="2400" b="1" i="0">
                <a:solidFill>
                  <a:srgbClr val="C2710C"/>
                </a:solidFill>
                <a:latin typeface="Georgia"/>
              </a:rPr>
              <a:t>Two honest costs</a:t>
            </a:r>
          </a:p>
        </p:txBody>
      </p:sp>
      <p:sp>
        <p:nvSpPr>
          <p:cNvPr id="17" name="Rounded Rectangle 16"/>
          <p:cNvSpPr/>
          <p:nvPr/>
        </p:nvSpPr>
        <p:spPr>
          <a:xfrm>
            <a:off x="868680" y="4498848"/>
            <a:ext cx="10591495" cy="1481328"/>
          </a:xfrm>
          <a:prstGeom prst="roundRect">
            <a:avLst>
              <a:gd name="adj" fmla="val 6000"/>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498848"/>
            <a:ext cx="91440" cy="1481328"/>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79576" y="4727448"/>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63624" y="4608576"/>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Different sizes → zero-padding that's still encrypted and sent.</a:t>
            </a:r>
          </a:p>
        </p:txBody>
      </p:sp>
      <p:sp>
        <p:nvSpPr>
          <p:cNvPr id="21" name="Rounded Rectangle 20"/>
          <p:cNvSpPr/>
          <p:nvPr/>
        </p:nvSpPr>
        <p:spPr>
          <a:xfrm>
            <a:off x="1179576" y="5148072"/>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3624" y="5029200"/>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~6 MB/s vs ~500 for AES — the diffusion chain is serial.</a:t>
            </a:r>
          </a:p>
        </p:txBody>
      </p:sp>
      <p:sp>
        <p:nvSpPr>
          <p:cNvPr id="23" name="Rounded Rectangle 22"/>
          <p:cNvSpPr/>
          <p:nvPr/>
        </p:nvSpPr>
        <p:spPr>
          <a:xfrm>
            <a:off x="1179576" y="5568696"/>
            <a:ext cx="182880" cy="182880"/>
          </a:xfrm>
          <a:prstGeom prst="roundRect">
            <a:avLst>
              <a:gd name="adj" fmla="val 3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3624" y="5449824"/>
            <a:ext cx="9640519" cy="420624"/>
          </a:xfrm>
          <a:prstGeom prst="rect">
            <a:avLst/>
          </a:prstGeom>
          <a:noFill/>
        </p:spPr>
        <p:txBody>
          <a:bodyPr wrap="square" anchor="ctr" lIns="0" rIns="0" tIns="0" bIns="0">
            <a:spAutoFit/>
          </a:bodyPr>
          <a:lstStyle/>
          <a:p>
            <a:pPr algn="l">
              <a:lnSpc>
                <a:spcPct val="105000"/>
              </a:lnSpc>
            </a:pPr>
            <a:r>
              <a:rPr sz="1400" b="0" i="0">
                <a:solidFill>
                  <a:srgbClr val="12222E"/>
                </a:solidFill>
                <a:latin typeface="Segoe UI"/>
              </a:rPr>
              <a:t>Authors flag the padding as future work.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8686800" cy="274320"/>
          </a:xfrm>
          <a:prstGeom prst="rect">
            <a:avLst/>
          </a:prstGeom>
          <a:noFill/>
        </p:spPr>
        <p:txBody>
          <a:bodyPr wrap="square" anchor="t" lIns="0" rIns="0" tIns="0" bIns="0">
            <a:spAutoFit/>
          </a:bodyPr>
          <a:lstStyle/>
          <a:p>
            <a:pPr algn="l">
              <a:lnSpc>
                <a:spcPct val="120000"/>
              </a:lnSpc>
            </a:pPr>
            <a:r>
              <a:rPr sz="1200" b="1" i="0">
                <a:solidFill>
                  <a:srgbClr val="0E7C7B"/>
                </a:solidFill>
                <a:latin typeface="Segoe UI Semibold"/>
              </a:rPr>
              <a:t>WRAP-UP</a:t>
            </a:r>
          </a:p>
        </p:txBody>
      </p:sp>
      <p:sp>
        <p:nvSpPr>
          <p:cNvPr id="4" name="TextBox 3"/>
          <p:cNvSpPr txBox="1"/>
          <p:nvPr/>
        </p:nvSpPr>
        <p:spPr>
          <a:xfrm>
            <a:off x="9997135" y="457200"/>
            <a:ext cx="1463040" cy="274320"/>
          </a:xfrm>
          <a:prstGeom prst="rect">
            <a:avLst/>
          </a:prstGeom>
          <a:noFill/>
        </p:spPr>
        <p:txBody>
          <a:bodyPr wrap="square" anchor="t" lIns="0" rIns="0" tIns="0" bIns="0">
            <a:spAutoFit/>
          </a:bodyPr>
          <a:lstStyle/>
          <a:p>
            <a:pPr algn="r">
              <a:lnSpc>
                <a:spcPct val="120000"/>
              </a:lnSpc>
            </a:pPr>
            <a:r>
              <a:rPr sz="1100" b="1" i="0">
                <a:solidFill>
                  <a:srgbClr val="8A98A4"/>
                </a:solidFill>
                <a:latin typeface="Segoe UI Semibold"/>
              </a:rPr>
              <a:t>35 / 35</a:t>
            </a:r>
          </a:p>
        </p:txBody>
      </p:sp>
      <p:sp>
        <p:nvSpPr>
          <p:cNvPr id="5" name="TextBox 4"/>
          <p:cNvSpPr txBox="1"/>
          <p:nvPr/>
        </p:nvSpPr>
        <p:spPr>
          <a:xfrm>
            <a:off x="868680" y="822960"/>
            <a:ext cx="10591495" cy="603504"/>
          </a:xfrm>
          <a:prstGeom prst="rect">
            <a:avLst/>
          </a:prstGeom>
          <a:noFill/>
        </p:spPr>
        <p:txBody>
          <a:bodyPr wrap="square" anchor="t" lIns="0" rIns="0" tIns="0" bIns="0">
            <a:spAutoFit/>
          </a:bodyPr>
          <a:lstStyle/>
          <a:p>
            <a:pPr algn="l">
              <a:lnSpc>
                <a:spcPct val="120000"/>
              </a:lnSpc>
            </a:pPr>
            <a:r>
              <a:rPr sz="2900" b="1" i="0">
                <a:solidFill>
                  <a:srgbClr val="12222E"/>
                </a:solidFill>
                <a:latin typeface="Georgia"/>
              </a:rPr>
              <a:t>One pipeline: shrink, stack, scramble.</a:t>
            </a:r>
          </a:p>
        </p:txBody>
      </p:sp>
      <p:cxnSp>
        <p:nvCxnSpPr>
          <p:cNvPr id="6" name="Connector 5"/>
          <p:cNvCxnSpPr/>
          <p:nvPr/>
        </p:nvCxnSpPr>
        <p:spPr>
          <a:xfrm>
            <a:off x="868680" y="1481328"/>
            <a:ext cx="10591495" cy="0"/>
          </a:xfrm>
          <a:prstGeom prst="line">
            <a:avLst/>
          </a:prstGeom>
          <a:ln w="12700">
            <a:solidFill>
              <a:srgbClr val="DBE4E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6455664"/>
            <a:ext cx="9875520" cy="228600"/>
          </a:xfrm>
          <a:prstGeom prst="rect">
            <a:avLst/>
          </a:prstGeom>
          <a:noFill/>
        </p:spPr>
        <p:txBody>
          <a:bodyPr wrap="square" anchor="t" lIns="0" rIns="0" tIns="0" bIns="0">
            <a:spAutoFit/>
          </a:bodyPr>
          <a:lstStyle/>
          <a:p>
            <a:pPr algn="l">
              <a:lnSpc>
                <a:spcPct val="120000"/>
              </a:lnSpc>
            </a:pPr>
            <a:r>
              <a:rPr sz="850" b="0" i="0">
                <a:solidFill>
                  <a:srgbClr val="8A98A4"/>
                </a:solidFill>
                <a:latin typeface="Segoe UI"/>
              </a:rPr>
              <a:t>CMP4221 · Multimedia Systems   |   Xu, Gao, Cao &amp; Mou · ACM TOMM, Vol. 22(3), 2026 · DOI 10.1145/3769123</a:t>
            </a:r>
          </a:p>
        </p:txBody>
      </p:sp>
      <p:sp>
        <p:nvSpPr>
          <p:cNvPr id="8" name="TextBox 7"/>
          <p:cNvSpPr txBox="1"/>
          <p:nvPr/>
        </p:nvSpPr>
        <p:spPr>
          <a:xfrm>
            <a:off x="9082735" y="6455664"/>
            <a:ext cx="2377440" cy="228600"/>
          </a:xfrm>
          <a:prstGeom prst="rect">
            <a:avLst/>
          </a:prstGeom>
          <a:noFill/>
        </p:spPr>
        <p:txBody>
          <a:bodyPr wrap="square" anchor="t" lIns="0" rIns="0" tIns="0" bIns="0">
            <a:spAutoFit/>
          </a:bodyPr>
          <a:lstStyle/>
          <a:p>
            <a:pPr algn="r">
              <a:lnSpc>
                <a:spcPct val="120000"/>
              </a:lnSpc>
            </a:pPr>
            <a:r>
              <a:rPr sz="900" b="1" i="0">
                <a:solidFill>
                  <a:srgbClr val="0E7C7B"/>
                </a:solidFill>
                <a:latin typeface="Segoe UI Semibold"/>
              </a:rPr>
              <a:t>WRAP-UP</a:t>
            </a:r>
          </a:p>
        </p:txBody>
      </p:sp>
      <p:sp>
        <p:nvSpPr>
          <p:cNvPr id="9" name="Rounded Rectangle 8"/>
          <p:cNvSpPr/>
          <p:nvPr/>
        </p:nvSpPr>
        <p:spPr>
          <a:xfrm>
            <a:off x="868680" y="1892807"/>
            <a:ext cx="3225698" cy="128016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892807"/>
            <a:ext cx="3225698"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185415"/>
            <a:ext cx="3225698" cy="548640"/>
          </a:xfrm>
          <a:prstGeom prst="rect">
            <a:avLst/>
          </a:prstGeom>
          <a:noFill/>
        </p:spPr>
        <p:txBody>
          <a:bodyPr wrap="square" anchor="t" lIns="0" rIns="0" tIns="0" bIns="0">
            <a:spAutoFit/>
          </a:bodyPr>
          <a:lstStyle/>
          <a:p>
            <a:pPr algn="ctr">
              <a:lnSpc>
                <a:spcPct val="120000"/>
              </a:lnSpc>
            </a:pPr>
            <a:r>
              <a:rPr sz="3200" b="1" i="0">
                <a:solidFill>
                  <a:srgbClr val="0E7C7B"/>
                </a:solidFill>
                <a:latin typeface="Georgia"/>
              </a:rPr>
              <a:t>DWT</a:t>
            </a:r>
          </a:p>
        </p:txBody>
      </p:sp>
      <p:sp>
        <p:nvSpPr>
          <p:cNvPr id="12" name="TextBox 11"/>
          <p:cNvSpPr txBox="1"/>
          <p:nvPr/>
        </p:nvSpPr>
        <p:spPr>
          <a:xfrm>
            <a:off x="868680" y="2788920"/>
            <a:ext cx="3225698" cy="320040"/>
          </a:xfrm>
          <a:prstGeom prst="rect">
            <a:avLst/>
          </a:prstGeom>
          <a:noFill/>
        </p:spPr>
        <p:txBody>
          <a:bodyPr wrap="square" anchor="t" lIns="0" rIns="0" tIns="0" bIns="0">
            <a:spAutoFit/>
          </a:bodyPr>
          <a:lstStyle/>
          <a:p>
            <a:pPr algn="ctr">
              <a:lnSpc>
                <a:spcPct val="120000"/>
              </a:lnSpc>
            </a:pPr>
            <a:r>
              <a:rPr sz="1500" b="0" i="0">
                <a:solidFill>
                  <a:srgbClr val="566571"/>
                </a:solidFill>
                <a:latin typeface="Segoe UI"/>
              </a:rPr>
              <a:t>handles size</a:t>
            </a:r>
          </a:p>
        </p:txBody>
      </p:sp>
      <p:sp>
        <p:nvSpPr>
          <p:cNvPr id="13" name="Rounded Rectangle 12"/>
          <p:cNvSpPr/>
          <p:nvPr/>
        </p:nvSpPr>
        <p:spPr>
          <a:xfrm>
            <a:off x="4551578" y="1892807"/>
            <a:ext cx="3225698" cy="128016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1578" y="1892807"/>
            <a:ext cx="3225698"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1578" y="2185415"/>
            <a:ext cx="3225698" cy="548640"/>
          </a:xfrm>
          <a:prstGeom prst="rect">
            <a:avLst/>
          </a:prstGeom>
          <a:noFill/>
        </p:spPr>
        <p:txBody>
          <a:bodyPr wrap="square" anchor="t" lIns="0" rIns="0" tIns="0" bIns="0">
            <a:spAutoFit/>
          </a:bodyPr>
          <a:lstStyle/>
          <a:p>
            <a:pPr algn="ctr">
              <a:lnSpc>
                <a:spcPct val="120000"/>
              </a:lnSpc>
            </a:pPr>
            <a:r>
              <a:rPr sz="3200" b="1" i="0">
                <a:solidFill>
                  <a:srgbClr val="4F46E5"/>
                </a:solidFill>
                <a:latin typeface="Georgia"/>
              </a:rPr>
              <a:t>Chaos</a:t>
            </a:r>
          </a:p>
        </p:txBody>
      </p:sp>
      <p:sp>
        <p:nvSpPr>
          <p:cNvPr id="16" name="TextBox 15"/>
          <p:cNvSpPr txBox="1"/>
          <p:nvPr/>
        </p:nvSpPr>
        <p:spPr>
          <a:xfrm>
            <a:off x="4551578" y="2788920"/>
            <a:ext cx="3225698" cy="320040"/>
          </a:xfrm>
          <a:prstGeom prst="rect">
            <a:avLst/>
          </a:prstGeom>
          <a:noFill/>
        </p:spPr>
        <p:txBody>
          <a:bodyPr wrap="square" anchor="t" lIns="0" rIns="0" tIns="0" bIns="0">
            <a:spAutoFit/>
          </a:bodyPr>
          <a:lstStyle/>
          <a:p>
            <a:pPr algn="ctr">
              <a:lnSpc>
                <a:spcPct val="120000"/>
              </a:lnSpc>
            </a:pPr>
            <a:r>
              <a:rPr sz="1500" b="0" i="0">
                <a:solidFill>
                  <a:srgbClr val="566571"/>
                </a:solidFill>
                <a:latin typeface="Segoe UI"/>
              </a:rPr>
              <a:t>handles secrecy</a:t>
            </a:r>
          </a:p>
        </p:txBody>
      </p:sp>
      <p:sp>
        <p:nvSpPr>
          <p:cNvPr id="17" name="Rounded Rectangle 16"/>
          <p:cNvSpPr/>
          <p:nvPr/>
        </p:nvSpPr>
        <p:spPr>
          <a:xfrm>
            <a:off x="8234476" y="1892807"/>
            <a:ext cx="3225698" cy="1280160"/>
          </a:xfrm>
          <a:prstGeom prst="roundRect">
            <a:avLst>
              <a:gd name="adj" fmla="val 6000"/>
            </a:avLst>
          </a:prstGeom>
          <a:solidFill>
            <a:srgbClr val="FFFFFF"/>
          </a:solidFill>
          <a:ln w="12700">
            <a:solidFill>
              <a:srgbClr val="DB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34476" y="1892807"/>
            <a:ext cx="3225698" cy="91440"/>
          </a:xfrm>
          <a:prstGeom prst="rect">
            <a:avLst/>
          </a:prstGeom>
          <a:solidFill>
            <a:srgbClr val="12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4476" y="2185415"/>
            <a:ext cx="3225698" cy="548640"/>
          </a:xfrm>
          <a:prstGeom prst="rect">
            <a:avLst/>
          </a:prstGeom>
          <a:noFill/>
        </p:spPr>
        <p:txBody>
          <a:bodyPr wrap="square" anchor="t" lIns="0" rIns="0" tIns="0" bIns="0">
            <a:spAutoFit/>
          </a:bodyPr>
          <a:lstStyle/>
          <a:p>
            <a:pPr algn="ctr">
              <a:lnSpc>
                <a:spcPct val="120000"/>
              </a:lnSpc>
            </a:pPr>
            <a:r>
              <a:rPr sz="3200" b="1" i="0">
                <a:solidFill>
                  <a:srgbClr val="12222E"/>
                </a:solidFill>
                <a:latin typeface="Georgia"/>
              </a:rPr>
              <a:t>Cube</a:t>
            </a:r>
          </a:p>
        </p:txBody>
      </p:sp>
      <p:sp>
        <p:nvSpPr>
          <p:cNvPr id="20" name="TextBox 19"/>
          <p:cNvSpPr txBox="1"/>
          <p:nvPr/>
        </p:nvSpPr>
        <p:spPr>
          <a:xfrm>
            <a:off x="8234476" y="2788920"/>
            <a:ext cx="3225698" cy="320040"/>
          </a:xfrm>
          <a:prstGeom prst="rect">
            <a:avLst/>
          </a:prstGeom>
          <a:noFill/>
        </p:spPr>
        <p:txBody>
          <a:bodyPr wrap="square" anchor="t" lIns="0" rIns="0" tIns="0" bIns="0">
            <a:spAutoFit/>
          </a:bodyPr>
          <a:lstStyle/>
          <a:p>
            <a:pPr algn="ctr">
              <a:lnSpc>
                <a:spcPct val="120000"/>
              </a:lnSpc>
            </a:pPr>
            <a:r>
              <a:rPr sz="1500" b="0" i="0">
                <a:solidFill>
                  <a:srgbClr val="566571"/>
                </a:solidFill>
                <a:latin typeface="Segoe UI"/>
              </a:rPr>
              <a:t>handles batches</a:t>
            </a:r>
          </a:p>
        </p:txBody>
      </p:sp>
      <p:sp>
        <p:nvSpPr>
          <p:cNvPr id="21" name="TextBox 20"/>
          <p:cNvSpPr txBox="1"/>
          <p:nvPr/>
        </p:nvSpPr>
        <p:spPr>
          <a:xfrm>
            <a:off x="868680" y="3401568"/>
            <a:ext cx="10591495" cy="365760"/>
          </a:xfrm>
          <a:prstGeom prst="rect">
            <a:avLst/>
          </a:prstGeom>
          <a:noFill/>
        </p:spPr>
        <p:txBody>
          <a:bodyPr wrap="square" anchor="t" lIns="0" rIns="0" tIns="0" bIns="0">
            <a:spAutoFit/>
          </a:bodyPr>
          <a:lstStyle/>
          <a:p>
            <a:pPr algn="ctr">
              <a:lnSpc>
                <a:spcPct val="120000"/>
              </a:lnSpc>
            </a:pPr>
            <a:r>
              <a:rPr sz="1700" b="1" i="0">
                <a:solidFill>
                  <a:srgbClr val="0A4A47"/>
                </a:solidFill>
                <a:latin typeface="Segoe UI Semibold"/>
              </a:rPr>
              <a:t>Compression and encryption · multiple images · one pass.</a:t>
            </a:r>
          </a:p>
        </p:txBody>
      </p:sp>
      <p:sp>
        <p:nvSpPr>
          <p:cNvPr id="22" name="TextBox 21"/>
          <p:cNvSpPr txBox="1"/>
          <p:nvPr/>
        </p:nvSpPr>
        <p:spPr>
          <a:xfrm>
            <a:off x="868680" y="4480560"/>
            <a:ext cx="10591495" cy="1097280"/>
          </a:xfrm>
          <a:prstGeom prst="rect">
            <a:avLst/>
          </a:prstGeom>
          <a:noFill/>
        </p:spPr>
        <p:txBody>
          <a:bodyPr wrap="square" anchor="t" lIns="0" rIns="0" tIns="0" bIns="0">
            <a:spAutoFit/>
          </a:bodyPr>
          <a:lstStyle/>
          <a:p>
            <a:pPr algn="ctr">
              <a:lnSpc>
                <a:spcPct val="120000"/>
              </a:lnSpc>
            </a:pPr>
            <a:r>
              <a:rPr sz="7600" b="1" i="0">
                <a:solidFill>
                  <a:srgbClr val="0A4A47"/>
                </a:solidFill>
                <a:latin typeface="Georgia"/>
              </a:rPr>
              <a:t>Questions?</a:t>
            </a:r>
          </a:p>
        </p:txBody>
      </p:sp>
      <p:sp>
        <p:nvSpPr>
          <p:cNvPr id="23" name="TextBox 22"/>
          <p:cNvSpPr txBox="1"/>
          <p:nvPr/>
        </p:nvSpPr>
        <p:spPr>
          <a:xfrm>
            <a:off x="868680" y="5806440"/>
            <a:ext cx="10591495" cy="274320"/>
          </a:xfrm>
          <a:prstGeom prst="rect">
            <a:avLst/>
          </a:prstGeom>
          <a:noFill/>
        </p:spPr>
        <p:txBody>
          <a:bodyPr wrap="square" anchor="t" lIns="0" rIns="0" tIns="0" bIns="0">
            <a:spAutoFit/>
          </a:bodyPr>
          <a:lstStyle/>
          <a:p>
            <a:pPr algn="ctr">
              <a:lnSpc>
                <a:spcPct val="120000"/>
              </a:lnSpc>
            </a:pPr>
            <a:r>
              <a:rPr sz="1500" b="0" i="1">
                <a:solidFill>
                  <a:srgbClr val="566571"/>
                </a:solidFill>
                <a:latin typeface="Georg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CMP4221 - DWT Encryption Presentation</dc:title>
  <dc:subject/>
  <dc:creator>Abdul Rahman Malak; Maria Alftaih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